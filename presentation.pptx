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78" r:id="rId8"/>
    <p:sldId id="262" r:id="rId9"/>
    <p:sldId id="263" r:id="rId10"/>
    <p:sldId id="264" r:id="rId11"/>
    <p:sldId id="279" r:id="rId12"/>
    <p:sldId id="265" r:id="rId13"/>
    <p:sldId id="266" r:id="rId14"/>
    <p:sldId id="267" r:id="rId15"/>
    <p:sldId id="280" r:id="rId16"/>
    <p:sldId id="268" r:id="rId17"/>
    <p:sldId id="269" r:id="rId18"/>
    <p:sldId id="270" r:id="rId19"/>
    <p:sldId id="271" r:id="rId20"/>
    <p:sldId id="272" r:id="rId21"/>
    <p:sldId id="273" r:id="rId22"/>
    <p:sldId id="281" r:id="rId23"/>
    <p:sldId id="274" r:id="rId24"/>
    <p:sldId id="275" r:id="rId25"/>
    <p:sldId id="276" r:id="rId26"/>
    <p:sldId id="277"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3" d="100"/>
          <a:sy n="73" d="100"/>
        </p:scale>
        <p:origin x="91"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04/09/2025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04/09/2025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B31046-B6F5-AD94-5CB1-2F89391AAFE4}"/>
              </a:ext>
            </a:extLst>
          </p:cNvPr>
          <p:cNvSpPr>
            <a:spLocks noGrp="1"/>
          </p:cNvSpPr>
          <p:nvPr>
            <p:ph type="title"/>
          </p:nvPr>
        </p:nvSpPr>
        <p:spPr>
          <a:xfrm>
            <a:off x="5144679" y="634946"/>
            <a:ext cx="6405063" cy="1450757"/>
          </a:xfrm>
        </p:spPr>
        <p:txBody>
          <a:bodyPr vert="horz" lIns="91440" tIns="45720" rIns="91440" bIns="45720" rtlCol="0" anchor="b">
            <a:normAutofit/>
          </a:bodyPr>
          <a:lstStyle/>
          <a:p>
            <a:r>
              <a:rPr lang="en-US"/>
              <a:t>Node Iterator Algorithms, final comparison </a:t>
            </a:r>
          </a:p>
        </p:txBody>
      </p:sp>
      <p:pic>
        <p:nvPicPr>
          <p:cNvPr id="10" name="Picture 9">
            <a:extLst>
              <a:ext uri="{FF2B5EF4-FFF2-40B4-BE49-F238E27FC236}">
                <a16:creationId xmlns:a16="http://schemas.microsoft.com/office/drawing/2014/main" id="{D7695FA8-5B10-98D1-08AA-36A29CBC0168}"/>
              </a:ext>
            </a:extLst>
          </p:cNvPr>
          <p:cNvPicPr>
            <a:picLocks noChangeAspect="1"/>
          </p:cNvPicPr>
          <p:nvPr/>
        </p:nvPicPr>
        <p:blipFill>
          <a:blip r:embed="rId2"/>
          <a:stretch>
            <a:fillRect/>
          </a:stretch>
        </p:blipFill>
        <p:spPr>
          <a:xfrm>
            <a:off x="5291015" y="3026184"/>
            <a:ext cx="5632623" cy="3492227"/>
          </a:xfrm>
          <a:prstGeom prst="rect">
            <a:avLst/>
          </a:prstGeom>
        </p:spPr>
      </p:pic>
      <p:cxnSp>
        <p:nvCxnSpPr>
          <p:cNvPr id="24" name="Straight Connector 23">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F5642C5D-2A7C-F1B3-0491-20FAED878251}"/>
              </a:ext>
            </a:extLst>
          </p:cNvPr>
          <p:cNvPicPr>
            <a:picLocks noChangeAspect="1"/>
          </p:cNvPicPr>
          <p:nvPr/>
        </p:nvPicPr>
        <p:blipFill>
          <a:blip r:embed="rId3"/>
          <a:stretch>
            <a:fillRect/>
          </a:stretch>
        </p:blipFill>
        <p:spPr>
          <a:xfrm>
            <a:off x="76620" y="122256"/>
            <a:ext cx="4941947" cy="3101072"/>
          </a:xfrm>
          <a:prstGeom prst="rect">
            <a:avLst/>
          </a:prstGeom>
        </p:spPr>
      </p:pic>
      <p:sp>
        <p:nvSpPr>
          <p:cNvPr id="6" name="TextBox 5">
            <a:extLst>
              <a:ext uri="{FF2B5EF4-FFF2-40B4-BE49-F238E27FC236}">
                <a16:creationId xmlns:a16="http://schemas.microsoft.com/office/drawing/2014/main" id="{CC1062F3-2844-95EF-4146-C08590C99C4A}"/>
              </a:ext>
            </a:extLst>
          </p:cNvPr>
          <p:cNvSpPr txBox="1"/>
          <p:nvPr/>
        </p:nvSpPr>
        <p:spPr>
          <a:xfrm>
            <a:off x="5144679" y="2198914"/>
            <a:ext cx="6405063"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b="1" dirty="0">
                <a:solidFill>
                  <a:schemeClr val="tx1">
                    <a:lumMod val="75000"/>
                    <a:lumOff val="25000"/>
                  </a:schemeClr>
                </a:solidFill>
              </a:rPr>
              <a:t>The final version of the Node Iterator (Forward) algorithm always beats the sequential version, and if we add up more threads, the speedup keeps increasing.</a:t>
            </a:r>
          </a:p>
        </p:txBody>
      </p:sp>
      <p:sp>
        <p:nvSpPr>
          <p:cNvPr id="26" name="Rectangle 25">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8" name="Rectangle 27">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14" name="Picture 13">
            <a:extLst>
              <a:ext uri="{FF2B5EF4-FFF2-40B4-BE49-F238E27FC236}">
                <a16:creationId xmlns:a16="http://schemas.microsoft.com/office/drawing/2014/main" id="{D1008B6B-BD1A-8A63-A795-B3E9883F7FCA}"/>
              </a:ext>
            </a:extLst>
          </p:cNvPr>
          <p:cNvPicPr>
            <a:picLocks noChangeAspect="1"/>
          </p:cNvPicPr>
          <p:nvPr/>
        </p:nvPicPr>
        <p:blipFill>
          <a:blip r:embed="rId4"/>
          <a:stretch>
            <a:fillRect/>
          </a:stretch>
        </p:blipFill>
        <p:spPr>
          <a:xfrm>
            <a:off x="521741" y="3498551"/>
            <a:ext cx="1196444" cy="853514"/>
          </a:xfrm>
          <a:prstGeom prst="rect">
            <a:avLst/>
          </a:prstGeom>
        </p:spPr>
      </p:pic>
      <p:pic>
        <p:nvPicPr>
          <p:cNvPr id="18" name="Picture 17">
            <a:extLst>
              <a:ext uri="{FF2B5EF4-FFF2-40B4-BE49-F238E27FC236}">
                <a16:creationId xmlns:a16="http://schemas.microsoft.com/office/drawing/2014/main" id="{152F1D87-ACAE-E5F8-80EF-7229223B4391}"/>
              </a:ext>
            </a:extLst>
          </p:cNvPr>
          <p:cNvPicPr>
            <a:picLocks noChangeAspect="1"/>
          </p:cNvPicPr>
          <p:nvPr/>
        </p:nvPicPr>
        <p:blipFill>
          <a:blip r:embed="rId5"/>
          <a:stretch>
            <a:fillRect/>
          </a:stretch>
        </p:blipFill>
        <p:spPr>
          <a:xfrm>
            <a:off x="521741" y="4627288"/>
            <a:ext cx="2042337" cy="815411"/>
          </a:xfrm>
          <a:prstGeom prst="rect">
            <a:avLst/>
          </a:prstGeom>
        </p:spPr>
      </p:pic>
      <p:sp>
        <p:nvSpPr>
          <p:cNvPr id="19" name="TextBox 18">
            <a:extLst>
              <a:ext uri="{FF2B5EF4-FFF2-40B4-BE49-F238E27FC236}">
                <a16:creationId xmlns:a16="http://schemas.microsoft.com/office/drawing/2014/main" id="{CA8FE410-7F07-EE56-B428-A7F920CCFB05}"/>
              </a:ext>
            </a:extLst>
          </p:cNvPr>
          <p:cNvSpPr txBox="1"/>
          <p:nvPr/>
        </p:nvSpPr>
        <p:spPr>
          <a:xfrm>
            <a:off x="1849821" y="3925308"/>
            <a:ext cx="1079142" cy="369332"/>
          </a:xfrm>
          <a:prstGeom prst="rect">
            <a:avLst/>
          </a:prstGeom>
          <a:noFill/>
        </p:spPr>
        <p:txBody>
          <a:bodyPr wrap="none" rtlCol="0">
            <a:spAutoFit/>
          </a:bodyPr>
          <a:lstStyle/>
          <a:p>
            <a:r>
              <a:rPr lang="it-IT" dirty="0"/>
              <a:t>Speed-up</a:t>
            </a:r>
          </a:p>
        </p:txBody>
      </p:sp>
      <p:sp>
        <p:nvSpPr>
          <p:cNvPr id="20" name="TextBox 19">
            <a:extLst>
              <a:ext uri="{FF2B5EF4-FFF2-40B4-BE49-F238E27FC236}">
                <a16:creationId xmlns:a16="http://schemas.microsoft.com/office/drawing/2014/main" id="{96B9B216-84A6-B269-7783-761B2470928E}"/>
              </a:ext>
            </a:extLst>
          </p:cNvPr>
          <p:cNvSpPr txBox="1"/>
          <p:nvPr/>
        </p:nvSpPr>
        <p:spPr>
          <a:xfrm>
            <a:off x="2644292" y="4973859"/>
            <a:ext cx="2785058" cy="369332"/>
          </a:xfrm>
          <a:prstGeom prst="rect">
            <a:avLst/>
          </a:prstGeom>
          <a:noFill/>
        </p:spPr>
        <p:txBody>
          <a:bodyPr wrap="none" rtlCol="0">
            <a:spAutoFit/>
          </a:bodyPr>
          <a:lstStyle/>
          <a:p>
            <a:r>
              <a:rPr lang="it-IT" dirty="0" err="1"/>
              <a:t>Efficiency</a:t>
            </a:r>
            <a:r>
              <a:rPr lang="it-IT" dirty="0"/>
              <a:t> (p = </a:t>
            </a:r>
            <a:r>
              <a:rPr lang="it-IT" dirty="0" err="1"/>
              <a:t>numThreads</a:t>
            </a:r>
            <a:r>
              <a:rPr lang="it-IT" dirty="0"/>
              <a:t>)</a:t>
            </a:r>
          </a:p>
        </p:txBody>
      </p:sp>
    </p:spTree>
    <p:extLst>
      <p:ext uri="{BB962C8B-B14F-4D97-AF65-F5344CB8AC3E}">
        <p14:creationId xmlns:p14="http://schemas.microsoft.com/office/powerpoint/2010/main" val="3716947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9" name="Rectangle 28">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31" name="Straight Connector 30">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3" name="Rectangle 32">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B87C6D-B357-0255-A51F-3CA55917C622}"/>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5600">
                <a:solidFill>
                  <a:schemeClr val="tx1">
                    <a:lumMod val="85000"/>
                    <a:lumOff val="15000"/>
                  </a:schemeClr>
                </a:solidFill>
              </a:rPr>
              <a:t>CUDA Parallel Node: Final comparison</a:t>
            </a:r>
          </a:p>
        </p:txBody>
      </p:sp>
      <p:pic>
        <p:nvPicPr>
          <p:cNvPr id="5" name="Content Placeholder 4">
            <a:extLst>
              <a:ext uri="{FF2B5EF4-FFF2-40B4-BE49-F238E27FC236}">
                <a16:creationId xmlns:a16="http://schemas.microsoft.com/office/drawing/2014/main" id="{9B48B5DB-7C49-C91B-A9E3-1DB78BB39655}"/>
              </a:ext>
            </a:extLst>
          </p:cNvPr>
          <p:cNvPicPr>
            <a:picLocks noGrp="1" noChangeAspect="1"/>
          </p:cNvPicPr>
          <p:nvPr>
            <p:ph idx="1"/>
          </p:nvPr>
        </p:nvPicPr>
        <p:blipFill>
          <a:blip r:embed="rId2"/>
          <a:stretch>
            <a:fillRect/>
          </a:stretch>
        </p:blipFill>
        <p:spPr>
          <a:xfrm>
            <a:off x="635457" y="953269"/>
            <a:ext cx="5131653" cy="2976357"/>
          </a:xfrm>
          <a:prstGeom prst="rect">
            <a:avLst/>
          </a:prstGeom>
        </p:spPr>
      </p:pic>
      <p:sp>
        <p:nvSpPr>
          <p:cNvPr id="35" name="Rectangle 34">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A283E13A-0B85-F36E-EAB4-099FD489592C}"/>
              </a:ext>
            </a:extLst>
          </p:cNvPr>
          <p:cNvPicPr>
            <a:picLocks noChangeAspect="1"/>
          </p:cNvPicPr>
          <p:nvPr/>
        </p:nvPicPr>
        <p:blipFill>
          <a:blip r:embed="rId3"/>
          <a:stretch>
            <a:fillRect/>
          </a:stretch>
        </p:blipFill>
        <p:spPr>
          <a:xfrm>
            <a:off x="6424891" y="880403"/>
            <a:ext cx="5118182" cy="3122090"/>
          </a:xfrm>
          <a:prstGeom prst="rect">
            <a:avLst/>
          </a:prstGeom>
        </p:spPr>
      </p:pic>
      <p:cxnSp>
        <p:nvCxnSpPr>
          <p:cNvPr id="37" name="Straight Connector 36">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41" name="Rectangle 40">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5679163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5144679" y="2198913"/>
            <a:ext cx="6955881" cy="4024131"/>
          </a:xfrm>
        </p:spPr>
        <p:txBody>
          <a:bodyPr>
            <a:normAutofit/>
          </a:bodyPr>
          <a:lstStyle/>
          <a:p>
            <a:pPr marL="0" indent="0">
              <a:buNone/>
            </a:pPr>
            <a:r>
              <a:rPr lang="en-US" sz="1300" dirty="0"/>
              <a:t>This version uses an adjacency list representation and employs a crucial preprocessing step to ensure all neighbor lists are sorted. With sorted lists, each thread can find the common neighbors for its assigned edges using a </a:t>
            </a:r>
            <a:r>
              <a:rPr lang="en-US" sz="1300" b="1" dirty="0"/>
              <a:t>two-pointer merge-like algorithm</a:t>
            </a:r>
            <a:r>
              <a:rPr lang="en-US" sz="1300" dirty="0"/>
              <a:t>, which has a linear time complexity of </a:t>
            </a:r>
            <a:r>
              <a:rPr lang="en-US" sz="1300" b="1" dirty="0"/>
              <a:t>O(d(s) + d(t)). </a:t>
            </a:r>
            <a:r>
              <a:rPr lang="en-US" sz="13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300" dirty="0"/>
              <a:t>On a 10k-node graph, </a:t>
            </a:r>
            <a:r>
              <a:rPr lang="en-US" sz="1300" b="1" dirty="0"/>
              <a:t>we observe a dramatic and consistent drop in execution time as the number of threads increases</a:t>
            </a:r>
            <a:r>
              <a:rPr lang="en-US" sz="1300" dirty="0"/>
              <a:t>, with an optimal point around 8 threads. The performance is </a:t>
            </a:r>
            <a:r>
              <a:rPr lang="en-US" sz="1300" b="1" dirty="0"/>
              <a:t>consistently better than the V1 version on the same graph</a:t>
            </a:r>
            <a:r>
              <a:rPr lang="en-US" sz="1300" dirty="0"/>
              <a:t>, demonstrating that the linear-time intersection is far superior to the naive nested-loop approach.</a:t>
            </a:r>
          </a:p>
          <a:p>
            <a:pPr marL="0" indent="0">
              <a:buNone/>
            </a:pPr>
            <a:r>
              <a:rPr lang="en-US" sz="1300" dirty="0"/>
              <a:t>The scaling benefits of the V2 algorithm become even more apparent on extremely large graphs. For a graph with 1 million nodes, the performance curve shows a near-linear decrease as the number of threads increases up to 8. </a:t>
            </a:r>
            <a:r>
              <a:rPr lang="en-US" sz="1300" b="1" dirty="0"/>
              <a:t>This indicates a near-perfect parallel speedup </a:t>
            </a:r>
            <a:r>
              <a:rPr lang="en-US" sz="1300" dirty="0"/>
              <a:t>where the workload is large enough that the benefits of parallelization far outweigh the overhead.</a:t>
            </a:r>
            <a:endParaRPr lang="it-IT" sz="13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17698"/>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4" name="Rectangle 13">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16" name="Straight Connector 15">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8" name="Rectangle 17">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6C48AE-8D35-CB5A-C5AA-8EAC79603438}"/>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3300" dirty="0">
                <a:solidFill>
                  <a:schemeClr val="tx1">
                    <a:lumMod val="85000"/>
                    <a:lumOff val="15000"/>
                  </a:schemeClr>
                </a:solidFill>
              </a:rPr>
              <a:t>Comparison between Parallel Edge v3 and sequential version</a:t>
            </a:r>
          </a:p>
        </p:txBody>
      </p:sp>
      <p:pic>
        <p:nvPicPr>
          <p:cNvPr id="7" name="Picture 6">
            <a:extLst>
              <a:ext uri="{FF2B5EF4-FFF2-40B4-BE49-F238E27FC236}">
                <a16:creationId xmlns:a16="http://schemas.microsoft.com/office/drawing/2014/main" id="{DC10C1FF-4FC9-2F91-4FAF-2542BD252A1F}"/>
              </a:ext>
            </a:extLst>
          </p:cNvPr>
          <p:cNvPicPr>
            <a:picLocks noChangeAspect="1"/>
          </p:cNvPicPr>
          <p:nvPr/>
        </p:nvPicPr>
        <p:blipFill>
          <a:blip r:embed="rId2"/>
          <a:stretch>
            <a:fillRect/>
          </a:stretch>
        </p:blipFill>
        <p:spPr>
          <a:xfrm>
            <a:off x="635457" y="844221"/>
            <a:ext cx="5131653" cy="3194453"/>
          </a:xfrm>
          <a:prstGeom prst="rect">
            <a:avLst/>
          </a:prstGeom>
        </p:spPr>
      </p:pic>
      <p:sp>
        <p:nvSpPr>
          <p:cNvPr id="20" name="Rectangle 19">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FA1B7A4-C699-1B94-59E1-03E001B15932}"/>
              </a:ext>
            </a:extLst>
          </p:cNvPr>
          <p:cNvPicPr>
            <a:picLocks noChangeAspect="1"/>
          </p:cNvPicPr>
          <p:nvPr/>
        </p:nvPicPr>
        <p:blipFill>
          <a:blip r:embed="rId3"/>
          <a:stretch>
            <a:fillRect/>
          </a:stretch>
        </p:blipFill>
        <p:spPr>
          <a:xfrm>
            <a:off x="6424891" y="790834"/>
            <a:ext cx="5118182" cy="3301227"/>
          </a:xfrm>
          <a:prstGeom prst="rect">
            <a:avLst/>
          </a:prstGeom>
        </p:spPr>
      </p:pic>
      <p:cxnSp>
        <p:nvCxnSpPr>
          <p:cNvPr id="22" name="Straight Connector 21">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6" name="Rectangle 25">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4329386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50906-B844-4BFE-8647-BDCF17A3AF80}"/>
              </a:ext>
            </a:extLst>
          </p:cNvPr>
          <p:cNvSpPr>
            <a:spLocks noGrp="1"/>
          </p:cNvSpPr>
          <p:nvPr>
            <p:ph type="title"/>
          </p:nvPr>
        </p:nvSpPr>
        <p:spPr>
          <a:xfrm>
            <a:off x="4908262" y="1073683"/>
            <a:ext cx="6247418" cy="663677"/>
          </a:xfrm>
        </p:spPr>
        <p:txBody>
          <a:bodyPr>
            <a:normAutofit fontScale="90000"/>
          </a:bodyPr>
          <a:lstStyle/>
          <a:p>
            <a:r>
              <a:rPr lang="en-US" dirty="0"/>
              <a:t>CUDA Parallel Forward Edge Iterator V1</a:t>
            </a:r>
            <a:endParaRPr lang="it-IT" dirty="0"/>
          </a:p>
        </p:txBody>
      </p:sp>
      <p:sp>
        <p:nvSpPr>
          <p:cNvPr id="3" name="Content Placeholder 2">
            <a:extLst>
              <a:ext uri="{FF2B5EF4-FFF2-40B4-BE49-F238E27FC236}">
                <a16:creationId xmlns:a16="http://schemas.microsoft.com/office/drawing/2014/main" id="{18C7CF8C-4187-4FF0-AADA-8E3647C37F11}"/>
              </a:ext>
            </a:extLst>
          </p:cNvPr>
          <p:cNvSpPr>
            <a:spLocks noGrp="1"/>
          </p:cNvSpPr>
          <p:nvPr>
            <p:ph idx="1"/>
          </p:nvPr>
        </p:nvSpPr>
        <p:spPr>
          <a:xfrm>
            <a:off x="4908262" y="1846498"/>
            <a:ext cx="6247417" cy="4022596"/>
          </a:xfrm>
        </p:spPr>
        <p:txBody>
          <a:bodyPr>
            <a:normAutofit fontScale="92500" lnSpcReduction="10000"/>
          </a:bodyPr>
          <a:lstStyle/>
          <a:p>
            <a:r>
              <a:rPr lang="en-US" dirty="0"/>
              <a:t>The </a:t>
            </a:r>
            <a:r>
              <a:rPr lang="en-US" b="1" dirty="0"/>
              <a:t>Forward Edge Iterator</a:t>
            </a:r>
            <a:r>
              <a:rPr lang="en-US" dirty="0"/>
              <a:t> has also been implemented in CUDA, similar to the Forward Node Algorithm. It uses the </a:t>
            </a:r>
            <a:r>
              <a:rPr lang="en-US" b="1" dirty="0"/>
              <a:t>CRS (Compressed Row Storage)</a:t>
            </a:r>
            <a:r>
              <a:rPr lang="en-US" dirty="0"/>
              <a:t> format to represent the graph data. The implementation assigns </a:t>
            </a:r>
            <a:r>
              <a:rPr lang="en-US" b="1" dirty="0"/>
              <a:t>one thread to manage one edge</a:t>
            </a:r>
            <a:r>
              <a:rPr lang="en-US" dirty="0"/>
              <a:t>, handled through the function </a:t>
            </a:r>
            <a:r>
              <a:rPr lang="en-US" i="1" dirty="0" err="1"/>
              <a:t>EdgeIteratorAlgorithmKernel</a:t>
            </a:r>
            <a:r>
              <a:rPr lang="en-US" dirty="0"/>
              <a:t>. Since each edge connects two nodes in the graph, the function iterates over the neighbors of both nodes, and whenever two neighbors match, a new triangle is counted.</a:t>
            </a:r>
          </a:p>
          <a:p>
            <a:r>
              <a:rPr lang="en-US" dirty="0"/>
              <a:t>In the graph shown, we observe a significant reduction in execution time as </a:t>
            </a:r>
            <a:r>
              <a:rPr lang="en-US" b="1" dirty="0"/>
              <a:t>BLOCK_SIZE</a:t>
            </a:r>
            <a:r>
              <a:rPr lang="en-US" dirty="0"/>
              <a:t> increases from 8 to 128, where the function achieves its minimum execution time. Beyond this point, further increases in </a:t>
            </a:r>
            <a:r>
              <a:rPr lang="en-US" b="1" dirty="0"/>
              <a:t>BLOCK_SIZE</a:t>
            </a:r>
            <a:r>
              <a:rPr lang="en-US" dirty="0"/>
              <a:t> lead to longer execution times. This behavior is due to </a:t>
            </a:r>
            <a:r>
              <a:rPr lang="en-US" b="1" dirty="0"/>
              <a:t>resource limitations</a:t>
            </a:r>
            <a:r>
              <a:rPr lang="en-US" dirty="0"/>
              <a:t>, which reduce the number of active warps available.</a:t>
            </a:r>
          </a:p>
          <a:p>
            <a:endParaRPr lang="it-IT" dirty="0"/>
          </a:p>
        </p:txBody>
      </p:sp>
      <p:pic>
        <p:nvPicPr>
          <p:cNvPr id="4" name="Picture 3">
            <a:extLst>
              <a:ext uri="{FF2B5EF4-FFF2-40B4-BE49-F238E27FC236}">
                <a16:creationId xmlns:a16="http://schemas.microsoft.com/office/drawing/2014/main" id="{C59DFCE3-567F-4B74-8016-E48DD22B303C}"/>
              </a:ext>
            </a:extLst>
          </p:cNvPr>
          <p:cNvPicPr>
            <a:picLocks noChangeAspect="1"/>
          </p:cNvPicPr>
          <p:nvPr/>
        </p:nvPicPr>
        <p:blipFill>
          <a:blip r:embed="rId2"/>
          <a:stretch>
            <a:fillRect/>
          </a:stretch>
        </p:blipFill>
        <p:spPr>
          <a:xfrm>
            <a:off x="155056" y="1737360"/>
            <a:ext cx="4753206" cy="3013544"/>
          </a:xfrm>
          <a:prstGeom prst="rect">
            <a:avLst/>
          </a:prstGeom>
        </p:spPr>
      </p:pic>
    </p:spTree>
    <p:extLst>
      <p:ext uri="{BB962C8B-B14F-4D97-AF65-F5344CB8AC3E}">
        <p14:creationId xmlns:p14="http://schemas.microsoft.com/office/powerpoint/2010/main" val="34218872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B48-0C32-42E8-821E-4DAB55EF75E4}"/>
              </a:ext>
            </a:extLst>
          </p:cNvPr>
          <p:cNvSpPr>
            <a:spLocks noGrp="1"/>
          </p:cNvSpPr>
          <p:nvPr>
            <p:ph type="title"/>
          </p:nvPr>
        </p:nvSpPr>
        <p:spPr>
          <a:xfrm>
            <a:off x="4943658" y="371659"/>
            <a:ext cx="6212021" cy="1365701"/>
          </a:xfrm>
        </p:spPr>
        <p:txBody>
          <a:bodyPr/>
          <a:lstStyle/>
          <a:p>
            <a:r>
              <a:rPr lang="en-US" dirty="0"/>
              <a:t>CUDA Parallel Forward Edge Iterator V1_1</a:t>
            </a:r>
            <a:endParaRPr lang="it-IT" dirty="0"/>
          </a:p>
        </p:txBody>
      </p:sp>
      <p:sp>
        <p:nvSpPr>
          <p:cNvPr id="3" name="Content Placeholder 2">
            <a:extLst>
              <a:ext uri="{FF2B5EF4-FFF2-40B4-BE49-F238E27FC236}">
                <a16:creationId xmlns:a16="http://schemas.microsoft.com/office/drawing/2014/main" id="{7478F246-FEDA-4B80-B6DD-D2E52B0FB123}"/>
              </a:ext>
            </a:extLst>
          </p:cNvPr>
          <p:cNvSpPr>
            <a:spLocks noGrp="1"/>
          </p:cNvSpPr>
          <p:nvPr>
            <p:ph idx="1"/>
          </p:nvPr>
        </p:nvSpPr>
        <p:spPr>
          <a:xfrm>
            <a:off x="4849270" y="1845734"/>
            <a:ext cx="6306409" cy="4023360"/>
          </a:xfrm>
        </p:spPr>
        <p:txBody>
          <a:bodyPr>
            <a:normAutofit fontScale="92500" lnSpcReduction="20000"/>
          </a:bodyPr>
          <a:lstStyle/>
          <a:p>
            <a:r>
              <a:rPr lang="en-US" dirty="0"/>
              <a:t>The </a:t>
            </a:r>
            <a:r>
              <a:rPr lang="en-US" b="1" dirty="0"/>
              <a:t>V1_1 version</a:t>
            </a:r>
            <a:r>
              <a:rPr lang="en-US" dirty="0"/>
              <a:t> builds directly on the original CUDA Forward Edge Iterator. The core function (</a:t>
            </a:r>
            <a:r>
              <a:rPr lang="en-US" i="1" dirty="0" err="1"/>
              <a:t>EdgeIteratorAlgorithmKernel</a:t>
            </a:r>
            <a:r>
              <a:rPr lang="en-US" dirty="0"/>
              <a:t>) remains unchanged. The key modification is in how edges are assigned: Instead of one thread handling exactly one edge, the full edge set is divided into </a:t>
            </a:r>
            <a:r>
              <a:rPr lang="en-US" b="1" dirty="0"/>
              <a:t>chunks</a:t>
            </a:r>
            <a:r>
              <a:rPr lang="en-US" dirty="0"/>
              <a:t>, with each thread responsible for one chunk. This design aims to improve </a:t>
            </a:r>
            <a:r>
              <a:rPr lang="en-US" b="1" dirty="0"/>
              <a:t>GPU resource utilization</a:t>
            </a:r>
            <a:r>
              <a:rPr lang="en-US" dirty="0"/>
              <a:t> and reduce latency by lowering the number of tasks the scheduler must manage in parallel.</a:t>
            </a:r>
          </a:p>
          <a:p>
            <a:r>
              <a:rPr lang="en-US" dirty="0"/>
              <a:t>The graph illustrates the total execution time as a function of the number of </a:t>
            </a:r>
            <a:r>
              <a:rPr lang="en-US" b="1" dirty="0"/>
              <a:t>kernel launches</a:t>
            </a:r>
            <a:r>
              <a:rPr lang="en-US" dirty="0"/>
              <a:t> for different </a:t>
            </a:r>
            <a:r>
              <a:rPr lang="en-US" b="1" dirty="0"/>
              <a:t>BLOCK_SIZE</a:t>
            </a:r>
            <a:r>
              <a:rPr lang="en-US" dirty="0"/>
              <a:t> configurations. Execution time </a:t>
            </a:r>
            <a:r>
              <a:rPr lang="en-US" b="1" dirty="0"/>
              <a:t>increases consistently</a:t>
            </a:r>
            <a:r>
              <a:rPr lang="en-US" dirty="0"/>
              <a:t> as the number of kernel launches grows, due to overhead from setup, scheduling, and synchronization. While chunking can sometimes improve GPU occupancy, here the </a:t>
            </a:r>
            <a:r>
              <a:rPr lang="en-US" b="1" dirty="0"/>
              <a:t>launch overhead dominates</a:t>
            </a:r>
            <a:r>
              <a:rPr lang="en-US" dirty="0"/>
              <a:t>, negating potential benefits. Different </a:t>
            </a:r>
            <a:r>
              <a:rPr lang="en-US" b="1" dirty="0"/>
              <a:t>BLOCK_SIZE</a:t>
            </a:r>
            <a:r>
              <a:rPr lang="en-US" dirty="0"/>
              <a:t> values exhibit similar trends, though </a:t>
            </a:r>
            <a:r>
              <a:rPr lang="en-US" b="1" dirty="0"/>
              <a:t>BLOCK_SIZE = 16</a:t>
            </a:r>
            <a:r>
              <a:rPr lang="en-US" dirty="0"/>
              <a:t> and </a:t>
            </a:r>
            <a:r>
              <a:rPr lang="en-US" b="1" dirty="0"/>
              <a:t>32</a:t>
            </a:r>
            <a:r>
              <a:rPr lang="en-US" dirty="0"/>
              <a:t> show slightly better performance at lower launch counts.</a:t>
            </a:r>
          </a:p>
          <a:p>
            <a:endParaRPr lang="en-US" dirty="0"/>
          </a:p>
        </p:txBody>
      </p:sp>
      <p:pic>
        <p:nvPicPr>
          <p:cNvPr id="4" name="Picture 3">
            <a:extLst>
              <a:ext uri="{FF2B5EF4-FFF2-40B4-BE49-F238E27FC236}">
                <a16:creationId xmlns:a16="http://schemas.microsoft.com/office/drawing/2014/main" id="{9A59FA78-B03A-4CA7-B577-2ABC83606275}"/>
              </a:ext>
            </a:extLst>
          </p:cNvPr>
          <p:cNvPicPr>
            <a:picLocks noChangeAspect="1"/>
          </p:cNvPicPr>
          <p:nvPr/>
        </p:nvPicPr>
        <p:blipFill>
          <a:blip r:embed="rId2"/>
          <a:stretch>
            <a:fillRect/>
          </a:stretch>
        </p:blipFill>
        <p:spPr>
          <a:xfrm>
            <a:off x="185030" y="1580262"/>
            <a:ext cx="4664240" cy="2891449"/>
          </a:xfrm>
          <a:prstGeom prst="rect">
            <a:avLst/>
          </a:prstGeom>
        </p:spPr>
      </p:pic>
    </p:spTree>
    <p:extLst>
      <p:ext uri="{BB962C8B-B14F-4D97-AF65-F5344CB8AC3E}">
        <p14:creationId xmlns:p14="http://schemas.microsoft.com/office/powerpoint/2010/main" val="5449739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DE9B1-0271-46CE-B282-36987546B4BC}"/>
              </a:ext>
            </a:extLst>
          </p:cNvPr>
          <p:cNvSpPr>
            <a:spLocks noGrp="1"/>
          </p:cNvSpPr>
          <p:nvPr>
            <p:ph type="title"/>
          </p:nvPr>
        </p:nvSpPr>
        <p:spPr>
          <a:xfrm>
            <a:off x="5043948" y="286603"/>
            <a:ext cx="6111732" cy="1450757"/>
          </a:xfrm>
        </p:spPr>
        <p:txBody>
          <a:bodyPr/>
          <a:lstStyle/>
          <a:p>
            <a:r>
              <a:rPr lang="en-US" dirty="0"/>
              <a:t>CUDA Parallel Forward Edge Iterator V2</a:t>
            </a:r>
            <a:endParaRPr lang="it-IT" dirty="0"/>
          </a:p>
        </p:txBody>
      </p:sp>
      <p:sp>
        <p:nvSpPr>
          <p:cNvPr id="3" name="Content Placeholder 2">
            <a:extLst>
              <a:ext uri="{FF2B5EF4-FFF2-40B4-BE49-F238E27FC236}">
                <a16:creationId xmlns:a16="http://schemas.microsoft.com/office/drawing/2014/main" id="{100EA725-890B-4ED8-9437-261DD2F6C130}"/>
              </a:ext>
            </a:extLst>
          </p:cNvPr>
          <p:cNvSpPr>
            <a:spLocks noGrp="1"/>
          </p:cNvSpPr>
          <p:nvPr>
            <p:ph idx="1"/>
          </p:nvPr>
        </p:nvSpPr>
        <p:spPr>
          <a:xfrm>
            <a:off x="5043948" y="1845734"/>
            <a:ext cx="6111732" cy="4023360"/>
          </a:xfrm>
        </p:spPr>
        <p:txBody>
          <a:bodyPr/>
          <a:lstStyle/>
          <a:p>
            <a:r>
              <a:rPr lang="en-US" dirty="0"/>
              <a:t>Unlike V1, the </a:t>
            </a:r>
            <a:r>
              <a:rPr lang="en-US" b="1" dirty="0"/>
              <a:t>V2 CUDA Edge Iterator</a:t>
            </a:r>
            <a:r>
              <a:rPr lang="en-US" dirty="0"/>
              <a:t> uses a </a:t>
            </a:r>
            <a:r>
              <a:rPr lang="en-US" b="1" dirty="0"/>
              <a:t>two-pointer merge-like algorithm</a:t>
            </a:r>
            <a:r>
              <a:rPr lang="en-US" dirty="0"/>
              <a:t> for neighbor intersection with linear complexity (d(u) + d(v)). Each thread still processes one edge, and all edges are handled in a </a:t>
            </a:r>
            <a:r>
              <a:rPr lang="en-US" b="1" dirty="0"/>
              <a:t>single kernel launch</a:t>
            </a:r>
            <a:r>
              <a:rPr lang="en-US" dirty="0"/>
              <a:t>, which greatly improves efficiency, especially for high-degree nodes.</a:t>
            </a:r>
          </a:p>
          <a:p>
            <a:r>
              <a:rPr lang="en-US" dirty="0"/>
              <a:t>On a </a:t>
            </a:r>
            <a:r>
              <a:rPr lang="en-US" b="1" dirty="0"/>
              <a:t>100M-node graph</a:t>
            </a:r>
            <a:r>
              <a:rPr lang="en-US" dirty="0"/>
              <a:t>, performance improves sharply as </a:t>
            </a:r>
            <a:r>
              <a:rPr lang="en-US" b="1" dirty="0"/>
              <a:t>BLOCK_SIZE</a:t>
            </a:r>
            <a:r>
              <a:rPr lang="en-US" dirty="0"/>
              <a:t> increases from 8 to 32 (best time: </a:t>
            </a:r>
            <a:r>
              <a:rPr lang="en-US" b="1" dirty="0"/>
              <a:t>3441 </a:t>
            </a:r>
            <a:r>
              <a:rPr lang="en-US" b="1" dirty="0" err="1"/>
              <a:t>μs</a:t>
            </a:r>
            <a:r>
              <a:rPr lang="en-US" dirty="0"/>
              <a:t>), then fluctuates at higher sizes due to GPU resource contention. Despite this, V2 consistently outperforms V1, whose best time was </a:t>
            </a:r>
            <a:r>
              <a:rPr lang="en-US" b="1" dirty="0"/>
              <a:t>5534 </a:t>
            </a:r>
            <a:r>
              <a:rPr lang="en-US" b="1" dirty="0" err="1"/>
              <a:t>μs</a:t>
            </a:r>
            <a:r>
              <a:rPr lang="en-US" dirty="0"/>
              <a:t>, showing the benefit of the new intersection strategy.</a:t>
            </a:r>
          </a:p>
          <a:p>
            <a:endParaRPr lang="it-IT" dirty="0"/>
          </a:p>
        </p:txBody>
      </p:sp>
      <p:pic>
        <p:nvPicPr>
          <p:cNvPr id="4" name="Picture 3">
            <a:extLst>
              <a:ext uri="{FF2B5EF4-FFF2-40B4-BE49-F238E27FC236}">
                <a16:creationId xmlns:a16="http://schemas.microsoft.com/office/drawing/2014/main" id="{57A3E4A9-64C2-4937-B870-6D8BBB1D9DE2}"/>
              </a:ext>
            </a:extLst>
          </p:cNvPr>
          <p:cNvPicPr>
            <a:picLocks noChangeAspect="1"/>
          </p:cNvPicPr>
          <p:nvPr/>
        </p:nvPicPr>
        <p:blipFill>
          <a:blip r:embed="rId2"/>
          <a:stretch>
            <a:fillRect/>
          </a:stretch>
        </p:blipFill>
        <p:spPr>
          <a:xfrm>
            <a:off x="184387" y="1492536"/>
            <a:ext cx="4859561" cy="3099237"/>
          </a:xfrm>
          <a:prstGeom prst="rect">
            <a:avLst/>
          </a:prstGeom>
        </p:spPr>
      </p:pic>
    </p:spTree>
    <p:extLst>
      <p:ext uri="{BB962C8B-B14F-4D97-AF65-F5344CB8AC3E}">
        <p14:creationId xmlns:p14="http://schemas.microsoft.com/office/powerpoint/2010/main" val="2301302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384A2-6BB9-4BB9-96E5-54AF290803E1}"/>
              </a:ext>
            </a:extLst>
          </p:cNvPr>
          <p:cNvSpPr>
            <a:spLocks noGrp="1"/>
          </p:cNvSpPr>
          <p:nvPr>
            <p:ph type="title"/>
          </p:nvPr>
        </p:nvSpPr>
        <p:spPr>
          <a:xfrm>
            <a:off x="5014452" y="286603"/>
            <a:ext cx="6141228" cy="1450757"/>
          </a:xfrm>
        </p:spPr>
        <p:txBody>
          <a:bodyPr/>
          <a:lstStyle/>
          <a:p>
            <a:r>
              <a:rPr lang="en-US" dirty="0"/>
              <a:t>CUDA Parallel Forward Edge Iterator V2_1</a:t>
            </a:r>
            <a:endParaRPr lang="it-IT" dirty="0"/>
          </a:p>
        </p:txBody>
      </p:sp>
      <p:sp>
        <p:nvSpPr>
          <p:cNvPr id="3" name="Content Placeholder 2">
            <a:extLst>
              <a:ext uri="{FF2B5EF4-FFF2-40B4-BE49-F238E27FC236}">
                <a16:creationId xmlns:a16="http://schemas.microsoft.com/office/drawing/2014/main" id="{63ED9ADA-ED18-4450-8BA1-2287E59E3E77}"/>
              </a:ext>
            </a:extLst>
          </p:cNvPr>
          <p:cNvSpPr>
            <a:spLocks noGrp="1"/>
          </p:cNvSpPr>
          <p:nvPr>
            <p:ph idx="1"/>
          </p:nvPr>
        </p:nvSpPr>
        <p:spPr>
          <a:xfrm>
            <a:off x="4914162" y="1845734"/>
            <a:ext cx="6241517" cy="4023360"/>
          </a:xfrm>
        </p:spPr>
        <p:txBody>
          <a:bodyPr>
            <a:normAutofit fontScale="92500" lnSpcReduction="10000"/>
          </a:bodyPr>
          <a:lstStyle/>
          <a:p>
            <a:r>
              <a:rPr lang="en-US" dirty="0"/>
              <a:t>The </a:t>
            </a:r>
            <a:r>
              <a:rPr lang="en-US" b="1" dirty="0"/>
              <a:t>V2_1 CUDA Edge Iterator</a:t>
            </a:r>
            <a:r>
              <a:rPr lang="en-US" dirty="0"/>
              <a:t> extends V2 by adding a </a:t>
            </a:r>
            <a:r>
              <a:rPr lang="en-US" b="1" dirty="0"/>
              <a:t>shared memory optimization</a:t>
            </a:r>
            <a:r>
              <a:rPr lang="en-US" dirty="0"/>
              <a:t>. Instead of one thread per edge, </a:t>
            </a:r>
            <a:r>
              <a:rPr lang="en-US" b="1" dirty="0"/>
              <a:t>each block manages a single edge</a:t>
            </a:r>
            <a:r>
              <a:rPr lang="en-US" dirty="0"/>
              <a:t>. Threads cooperatively load the adjacency lists of the edge’s endpoints into </a:t>
            </a:r>
            <a:r>
              <a:rPr lang="en-US" b="1" dirty="0"/>
              <a:t>shared memory</a:t>
            </a:r>
            <a:r>
              <a:rPr lang="en-US" dirty="0"/>
              <a:t>, synchronize, and then a single thread performs the </a:t>
            </a:r>
            <a:r>
              <a:rPr lang="en-US" b="1" dirty="0"/>
              <a:t>two-pointer merge-like intersection</a:t>
            </a:r>
            <a:r>
              <a:rPr lang="en-US" dirty="0"/>
              <a:t> on this faster local data. This reduces global memory latency when neighbor lists fit in shared memory.</a:t>
            </a:r>
          </a:p>
          <a:p>
            <a:r>
              <a:rPr lang="en-US" dirty="0"/>
              <a:t>The graph shows performance as a function of </a:t>
            </a:r>
            <a:r>
              <a:rPr lang="en-US" b="1" dirty="0"/>
              <a:t>Max Shared List Per Edge Combined</a:t>
            </a:r>
            <a:r>
              <a:rPr lang="en-US" dirty="0"/>
              <a:t> for different </a:t>
            </a:r>
            <a:r>
              <a:rPr lang="en-US" b="1" dirty="0"/>
              <a:t>BLOCK_SIZE</a:t>
            </a:r>
            <a:r>
              <a:rPr lang="en-US" dirty="0"/>
              <a:t> values. Increasing this limit generally increases execution time, since reserving more shared memory per block reduces occupancy and parallelism. Smaller </a:t>
            </a:r>
            <a:r>
              <a:rPr lang="en-US" b="1" dirty="0"/>
              <a:t>BLOCK_SIZE</a:t>
            </a:r>
            <a:r>
              <a:rPr lang="en-US" dirty="0"/>
              <a:t> values (8, 16) achieve better performance at lower thresholds, while larger sizes (256, 512) suffer sharp slowdowns from resource constraints.</a:t>
            </a:r>
          </a:p>
          <a:p>
            <a:endParaRPr lang="it-IT" dirty="0"/>
          </a:p>
        </p:txBody>
      </p:sp>
      <p:pic>
        <p:nvPicPr>
          <p:cNvPr id="4" name="Picture 3">
            <a:extLst>
              <a:ext uri="{FF2B5EF4-FFF2-40B4-BE49-F238E27FC236}">
                <a16:creationId xmlns:a16="http://schemas.microsoft.com/office/drawing/2014/main" id="{06B0E4D5-7D7C-4FEB-97F7-0EAF0DDA8C06}"/>
              </a:ext>
            </a:extLst>
          </p:cNvPr>
          <p:cNvPicPr>
            <a:picLocks noChangeAspect="1"/>
          </p:cNvPicPr>
          <p:nvPr/>
        </p:nvPicPr>
        <p:blipFill>
          <a:blip r:embed="rId2"/>
          <a:stretch>
            <a:fillRect/>
          </a:stretch>
        </p:blipFill>
        <p:spPr>
          <a:xfrm>
            <a:off x="7403" y="1589935"/>
            <a:ext cx="4906759" cy="3002493"/>
          </a:xfrm>
          <a:prstGeom prst="rect">
            <a:avLst/>
          </a:prstGeom>
        </p:spPr>
      </p:pic>
    </p:spTree>
    <p:extLst>
      <p:ext uri="{BB962C8B-B14F-4D97-AF65-F5344CB8AC3E}">
        <p14:creationId xmlns:p14="http://schemas.microsoft.com/office/powerpoint/2010/main" val="34011213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A7642-9F59-4268-AF08-990F77A20AF9}"/>
              </a:ext>
            </a:extLst>
          </p:cNvPr>
          <p:cNvSpPr>
            <a:spLocks noGrp="1"/>
          </p:cNvSpPr>
          <p:nvPr>
            <p:ph type="title"/>
          </p:nvPr>
        </p:nvSpPr>
        <p:spPr>
          <a:xfrm>
            <a:off x="4949559" y="286603"/>
            <a:ext cx="6206121" cy="1450757"/>
          </a:xfrm>
        </p:spPr>
        <p:txBody>
          <a:bodyPr/>
          <a:lstStyle/>
          <a:p>
            <a:r>
              <a:rPr lang="en-US" dirty="0"/>
              <a:t>CUDA Parallel Forward Edge Iterator V2_2</a:t>
            </a:r>
            <a:endParaRPr lang="it-IT" dirty="0"/>
          </a:p>
        </p:txBody>
      </p:sp>
      <p:sp>
        <p:nvSpPr>
          <p:cNvPr id="3" name="Content Placeholder 2">
            <a:extLst>
              <a:ext uri="{FF2B5EF4-FFF2-40B4-BE49-F238E27FC236}">
                <a16:creationId xmlns:a16="http://schemas.microsoft.com/office/drawing/2014/main" id="{F30128A7-AB09-4286-859D-705813F4D2BA}"/>
              </a:ext>
            </a:extLst>
          </p:cNvPr>
          <p:cNvSpPr>
            <a:spLocks noGrp="1"/>
          </p:cNvSpPr>
          <p:nvPr>
            <p:ph idx="1"/>
          </p:nvPr>
        </p:nvSpPr>
        <p:spPr>
          <a:xfrm>
            <a:off x="4949559" y="1845734"/>
            <a:ext cx="6206121" cy="4023360"/>
          </a:xfrm>
        </p:spPr>
        <p:txBody>
          <a:bodyPr>
            <a:normAutofit fontScale="92500" lnSpcReduction="20000"/>
          </a:bodyPr>
          <a:lstStyle/>
          <a:p>
            <a:r>
              <a:rPr lang="en-US" dirty="0"/>
              <a:t>The </a:t>
            </a:r>
            <a:r>
              <a:rPr lang="en-US" b="1" dirty="0"/>
              <a:t>V2_2 CUDA Edge Iterator</a:t>
            </a:r>
            <a:r>
              <a:rPr lang="en-US" dirty="0"/>
              <a:t> keeps the </a:t>
            </a:r>
            <a:r>
              <a:rPr lang="en-US" b="1" dirty="0"/>
              <a:t>two-pointer merge-like algorithm</a:t>
            </a:r>
            <a:r>
              <a:rPr lang="en-US" dirty="0"/>
              <a:t> and also uses </a:t>
            </a:r>
            <a:r>
              <a:rPr lang="en-US" b="1" dirty="0"/>
              <a:t>shared memory</a:t>
            </a:r>
            <a:r>
              <a:rPr lang="en-US" dirty="0"/>
              <a:t>, but with a different mapping than V2_1. Here, </a:t>
            </a:r>
            <a:r>
              <a:rPr lang="en-US" b="1" dirty="0"/>
              <a:t>one thread manages one edge</a:t>
            </a:r>
            <a:r>
              <a:rPr lang="en-US" dirty="0"/>
              <a:t> (like V2), but each thread tries to load its edge’s adjacency lists into a </a:t>
            </a:r>
            <a:r>
              <a:rPr lang="en-US" b="1" dirty="0"/>
              <a:t>dynamically allocated portion of shared memory</a:t>
            </a:r>
            <a:r>
              <a:rPr lang="en-US" dirty="0"/>
              <a:t> before performing the intersection. This allows multiple edges to be processed in parallel within a block, each gaining faster access if their lists fit in memory.</a:t>
            </a:r>
          </a:p>
          <a:p>
            <a:r>
              <a:rPr lang="en-US" dirty="0"/>
              <a:t>The performance graph shows total execution time versus </a:t>
            </a:r>
            <a:r>
              <a:rPr lang="en-US" b="1" dirty="0"/>
              <a:t>Max Shared List Per Edge Combined</a:t>
            </a:r>
            <a:r>
              <a:rPr lang="en-US" dirty="0"/>
              <a:t> for different </a:t>
            </a:r>
            <a:r>
              <a:rPr lang="en-US" b="1" dirty="0"/>
              <a:t>BLOCK_SIZE</a:t>
            </a:r>
            <a:r>
              <a:rPr lang="en-US" dirty="0"/>
              <a:t> values. Smaller block sizes (8, 16, 32) achieve lower durations and are less sensitive at low thresholds, while larger block sizes slow down more as memory usage grows. Excessive shared memory per thread reduces concurrency and occupancy, limiting performance. The best results come from </a:t>
            </a:r>
            <a:r>
              <a:rPr lang="en-US" b="1" dirty="0"/>
              <a:t>small BLOCK_SIZE values</a:t>
            </a:r>
            <a:r>
              <a:rPr lang="en-US" dirty="0"/>
              <a:t> with </a:t>
            </a:r>
            <a:r>
              <a:rPr lang="en-US" b="1" dirty="0"/>
              <a:t>low shared memory thresholds</a:t>
            </a:r>
            <a:r>
              <a:rPr lang="en-US" dirty="0"/>
              <a:t>, where faster memory access is balanced against GPU resource constraints.</a:t>
            </a:r>
          </a:p>
          <a:p>
            <a:endParaRPr lang="it-IT" dirty="0"/>
          </a:p>
        </p:txBody>
      </p:sp>
      <p:pic>
        <p:nvPicPr>
          <p:cNvPr id="4" name="Picture 3">
            <a:extLst>
              <a:ext uri="{FF2B5EF4-FFF2-40B4-BE49-F238E27FC236}">
                <a16:creationId xmlns:a16="http://schemas.microsoft.com/office/drawing/2014/main" id="{604A612A-6E22-4E05-B287-B93E210C97EA}"/>
              </a:ext>
            </a:extLst>
          </p:cNvPr>
          <p:cNvPicPr>
            <a:picLocks noChangeAspect="1"/>
          </p:cNvPicPr>
          <p:nvPr/>
        </p:nvPicPr>
        <p:blipFill>
          <a:blip r:embed="rId2"/>
          <a:stretch>
            <a:fillRect/>
          </a:stretch>
        </p:blipFill>
        <p:spPr>
          <a:xfrm>
            <a:off x="247126" y="1672467"/>
            <a:ext cx="4702433" cy="2862759"/>
          </a:xfrm>
          <a:prstGeom prst="rect">
            <a:avLst/>
          </a:prstGeom>
        </p:spPr>
      </p:pic>
    </p:spTree>
    <p:extLst>
      <p:ext uri="{BB962C8B-B14F-4D97-AF65-F5344CB8AC3E}">
        <p14:creationId xmlns:p14="http://schemas.microsoft.com/office/powerpoint/2010/main" val="4483858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F2FE-CE66-4CEA-BB81-604B68FFD6A7}"/>
              </a:ext>
            </a:extLst>
          </p:cNvPr>
          <p:cNvSpPr>
            <a:spLocks noGrp="1"/>
          </p:cNvSpPr>
          <p:nvPr>
            <p:ph type="title"/>
          </p:nvPr>
        </p:nvSpPr>
        <p:spPr>
          <a:xfrm>
            <a:off x="4760778" y="286603"/>
            <a:ext cx="6394902" cy="1450757"/>
          </a:xfrm>
        </p:spPr>
        <p:txBody>
          <a:bodyPr/>
          <a:lstStyle/>
          <a:p>
            <a:r>
              <a:rPr lang="en-US" dirty="0"/>
              <a:t>CUDA Parallel Forward Edge Iterator V3</a:t>
            </a:r>
            <a:endParaRPr lang="it-IT" dirty="0"/>
          </a:p>
        </p:txBody>
      </p:sp>
      <p:sp>
        <p:nvSpPr>
          <p:cNvPr id="3" name="Content Placeholder 2">
            <a:extLst>
              <a:ext uri="{FF2B5EF4-FFF2-40B4-BE49-F238E27FC236}">
                <a16:creationId xmlns:a16="http://schemas.microsoft.com/office/drawing/2014/main" id="{471618AD-BFE7-483C-8BAD-DD77CFCA196E}"/>
              </a:ext>
            </a:extLst>
          </p:cNvPr>
          <p:cNvSpPr>
            <a:spLocks noGrp="1"/>
          </p:cNvSpPr>
          <p:nvPr>
            <p:ph idx="1"/>
          </p:nvPr>
        </p:nvSpPr>
        <p:spPr>
          <a:xfrm>
            <a:off x="4760778" y="1845734"/>
            <a:ext cx="6394901" cy="4023360"/>
          </a:xfrm>
        </p:spPr>
        <p:txBody>
          <a:bodyPr>
            <a:normAutofit fontScale="92500" lnSpcReduction="20000"/>
          </a:bodyPr>
          <a:lstStyle/>
          <a:p>
            <a:r>
              <a:rPr lang="en-US" dirty="0"/>
              <a:t>The </a:t>
            </a:r>
            <a:r>
              <a:rPr lang="en-US" b="1" dirty="0"/>
              <a:t>V3 CUDA Edge Iterator</a:t>
            </a:r>
            <a:r>
              <a:rPr lang="en-US" dirty="0"/>
              <a:t> addresses the </a:t>
            </a:r>
            <a:r>
              <a:rPr lang="en-US" b="1" dirty="0"/>
              <a:t>scalability issues</a:t>
            </a:r>
            <a:r>
              <a:rPr lang="en-US" dirty="0"/>
              <a:t> of previous versions, where larger block sizes caused performance degradation. V3 introduces a </a:t>
            </a:r>
            <a:r>
              <a:rPr lang="en-US" b="1" dirty="0"/>
              <a:t>dynamic work queue</a:t>
            </a:r>
            <a:r>
              <a:rPr lang="en-US" dirty="0"/>
              <a:t> for edge iteration: threads fetch new edges from a global queue as they finish previous work. This improves </a:t>
            </a:r>
            <a:r>
              <a:rPr lang="en-US" b="1" dirty="0"/>
              <a:t>load balancing</a:t>
            </a:r>
            <a:r>
              <a:rPr lang="en-US" dirty="0"/>
              <a:t>, since threads handling lighter edges can continue working instead of remaining idle, leading to better resource utilization.</a:t>
            </a:r>
          </a:p>
          <a:p>
            <a:r>
              <a:rPr lang="en-US" dirty="0"/>
              <a:t>Performance tests show that V3 is far more scalable and robust: as </a:t>
            </a:r>
            <a:r>
              <a:rPr lang="en-US" b="1" dirty="0"/>
              <a:t>BLOCK_SIZE</a:t>
            </a:r>
            <a:r>
              <a:rPr lang="en-US" dirty="0"/>
              <a:t> increases, execution either improves or stabilizes, avoiding the sharp slowdowns of earlier versions. However, this comes at a cost—execution time increases by about </a:t>
            </a:r>
            <a:r>
              <a:rPr lang="en-US" b="1" dirty="0"/>
              <a:t>10×</a:t>
            </a:r>
            <a:r>
              <a:rPr lang="en-US" dirty="0"/>
              <a:t> on the 100M-node graph (from ~3 </a:t>
            </a:r>
            <a:r>
              <a:rPr lang="en-US" dirty="0" err="1"/>
              <a:t>ms</a:t>
            </a:r>
            <a:r>
              <a:rPr lang="en-US" dirty="0"/>
              <a:t> to ~30 </a:t>
            </a:r>
            <a:r>
              <a:rPr lang="en-US" dirty="0" err="1"/>
              <a:t>ms</a:t>
            </a:r>
            <a:r>
              <a:rPr lang="en-US" dirty="0"/>
              <a:t>), mainly due to </a:t>
            </a:r>
            <a:r>
              <a:rPr lang="en-US" b="1" dirty="0"/>
              <a:t>atomic contention</a:t>
            </a:r>
            <a:r>
              <a:rPr lang="en-US" dirty="0"/>
              <a:t> when threads access the global queue. A hybrid variant (</a:t>
            </a:r>
            <a:r>
              <a:rPr lang="en-US" b="1" dirty="0"/>
              <a:t>V3_1</a:t>
            </a:r>
            <a:r>
              <a:rPr lang="en-US" dirty="0"/>
              <a:t>) combines static block assignment with dynamic scheduling inside each block using </a:t>
            </a:r>
            <a:r>
              <a:rPr lang="en-US" b="1" dirty="0"/>
              <a:t>shared memory</a:t>
            </a:r>
            <a:r>
              <a:rPr lang="en-US" dirty="0"/>
              <a:t>, reducing execution time by ~</a:t>
            </a:r>
            <a:r>
              <a:rPr lang="en-US" b="1" dirty="0"/>
              <a:t>15%</a:t>
            </a:r>
            <a:r>
              <a:rPr lang="en-US" dirty="0"/>
              <a:t> (from 35 </a:t>
            </a:r>
            <a:r>
              <a:rPr lang="en-US" dirty="0" err="1"/>
              <a:t>ms</a:t>
            </a:r>
            <a:r>
              <a:rPr lang="en-US" dirty="0"/>
              <a:t> to 30 </a:t>
            </a:r>
            <a:r>
              <a:rPr lang="en-US" dirty="0" err="1"/>
              <a:t>ms</a:t>
            </a:r>
            <a:r>
              <a:rPr lang="en-US" dirty="0"/>
              <a:t> at BLOCK_SIZE = 8).</a:t>
            </a:r>
          </a:p>
          <a:p>
            <a:endParaRPr lang="it-IT" dirty="0"/>
          </a:p>
        </p:txBody>
      </p:sp>
      <p:pic>
        <p:nvPicPr>
          <p:cNvPr id="4" name="Picture 3">
            <a:extLst>
              <a:ext uri="{FF2B5EF4-FFF2-40B4-BE49-F238E27FC236}">
                <a16:creationId xmlns:a16="http://schemas.microsoft.com/office/drawing/2014/main" id="{555C4CDB-A45B-4BC8-9541-5AB2D6DE7859}"/>
              </a:ext>
            </a:extLst>
          </p:cNvPr>
          <p:cNvPicPr>
            <a:picLocks noChangeAspect="1"/>
          </p:cNvPicPr>
          <p:nvPr/>
        </p:nvPicPr>
        <p:blipFill>
          <a:blip r:embed="rId2"/>
          <a:stretch>
            <a:fillRect/>
          </a:stretch>
        </p:blipFill>
        <p:spPr>
          <a:xfrm>
            <a:off x="326742" y="485311"/>
            <a:ext cx="4300561" cy="2720846"/>
          </a:xfrm>
          <a:prstGeom prst="rect">
            <a:avLst/>
          </a:prstGeom>
        </p:spPr>
      </p:pic>
      <p:pic>
        <p:nvPicPr>
          <p:cNvPr id="5" name="Picture 4">
            <a:extLst>
              <a:ext uri="{FF2B5EF4-FFF2-40B4-BE49-F238E27FC236}">
                <a16:creationId xmlns:a16="http://schemas.microsoft.com/office/drawing/2014/main" id="{18638F9A-B453-4CC5-9435-0F8549470ABF}"/>
              </a:ext>
            </a:extLst>
          </p:cNvPr>
          <p:cNvPicPr>
            <a:picLocks noChangeAspect="1"/>
          </p:cNvPicPr>
          <p:nvPr/>
        </p:nvPicPr>
        <p:blipFill>
          <a:blip r:embed="rId3"/>
          <a:stretch>
            <a:fillRect/>
          </a:stretch>
        </p:blipFill>
        <p:spPr>
          <a:xfrm>
            <a:off x="238250" y="3229554"/>
            <a:ext cx="4407239" cy="2775989"/>
          </a:xfrm>
          <a:prstGeom prst="rect">
            <a:avLst/>
          </a:prstGeom>
        </p:spPr>
      </p:pic>
    </p:spTree>
    <p:extLst>
      <p:ext uri="{BB962C8B-B14F-4D97-AF65-F5344CB8AC3E}">
        <p14:creationId xmlns:p14="http://schemas.microsoft.com/office/powerpoint/2010/main" val="3282439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9" name="Rectangle 28">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31" name="Straight Connector 30">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3" name="Rectangle 32">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9C90C7-3FC4-3302-10BE-14F7FE79F094}"/>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5100">
                <a:solidFill>
                  <a:schemeClr val="tx1">
                    <a:lumMod val="85000"/>
                    <a:lumOff val="15000"/>
                  </a:schemeClr>
                </a:solidFill>
              </a:rPr>
              <a:t>CUDA Parallel Edge V3: final comparison</a:t>
            </a:r>
          </a:p>
        </p:txBody>
      </p:sp>
      <p:pic>
        <p:nvPicPr>
          <p:cNvPr id="5" name="Content Placeholder 4">
            <a:extLst>
              <a:ext uri="{FF2B5EF4-FFF2-40B4-BE49-F238E27FC236}">
                <a16:creationId xmlns:a16="http://schemas.microsoft.com/office/drawing/2014/main" id="{11DF9763-E7D8-E307-960F-E6440E0BDF96}"/>
              </a:ext>
            </a:extLst>
          </p:cNvPr>
          <p:cNvPicPr>
            <a:picLocks noGrp="1" noChangeAspect="1"/>
          </p:cNvPicPr>
          <p:nvPr>
            <p:ph idx="1"/>
          </p:nvPr>
        </p:nvPicPr>
        <p:blipFill>
          <a:blip r:embed="rId2"/>
          <a:stretch>
            <a:fillRect/>
          </a:stretch>
        </p:blipFill>
        <p:spPr>
          <a:xfrm>
            <a:off x="635457" y="953269"/>
            <a:ext cx="5131653" cy="2976357"/>
          </a:xfrm>
          <a:prstGeom prst="rect">
            <a:avLst/>
          </a:prstGeom>
        </p:spPr>
      </p:pic>
      <p:sp>
        <p:nvSpPr>
          <p:cNvPr id="35" name="Rectangle 34">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F8CD4A3A-3F58-12D6-0624-43C2647017FD}"/>
              </a:ext>
            </a:extLst>
          </p:cNvPr>
          <p:cNvPicPr>
            <a:picLocks noChangeAspect="1"/>
          </p:cNvPicPr>
          <p:nvPr/>
        </p:nvPicPr>
        <p:blipFill>
          <a:blip r:embed="rId3"/>
          <a:stretch>
            <a:fillRect/>
          </a:stretch>
        </p:blipFill>
        <p:spPr>
          <a:xfrm>
            <a:off x="6424891" y="867607"/>
            <a:ext cx="5118182" cy="3147681"/>
          </a:xfrm>
          <a:prstGeom prst="rect">
            <a:avLst/>
          </a:prstGeom>
        </p:spPr>
      </p:pic>
      <p:cxnSp>
        <p:nvCxnSpPr>
          <p:cNvPr id="37" name="Straight Connector 36">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41" name="Rectangle 40">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5330058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898EA-F552-4AE4-BACD-867703F5652C}"/>
              </a:ext>
            </a:extLst>
          </p:cNvPr>
          <p:cNvSpPr>
            <a:spLocks noGrp="1"/>
          </p:cNvSpPr>
          <p:nvPr>
            <p:ph type="title"/>
          </p:nvPr>
        </p:nvSpPr>
        <p:spPr/>
        <p:txBody>
          <a:bodyPr/>
          <a:lstStyle/>
          <a:p>
            <a:r>
              <a:rPr lang="it-IT" dirty="0"/>
              <a:t>Matrix </a:t>
            </a:r>
            <a:r>
              <a:rPr lang="it-IT" dirty="0" err="1"/>
              <a:t>Multiplication</a:t>
            </a:r>
            <a:r>
              <a:rPr lang="it-IT" dirty="0"/>
              <a:t> </a:t>
            </a:r>
            <a:r>
              <a:rPr lang="it-IT" dirty="0" err="1"/>
              <a:t>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8F5947-64B4-47FD-84EB-E71FC8F5B4EA}"/>
                  </a:ext>
                </a:extLst>
              </p:cNvPr>
              <p:cNvSpPr>
                <a:spLocks noGrp="1"/>
              </p:cNvSpPr>
              <p:nvPr>
                <p:ph idx="1"/>
              </p:nvPr>
            </p:nvSpPr>
            <p:spPr/>
            <p:txBody>
              <a:bodyPr/>
              <a:lstStyle/>
              <a:p>
                <a:r>
                  <a:rPr lang="it-IT" dirty="0"/>
                  <a:t>The </a:t>
                </a:r>
                <a:r>
                  <a:rPr lang="it-IT" b="1" dirty="0" err="1"/>
                  <a:t>matrix</a:t>
                </a:r>
                <a:r>
                  <a:rPr lang="it-IT" b="1" dirty="0"/>
                  <a:t> </a:t>
                </a:r>
                <a:r>
                  <a:rPr lang="it-IT" b="1" dirty="0" err="1"/>
                  <a:t>multiplication</a:t>
                </a:r>
                <a:r>
                  <a:rPr lang="it-IT" b="1" dirty="0"/>
                  <a:t> </a:t>
                </a:r>
                <a:r>
                  <a:rPr lang="it-IT" dirty="0" err="1"/>
                  <a:t>algorithm</a:t>
                </a:r>
                <a:r>
                  <a:rPr lang="it-IT" dirty="0"/>
                  <a:t> </a:t>
                </a:r>
                <a:r>
                  <a:rPr lang="it-IT" dirty="0" err="1"/>
                  <a:t>is</a:t>
                </a:r>
                <a:r>
                  <a:rPr lang="it-IT" dirty="0"/>
                  <a:t> </a:t>
                </a:r>
                <a:r>
                  <a:rPr lang="it-IT" dirty="0" err="1"/>
                  <a:t>implemented</a:t>
                </a:r>
                <a:r>
                  <a:rPr lang="it-IT" dirty="0"/>
                  <a:t> by </a:t>
                </a:r>
                <a:r>
                  <a:rPr lang="it-IT" dirty="0" err="1"/>
                  <a:t>using</a:t>
                </a:r>
                <a:r>
                  <a:rPr lang="it-IT" dirty="0"/>
                  <a:t> a </a:t>
                </a:r>
                <a:r>
                  <a:rPr lang="it-IT" dirty="0" err="1"/>
                  <a:t>matrix</a:t>
                </a:r>
                <a:r>
                  <a:rPr lang="it-IT" dirty="0"/>
                  <a:t> data </a:t>
                </a:r>
                <a:r>
                  <a:rPr lang="it-IT" dirty="0" err="1"/>
                  <a:t>structure</a:t>
                </a:r>
                <a:r>
                  <a:rPr lang="it-IT" dirty="0"/>
                  <a:t> </a:t>
                </a:r>
                <a:r>
                  <a:rPr lang="it-IT" dirty="0" err="1"/>
                  <a:t>where</a:t>
                </a:r>
                <a:r>
                  <a:rPr lang="it-IT" dirty="0"/>
                  <a:t> </a:t>
                </a:r>
                <a:r>
                  <a:rPr lang="it-IT" dirty="0" err="1"/>
                  <a:t>each</a:t>
                </a:r>
                <a:r>
                  <a:rPr lang="it-IT" dirty="0"/>
                  <a:t> </a:t>
                </a:r>
                <a:r>
                  <a:rPr lang="it-IT" b="1" dirty="0" err="1"/>
                  <a:t>row</a:t>
                </a:r>
                <a:r>
                  <a:rPr lang="it-IT" b="1" dirty="0"/>
                  <a:t> and </a:t>
                </a:r>
                <a:r>
                  <a:rPr lang="it-IT" b="1" dirty="0" err="1"/>
                  <a:t>column</a:t>
                </a:r>
                <a:r>
                  <a:rPr lang="it-IT" b="1" dirty="0"/>
                  <a:t> </a:t>
                </a:r>
                <a:r>
                  <a:rPr lang="it-IT" b="1" dirty="0" err="1"/>
                  <a:t>represents</a:t>
                </a:r>
                <a:r>
                  <a:rPr lang="it-IT" b="1" dirty="0"/>
                  <a:t> a </a:t>
                </a:r>
                <a:r>
                  <a:rPr lang="it-IT" b="1" dirty="0" err="1"/>
                  <a:t>node</a:t>
                </a:r>
                <a:r>
                  <a:rPr lang="it-IT" dirty="0"/>
                  <a:t>, and </a:t>
                </a:r>
                <a:r>
                  <a:rPr lang="it-IT" dirty="0" err="1"/>
                  <a:t>each</a:t>
                </a:r>
                <a:r>
                  <a:rPr lang="it-IT" dirty="0"/>
                  <a:t> </a:t>
                </a:r>
                <a:r>
                  <a:rPr lang="it-IT" dirty="0" err="1"/>
                  <a:t>element</a:t>
                </a:r>
                <a:r>
                  <a:rPr lang="it-IT" dirty="0"/>
                  <a:t> of the </a:t>
                </a:r>
                <a:r>
                  <a:rPr lang="it-IT" dirty="0" err="1"/>
                  <a:t>matrix</a:t>
                </a:r>
                <a:r>
                  <a:rPr lang="it-IT" dirty="0"/>
                  <a:t> </a:t>
                </a:r>
                <a:r>
                  <a:rPr lang="it-IT" dirty="0" err="1"/>
                  <a:t>is</a:t>
                </a:r>
                <a:r>
                  <a:rPr lang="it-IT" dirty="0"/>
                  <a:t> 1 </a:t>
                </a:r>
                <a:r>
                  <a:rPr lang="it-IT" dirty="0" err="1"/>
                  <a:t>if</a:t>
                </a:r>
                <a:r>
                  <a:rPr lang="it-IT" dirty="0"/>
                  <a:t> </a:t>
                </a:r>
                <a:r>
                  <a:rPr lang="it-IT" dirty="0" err="1"/>
                  <a:t>there</a:t>
                </a:r>
                <a:r>
                  <a:rPr lang="it-IT" dirty="0"/>
                  <a:t> </a:t>
                </a:r>
                <a:r>
                  <a:rPr lang="it-IT" dirty="0" err="1"/>
                  <a:t>is</a:t>
                </a:r>
                <a:r>
                  <a:rPr lang="it-IT" dirty="0"/>
                  <a:t> an </a:t>
                </a:r>
                <a:r>
                  <a:rPr lang="it-IT" dirty="0" err="1"/>
                  <a:t>edge</a:t>
                </a:r>
                <a:r>
                  <a:rPr lang="it-IT" dirty="0"/>
                  <a:t> </a:t>
                </a:r>
                <a:r>
                  <a:rPr lang="it-IT" dirty="0" err="1"/>
                  <a:t>between</a:t>
                </a:r>
                <a:r>
                  <a:rPr lang="it-IT" dirty="0"/>
                  <a:t> the </a:t>
                </a:r>
                <a:r>
                  <a:rPr lang="it-IT" dirty="0" err="1"/>
                  <a:t>respective</a:t>
                </a:r>
                <a:r>
                  <a:rPr lang="it-IT" dirty="0"/>
                  <a:t> </a:t>
                </a:r>
                <a:r>
                  <a:rPr lang="it-IT" dirty="0" err="1"/>
                  <a:t>nodes</a:t>
                </a:r>
                <a:r>
                  <a:rPr lang="it-IT" dirty="0"/>
                  <a:t>, 0 </a:t>
                </a:r>
                <a:r>
                  <a:rPr lang="it-IT" dirty="0" err="1"/>
                  <a:t>otherwise</a:t>
                </a:r>
                <a:r>
                  <a:rPr lang="it-IT" dirty="0"/>
                  <a:t>. The </a:t>
                </a:r>
                <a:r>
                  <a:rPr lang="it-IT" b="1" dirty="0" err="1"/>
                  <a:t>total</a:t>
                </a:r>
                <a:r>
                  <a:rPr lang="it-IT" b="1" dirty="0"/>
                  <a:t> </a:t>
                </a:r>
                <a:r>
                  <a:rPr lang="it-IT" b="1" dirty="0" err="1"/>
                  <a:t>number</a:t>
                </a:r>
                <a:r>
                  <a:rPr lang="it-IT" b="1" dirty="0"/>
                  <a:t> of </a:t>
                </a:r>
                <a:r>
                  <a:rPr lang="it-IT" b="1" dirty="0" err="1"/>
                  <a:t>triangles</a:t>
                </a:r>
                <a:r>
                  <a:rPr lang="it-IT" b="1" dirty="0"/>
                  <a:t> </a:t>
                </a:r>
                <a:r>
                  <a:rPr lang="it-IT" dirty="0"/>
                  <a:t>are </a:t>
                </a:r>
                <a:r>
                  <a:rPr lang="it-IT" dirty="0" err="1"/>
                  <a:t>computed</a:t>
                </a:r>
                <a:r>
                  <a:rPr lang="it-IT" dirty="0"/>
                  <a:t> </a:t>
                </a:r>
                <a:r>
                  <a:rPr lang="it-IT" dirty="0" err="1"/>
                  <a:t>using</a:t>
                </a:r>
                <a:r>
                  <a:rPr lang="it-IT" dirty="0"/>
                  <a:t> the formula</a:t>
                </a:r>
                <a:r>
                  <a:rPr lang="it-IT" b="1" dirty="0"/>
                  <a:t> </a:t>
                </a:r>
                <a14:m>
                  <m:oMath xmlns:m="http://schemas.openxmlformats.org/officeDocument/2006/math">
                    <m:f>
                      <m:fPr>
                        <m:ctrlPr>
                          <a:rPr lang="it-IT" b="1" i="1" smtClean="0">
                            <a:latin typeface="Cambria Math" panose="02040503050406030204" pitchFamily="18" charset="0"/>
                          </a:rPr>
                        </m:ctrlPr>
                      </m:fPr>
                      <m:num>
                        <m:r>
                          <a:rPr lang="it-IT" b="1" i="1" smtClean="0">
                            <a:latin typeface="Cambria Math" panose="02040503050406030204" pitchFamily="18" charset="0"/>
                          </a:rPr>
                          <m:t>𝟏</m:t>
                        </m:r>
                      </m:num>
                      <m:den>
                        <m:r>
                          <a:rPr lang="it-IT" b="1" i="1" smtClean="0">
                            <a:latin typeface="Cambria Math" panose="02040503050406030204" pitchFamily="18" charset="0"/>
                          </a:rPr>
                          <m:t>𝟔</m:t>
                        </m:r>
                      </m:den>
                    </m:f>
                    <m:r>
                      <a:rPr lang="it-IT" b="1" i="1" smtClean="0">
                        <a:latin typeface="Cambria Math" panose="02040503050406030204" pitchFamily="18" charset="0"/>
                      </a:rPr>
                      <m:t>∗</m:t>
                    </m:r>
                    <m:r>
                      <a:rPr lang="it-IT" b="1" i="1" smtClean="0">
                        <a:latin typeface="Cambria Math" panose="02040503050406030204" pitchFamily="18" charset="0"/>
                      </a:rPr>
                      <m:t>𝑻𝒓𝒂𝒄𝒆</m:t>
                    </m:r>
                    <m:r>
                      <a:rPr lang="it-IT" b="1" i="1" smtClean="0">
                        <a:latin typeface="Cambria Math" panose="02040503050406030204" pitchFamily="18" charset="0"/>
                      </a:rPr>
                      <m:t>(</m:t>
                    </m:r>
                    <m:sSup>
                      <m:sSupPr>
                        <m:ctrlPr>
                          <a:rPr lang="it-IT" b="1" i="1" smtClean="0">
                            <a:latin typeface="Cambria Math" panose="02040503050406030204" pitchFamily="18" charset="0"/>
                          </a:rPr>
                        </m:ctrlPr>
                      </m:sSupPr>
                      <m:e>
                        <m:r>
                          <a:rPr lang="it-IT" b="1" i="1" smtClean="0">
                            <a:latin typeface="Cambria Math" panose="02040503050406030204" pitchFamily="18" charset="0"/>
                          </a:rPr>
                          <m:t>𝑨</m:t>
                        </m:r>
                      </m:e>
                      <m:sup>
                        <m:r>
                          <a:rPr lang="it-IT" b="1" i="1" smtClean="0">
                            <a:latin typeface="Cambria Math" panose="02040503050406030204" pitchFamily="18" charset="0"/>
                          </a:rPr>
                          <m:t>𝟑</m:t>
                        </m:r>
                      </m:sup>
                    </m:sSup>
                    <m:r>
                      <a:rPr lang="it-IT" b="1" i="1" smtClean="0">
                        <a:latin typeface="Cambria Math" panose="02040503050406030204" pitchFamily="18" charset="0"/>
                      </a:rPr>
                      <m:t>)</m:t>
                    </m:r>
                  </m:oMath>
                </a14:m>
                <a:r>
                  <a:rPr lang="it-IT" b="1" dirty="0"/>
                  <a:t> </a:t>
                </a:r>
                <a:r>
                  <a:rPr lang="it-IT" dirty="0" err="1"/>
                  <a:t>where</a:t>
                </a:r>
                <a:r>
                  <a:rPr lang="it-IT" dirty="0"/>
                  <a:t> A </a:t>
                </a:r>
                <a:r>
                  <a:rPr lang="it-IT" dirty="0" err="1"/>
                  <a:t>is</a:t>
                </a:r>
                <a:r>
                  <a:rPr lang="it-IT" dirty="0"/>
                  <a:t> the </a:t>
                </a:r>
                <a:r>
                  <a:rPr lang="it-IT" dirty="0" err="1"/>
                  <a:t>matrix</a:t>
                </a:r>
                <a:r>
                  <a:rPr lang="it-IT" dirty="0"/>
                  <a:t>.</a:t>
                </a:r>
              </a:p>
            </p:txBody>
          </p:sp>
        </mc:Choice>
        <mc:Fallback xmlns="">
          <p:sp>
            <p:nvSpPr>
              <p:cNvPr id="3" name="Content Placeholder 2">
                <a:extLst>
                  <a:ext uri="{FF2B5EF4-FFF2-40B4-BE49-F238E27FC236}">
                    <a16:creationId xmlns:a16="http://schemas.microsoft.com/office/drawing/2014/main" id="{AF8F5947-64B4-47FD-84EB-E71FC8F5B4EA}"/>
                  </a:ext>
                </a:extLst>
              </p:cNvPr>
              <p:cNvSpPr>
                <a:spLocks noGrp="1" noRot="1" noChangeAspect="1" noMove="1" noResize="1" noEditPoints="1" noAdjustHandles="1" noChangeArrowheads="1" noChangeShapeType="1" noTextEdit="1"/>
              </p:cNvSpPr>
              <p:nvPr>
                <p:ph idx="1"/>
              </p:nvPr>
            </p:nvSpPr>
            <p:spPr>
              <a:blipFill>
                <a:blip r:embed="rId2"/>
                <a:stretch>
                  <a:fillRect l="-606" t="-1667" r="-1394"/>
                </a:stretch>
              </a:blipFill>
            </p:spPr>
            <p:txBody>
              <a:bodyPr/>
              <a:lstStyle/>
              <a:p>
                <a:r>
                  <a:rPr lang="it-IT">
                    <a:noFill/>
                  </a:rPr>
                  <a:t> </a:t>
                </a:r>
              </a:p>
            </p:txBody>
          </p:sp>
        </mc:Fallback>
      </mc:AlternateContent>
    </p:spTree>
    <p:extLst>
      <p:ext uri="{BB962C8B-B14F-4D97-AF65-F5344CB8AC3E}">
        <p14:creationId xmlns:p14="http://schemas.microsoft.com/office/powerpoint/2010/main" val="39740395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F785-B55B-4D96-9F53-A2B146065996}"/>
              </a:ext>
            </a:extLst>
          </p:cNvPr>
          <p:cNvSpPr>
            <a:spLocks noGrp="1"/>
          </p:cNvSpPr>
          <p:nvPr>
            <p:ph type="title"/>
          </p:nvPr>
        </p:nvSpPr>
        <p:spPr>
          <a:xfrm>
            <a:off x="4790276" y="286603"/>
            <a:ext cx="6365404" cy="1450757"/>
          </a:xfrm>
        </p:spPr>
        <p:txBody>
          <a:bodyPr/>
          <a:lstStyle/>
          <a:p>
            <a:r>
              <a:rPr lang="it-IT" dirty="0" err="1"/>
              <a:t>Parallel</a:t>
            </a:r>
            <a:r>
              <a:rPr lang="it-IT" dirty="0"/>
              <a:t> (C++) Matrix </a:t>
            </a:r>
            <a:r>
              <a:rPr lang="it-IT" dirty="0" err="1"/>
              <a:t>Multiplication</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C4B41C-E9A6-4425-906F-C7EB1D1F7102}"/>
                  </a:ext>
                </a:extLst>
              </p:cNvPr>
              <p:cNvSpPr>
                <a:spLocks noGrp="1"/>
              </p:cNvSpPr>
              <p:nvPr>
                <p:ph idx="1"/>
              </p:nvPr>
            </p:nvSpPr>
            <p:spPr>
              <a:xfrm>
                <a:off x="4849270" y="1845734"/>
                <a:ext cx="6306410" cy="4023360"/>
              </a:xfrm>
            </p:spPr>
            <p:txBody>
              <a:bodyPr>
                <a:noAutofit/>
              </a:bodyPr>
              <a:lstStyle/>
              <a:p>
                <a:pPr marL="0" indent="0">
                  <a:buNone/>
                </a:pPr>
                <a:r>
                  <a:rPr lang="en-US" sz="1600" dirty="0"/>
                  <a:t>The </a:t>
                </a:r>
                <a:r>
                  <a:rPr lang="en-US" sz="1600" b="1" dirty="0"/>
                  <a:t>Parallel Matrix Multiplication Algorithm</a:t>
                </a:r>
                <a:r>
                  <a:rPr lang="en-US" sz="1600" dirty="0"/>
                  <a:t> distributes the computation across multiple threads, as the sequential approach is infeasible for large graphs. The multiplication is divided into two phases:</a:t>
                </a:r>
                <a:r>
                  <a:rPr lang="it-IT" sz="1600" i="1" dirty="0">
                    <a:latin typeface="Cambria Math" panose="02040503050406030204" pitchFamily="18" charset="0"/>
                    <a:ea typeface="Cambria Math" panose="02040503050406030204" pitchFamily="18" charset="0"/>
                  </a:rPr>
                  <a:t>A * A</a:t>
                </a:r>
                <a:r>
                  <a:rPr lang="it-IT" sz="1600" dirty="0">
                    <a:latin typeface="Cambria Math" panose="02040503050406030204" pitchFamily="18" charset="0"/>
                    <a:ea typeface="Cambria Math" panose="02040503050406030204" pitchFamily="18" charset="0"/>
                  </a:rPr>
                  <a:t> </a:t>
                </a:r>
                <a:r>
                  <a:rPr lang="it-IT" sz="1600" dirty="0"/>
                  <a:t>and </a:t>
                </a:r>
                <a14:m>
                  <m:oMath xmlns:m="http://schemas.openxmlformats.org/officeDocument/2006/math">
                    <m:sSup>
                      <m:sSupPr>
                        <m:ctrlPr>
                          <a:rPr lang="it-IT" sz="1600" i="1" smtClean="0">
                            <a:latin typeface="Cambria Math" panose="02040503050406030204" pitchFamily="18" charset="0"/>
                          </a:rPr>
                        </m:ctrlPr>
                      </m:sSupPr>
                      <m:e>
                        <m:r>
                          <a:rPr lang="it-IT" sz="1600" b="0" i="1" smtClean="0">
                            <a:latin typeface="Cambria Math" panose="02040503050406030204" pitchFamily="18" charset="0"/>
                          </a:rPr>
                          <m:t>𝐴</m:t>
                        </m:r>
                      </m:e>
                      <m:sup>
                        <m:r>
                          <a:rPr lang="it-IT" sz="1600" b="0" i="1" smtClean="0">
                            <a:latin typeface="Cambria Math" panose="02040503050406030204" pitchFamily="18" charset="0"/>
                          </a:rPr>
                          <m:t>2</m:t>
                        </m:r>
                      </m:sup>
                    </m:sSup>
                    <m:r>
                      <a:rPr lang="it-IT" sz="1600" b="0" i="1" smtClean="0">
                        <a:latin typeface="Cambria Math" panose="02040503050406030204" pitchFamily="18" charset="0"/>
                      </a:rPr>
                      <m:t>∗</m:t>
                    </m:r>
                    <m:r>
                      <a:rPr lang="it-IT" sz="1600" b="0" i="1" smtClean="0">
                        <a:latin typeface="Cambria Math" panose="02040503050406030204" pitchFamily="18" charset="0"/>
                      </a:rPr>
                      <m:t>𝐴</m:t>
                    </m:r>
                  </m:oMath>
                </a14:m>
                <a:r>
                  <a:rPr lang="it-IT" sz="1600" dirty="0"/>
                  <a:t>, </a:t>
                </a:r>
                <a:r>
                  <a:rPr lang="en-US" sz="1600" dirty="0"/>
                  <a:t>with synchronization barriers ensuring that all threads complete before proceeding. </a:t>
                </a:r>
              </a:p>
              <a:p>
                <a:pPr marL="0" indent="0">
                  <a:buNone/>
                </a:pPr>
                <a:r>
                  <a:rPr lang="en-US" sz="1600" dirty="0"/>
                  <a:t>The computational complexity can be approximated as </a:t>
                </a:r>
                <a:r>
                  <a:rPr lang="it-IT" sz="1600" dirty="0">
                    <a:latin typeface="Cambria Math" panose="02040503050406030204" pitchFamily="18" charset="0"/>
                    <a:ea typeface="Cambria Math" panose="02040503050406030204" pitchFamily="18" charset="0"/>
                  </a:rPr>
                  <a:t>O(</a:t>
                </a:r>
                <a14:m>
                  <m:oMath xmlns:m="http://schemas.openxmlformats.org/officeDocument/2006/math">
                    <m:f>
                      <m:fPr>
                        <m:ctrlPr>
                          <a:rPr lang="it-IT" sz="1600" i="1" smtClean="0">
                            <a:latin typeface="Cambria Math" panose="02040503050406030204" pitchFamily="18" charset="0"/>
                            <a:ea typeface="Cambria Math" panose="02040503050406030204" pitchFamily="18" charset="0"/>
                          </a:rPr>
                        </m:ctrlPr>
                      </m:fPr>
                      <m:num>
                        <m:sSup>
                          <m:sSupPr>
                            <m:ctrlPr>
                              <a:rPr lang="it-IT" sz="1600" i="1">
                                <a:latin typeface="Cambria Math" panose="02040503050406030204" pitchFamily="18" charset="0"/>
                                <a:ea typeface="Cambria Math" panose="02040503050406030204" pitchFamily="18" charset="0"/>
                              </a:rPr>
                            </m:ctrlPr>
                          </m:sSupPr>
                          <m:e>
                            <m:r>
                              <m:rPr>
                                <m:sty m:val="p"/>
                              </m:rPr>
                              <a:rPr lang="it-IT" sz="1600" b="0" i="0" smtClean="0">
                                <a:latin typeface="Cambria Math" panose="02040503050406030204" pitchFamily="18" charset="0"/>
                                <a:ea typeface="Cambria Math" panose="02040503050406030204" pitchFamily="18" charset="0"/>
                              </a:rPr>
                              <m:t>n</m:t>
                            </m:r>
                          </m:e>
                          <m:sup>
                            <m:r>
                              <a:rPr lang="it-IT" sz="1600" b="0" i="0" smtClean="0">
                                <a:latin typeface="Cambria Math" panose="02040503050406030204" pitchFamily="18" charset="0"/>
                                <a:ea typeface="Cambria Math" panose="02040503050406030204" pitchFamily="18" charset="0"/>
                              </a:rPr>
                              <m:t>3</m:t>
                            </m:r>
                          </m:sup>
                        </m:sSup>
                      </m:num>
                      <m:den>
                        <m:r>
                          <m:rPr>
                            <m:sty m:val="p"/>
                          </m:rPr>
                          <a:rPr lang="it-IT" sz="1600" b="0" i="0" smtClean="0">
                            <a:latin typeface="Cambria Math" panose="02040503050406030204" pitchFamily="18" charset="0"/>
                            <a:ea typeface="Cambria Math" panose="02040503050406030204" pitchFamily="18" charset="0"/>
                          </a:rPr>
                          <m:t>p</m:t>
                        </m:r>
                      </m:den>
                    </m:f>
                  </m:oMath>
                </a14:m>
                <a:r>
                  <a:rPr lang="it-IT" sz="1600" dirty="0">
                    <a:latin typeface="Cambria Math" panose="02040503050406030204" pitchFamily="18" charset="0"/>
                    <a:ea typeface="Cambria Math" panose="02040503050406030204" pitchFamily="18" charset="0"/>
                  </a:rPr>
                  <a:t>) </a:t>
                </a:r>
                <a:r>
                  <a:rPr lang="en-US" sz="1600" dirty="0"/>
                  <a:t>where </a:t>
                </a:r>
                <a:r>
                  <a:rPr lang="en-US" sz="1600" i="1" dirty="0"/>
                  <a:t>p</a:t>
                </a:r>
                <a:r>
                  <a:rPr lang="en-US" sz="1600" dirty="0"/>
                  <a:t> denotes the number of threads.</a:t>
                </a:r>
              </a:p>
              <a:p>
                <a:pPr marL="0" indent="0">
                  <a:buNone/>
                </a:pPr>
                <a:r>
                  <a:rPr lang="en-US" sz="1600" dirty="0"/>
                  <a:t>The performance results are shown for graphs of </a:t>
                </a:r>
                <a:r>
                  <a:rPr lang="en-US" sz="1600" b="1" dirty="0"/>
                  <a:t>100 and 10k nodes</a:t>
                </a:r>
                <a:r>
                  <a:rPr lang="en-US" sz="1600" dirty="0"/>
                  <a:t>, executed on two different Intel processors (tests on larger graphs were limited by RAM). In both cases, the execution time reaches a minimum with approximately </a:t>
                </a:r>
                <a:r>
                  <a:rPr lang="en-US" sz="1600" b="1" dirty="0"/>
                  <a:t>8–10 threads</a:t>
                </a:r>
                <a:r>
                  <a:rPr lang="en-US" sz="1600" dirty="0"/>
                  <a:t>. Notably, for the 10k-node graph, the </a:t>
                </a:r>
                <a:r>
                  <a:rPr lang="en-US" sz="1600" b="1" dirty="0"/>
                  <a:t>Parallel Matrix Multiplication Algorithm outperforms all other tested algorithms</a:t>
                </a:r>
                <a:r>
                  <a:rPr lang="en-US" sz="1600" dirty="0"/>
                  <a:t>, including the CUDA-based implementations.</a:t>
                </a:r>
                <a:endParaRPr lang="it-IT" sz="1600"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0C4B41C-E9A6-4425-906F-C7EB1D1F7102}"/>
                  </a:ext>
                </a:extLst>
              </p:cNvPr>
              <p:cNvSpPr>
                <a:spLocks noGrp="1" noRot="1" noChangeAspect="1" noMove="1" noResize="1" noEditPoints="1" noAdjustHandles="1" noChangeArrowheads="1" noChangeShapeType="1" noTextEdit="1"/>
              </p:cNvSpPr>
              <p:nvPr>
                <p:ph idx="1"/>
              </p:nvPr>
            </p:nvSpPr>
            <p:spPr>
              <a:xfrm>
                <a:off x="4849270" y="1845734"/>
                <a:ext cx="6306410" cy="4023360"/>
              </a:xfrm>
              <a:blipFill>
                <a:blip r:embed="rId2"/>
                <a:stretch>
                  <a:fillRect l="-1932" t="-1061" r="-1449"/>
                </a:stretch>
              </a:blipFill>
            </p:spPr>
            <p:txBody>
              <a:bodyPr/>
              <a:lstStyle/>
              <a:p>
                <a:r>
                  <a:rPr lang="it-IT">
                    <a:noFill/>
                  </a:rPr>
                  <a:t> </a:t>
                </a:r>
              </a:p>
            </p:txBody>
          </p:sp>
        </mc:Fallback>
      </mc:AlternateContent>
      <p:pic>
        <p:nvPicPr>
          <p:cNvPr id="4" name="Picture 3">
            <a:extLst>
              <a:ext uri="{FF2B5EF4-FFF2-40B4-BE49-F238E27FC236}">
                <a16:creationId xmlns:a16="http://schemas.microsoft.com/office/drawing/2014/main" id="{ABCA1324-3A2B-4913-8776-3175C4B1F828}"/>
              </a:ext>
            </a:extLst>
          </p:cNvPr>
          <p:cNvPicPr>
            <a:picLocks noChangeAspect="1"/>
          </p:cNvPicPr>
          <p:nvPr/>
        </p:nvPicPr>
        <p:blipFill>
          <a:blip r:embed="rId3"/>
          <a:stretch>
            <a:fillRect/>
          </a:stretch>
        </p:blipFill>
        <p:spPr>
          <a:xfrm>
            <a:off x="153383" y="467261"/>
            <a:ext cx="4484564" cy="2787970"/>
          </a:xfrm>
          <a:prstGeom prst="rect">
            <a:avLst/>
          </a:prstGeom>
        </p:spPr>
      </p:pic>
      <p:pic>
        <p:nvPicPr>
          <p:cNvPr id="5" name="Picture 4">
            <a:extLst>
              <a:ext uri="{FF2B5EF4-FFF2-40B4-BE49-F238E27FC236}">
                <a16:creationId xmlns:a16="http://schemas.microsoft.com/office/drawing/2014/main" id="{6B5B5435-CCC1-4B3E-9B3E-8C174E74183C}"/>
              </a:ext>
            </a:extLst>
          </p:cNvPr>
          <p:cNvPicPr>
            <a:picLocks noChangeAspect="1"/>
          </p:cNvPicPr>
          <p:nvPr/>
        </p:nvPicPr>
        <p:blipFill>
          <a:blip r:embed="rId4"/>
          <a:stretch>
            <a:fillRect/>
          </a:stretch>
        </p:blipFill>
        <p:spPr>
          <a:xfrm>
            <a:off x="147483" y="3257402"/>
            <a:ext cx="4532043" cy="2827469"/>
          </a:xfrm>
          <a:prstGeom prst="rect">
            <a:avLst/>
          </a:prstGeom>
        </p:spPr>
      </p:pic>
    </p:spTree>
    <p:extLst>
      <p:ext uri="{BB962C8B-B14F-4D97-AF65-F5344CB8AC3E}">
        <p14:creationId xmlns:p14="http://schemas.microsoft.com/office/powerpoint/2010/main" val="11264819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3BC5-0B5E-4145-9AA3-AF55C5F634DB}"/>
              </a:ext>
            </a:extLst>
          </p:cNvPr>
          <p:cNvSpPr>
            <a:spLocks noGrp="1"/>
          </p:cNvSpPr>
          <p:nvPr>
            <p:ph type="title"/>
          </p:nvPr>
        </p:nvSpPr>
        <p:spPr>
          <a:xfrm>
            <a:off x="4754878" y="286603"/>
            <a:ext cx="6400801" cy="1450757"/>
          </a:xfrm>
        </p:spPr>
        <p:txBody>
          <a:bodyPr/>
          <a:lstStyle/>
          <a:p>
            <a:r>
              <a:rPr lang="it-IT" dirty="0"/>
              <a:t>CUDA </a:t>
            </a:r>
            <a:r>
              <a:rPr lang="it-IT" dirty="0" err="1"/>
              <a:t>Parallel</a:t>
            </a:r>
            <a:r>
              <a:rPr lang="it-IT" dirty="0"/>
              <a:t> Matrix </a:t>
            </a:r>
            <a:r>
              <a:rPr lang="it-IT" dirty="0" err="1"/>
              <a:t>Multiplication</a:t>
            </a:r>
            <a:r>
              <a:rPr lang="it-IT" dirty="0"/>
              <a:t> V1</a:t>
            </a:r>
          </a:p>
        </p:txBody>
      </p:sp>
      <p:sp>
        <p:nvSpPr>
          <p:cNvPr id="3" name="Content Placeholder 2">
            <a:extLst>
              <a:ext uri="{FF2B5EF4-FFF2-40B4-BE49-F238E27FC236}">
                <a16:creationId xmlns:a16="http://schemas.microsoft.com/office/drawing/2014/main" id="{A7F4EF09-2BC4-4F24-A76A-37689AF72D00}"/>
              </a:ext>
            </a:extLst>
          </p:cNvPr>
          <p:cNvSpPr>
            <a:spLocks noGrp="1"/>
          </p:cNvSpPr>
          <p:nvPr>
            <p:ph idx="1"/>
          </p:nvPr>
        </p:nvSpPr>
        <p:spPr>
          <a:xfrm>
            <a:off x="4754881" y="1845734"/>
            <a:ext cx="6400800" cy="4023360"/>
          </a:xfrm>
        </p:spPr>
        <p:txBody>
          <a:bodyPr>
            <a:normAutofit fontScale="85000" lnSpcReduction="10000"/>
          </a:bodyPr>
          <a:lstStyle/>
          <a:p>
            <a:r>
              <a:rPr lang="en-US" dirty="0"/>
              <a:t>The </a:t>
            </a:r>
            <a:r>
              <a:rPr lang="en-US" b="1" dirty="0"/>
              <a:t>CUDA Matrix Multiplication V1</a:t>
            </a:r>
            <a:r>
              <a:rPr lang="en-US" dirty="0"/>
              <a:t> algorithm implements a direct row-major strategy. In the </a:t>
            </a:r>
            <a:r>
              <a:rPr lang="en-US" b="1" dirty="0" err="1"/>
              <a:t>multiplyMatricesKernel</a:t>
            </a:r>
            <a:r>
              <a:rPr lang="en-US" dirty="0"/>
              <a:t>, each GPU thread computes a single element of the output matrix </a:t>
            </a:r>
            <a:r>
              <a:rPr lang="en-US" b="1" dirty="0"/>
              <a:t>C</a:t>
            </a:r>
            <a:r>
              <a:rPr lang="en-US" dirty="0"/>
              <a:t> by mapping its (row, col) indices from </a:t>
            </a:r>
            <a:r>
              <a:rPr lang="en-US" b="1" dirty="0" err="1"/>
              <a:t>blockIdx</a:t>
            </a:r>
            <a:r>
              <a:rPr lang="en-US" dirty="0"/>
              <a:t> and </a:t>
            </a:r>
            <a:r>
              <a:rPr lang="en-US" b="1" dirty="0" err="1"/>
              <a:t>threadIdx</a:t>
            </a:r>
            <a:r>
              <a:rPr lang="en-US" dirty="0"/>
              <a:t>. Each thread performs a dot product between one row of </a:t>
            </a:r>
            <a:r>
              <a:rPr lang="en-US" b="1" dirty="0"/>
              <a:t>A</a:t>
            </a:r>
            <a:r>
              <a:rPr lang="en-US" dirty="0"/>
              <a:t> and one column of </a:t>
            </a:r>
            <a:r>
              <a:rPr lang="en-US" b="1" dirty="0"/>
              <a:t>B</a:t>
            </a:r>
            <a:r>
              <a:rPr lang="en-US" dirty="0"/>
              <a:t>. The multiplication proceeds in the two phases previously explained. A separate </a:t>
            </a:r>
            <a:r>
              <a:rPr lang="en-US" b="1" dirty="0" err="1"/>
              <a:t>traceKernel</a:t>
            </a:r>
            <a:r>
              <a:rPr lang="en-US" dirty="0"/>
              <a:t> computes the trace of </a:t>
            </a:r>
            <a:r>
              <a:rPr lang="en-US" b="1" dirty="0"/>
              <a:t>A³</a:t>
            </a:r>
            <a:r>
              <a:rPr lang="en-US" dirty="0"/>
              <a:t> using </a:t>
            </a:r>
            <a:r>
              <a:rPr lang="en-US" b="1" dirty="0" err="1"/>
              <a:t>atomicAdd</a:t>
            </a:r>
            <a:r>
              <a:rPr lang="en-US" dirty="0"/>
              <a:t> for thread-safe accumulation. While conceptually simple, this approach incurs frequent global memory accesses, with </a:t>
            </a:r>
            <a:r>
              <a:rPr lang="en-US" b="1" dirty="0"/>
              <a:t>uncoalesced reads from B</a:t>
            </a:r>
            <a:r>
              <a:rPr lang="en-US" dirty="0"/>
              <a:t> limiting memory bandwidth efficiency.</a:t>
            </a:r>
          </a:p>
          <a:p>
            <a:r>
              <a:rPr lang="en-US" dirty="0"/>
              <a:t>Performance strongly depends on graph size. For a </a:t>
            </a:r>
            <a:r>
              <a:rPr lang="en-US" b="1" dirty="0"/>
              <a:t>100-node graph</a:t>
            </a:r>
            <a:r>
              <a:rPr lang="en-US" dirty="0"/>
              <a:t>, execution time increases with </a:t>
            </a:r>
            <a:r>
              <a:rPr lang="en-US" b="1" dirty="0"/>
              <a:t>BLOCK_SIZE</a:t>
            </a:r>
            <a:r>
              <a:rPr lang="en-US" dirty="0"/>
              <a:t>, as the overhead of large thread blocks dominates the minimal workload. In contrast, for a </a:t>
            </a:r>
            <a:r>
              <a:rPr lang="en-US" b="1" dirty="0"/>
              <a:t>10k-node graph</a:t>
            </a:r>
            <a:r>
              <a:rPr lang="en-US" dirty="0"/>
              <a:t>, performance improves as </a:t>
            </a:r>
            <a:r>
              <a:rPr lang="en-US" b="1" dirty="0"/>
              <a:t>BLOCK_SIZE</a:t>
            </a:r>
            <a:r>
              <a:rPr lang="en-US" dirty="0"/>
              <a:t> increases (up to 32), since larger blocks enable better </a:t>
            </a:r>
            <a:r>
              <a:rPr lang="en-US" b="1" dirty="0"/>
              <a:t>SM occupancy</a:t>
            </a:r>
            <a:r>
              <a:rPr lang="en-US" dirty="0"/>
              <a:t> and more effective latency hiding. This highlights the scalability limits of V1 for small workloads and its efficiency gains on larger graphs.</a:t>
            </a:r>
          </a:p>
          <a:p>
            <a:endParaRPr lang="it-IT" dirty="0"/>
          </a:p>
        </p:txBody>
      </p:sp>
      <p:pic>
        <p:nvPicPr>
          <p:cNvPr id="5" name="Picture 4">
            <a:extLst>
              <a:ext uri="{FF2B5EF4-FFF2-40B4-BE49-F238E27FC236}">
                <a16:creationId xmlns:a16="http://schemas.microsoft.com/office/drawing/2014/main" id="{EF1FFEA7-E1B3-46E4-BFC2-D1853F176E9D}"/>
              </a:ext>
            </a:extLst>
          </p:cNvPr>
          <p:cNvPicPr>
            <a:picLocks noChangeAspect="1"/>
          </p:cNvPicPr>
          <p:nvPr/>
        </p:nvPicPr>
        <p:blipFill>
          <a:blip r:embed="rId2"/>
          <a:stretch>
            <a:fillRect/>
          </a:stretch>
        </p:blipFill>
        <p:spPr>
          <a:xfrm>
            <a:off x="206478" y="451408"/>
            <a:ext cx="4496210" cy="2846593"/>
          </a:xfrm>
          <a:prstGeom prst="rect">
            <a:avLst/>
          </a:prstGeom>
        </p:spPr>
      </p:pic>
      <p:pic>
        <p:nvPicPr>
          <p:cNvPr id="6" name="Picture 5">
            <a:extLst>
              <a:ext uri="{FF2B5EF4-FFF2-40B4-BE49-F238E27FC236}">
                <a16:creationId xmlns:a16="http://schemas.microsoft.com/office/drawing/2014/main" id="{0CFFB1E4-F142-4223-9A70-28C8F9BC570A}"/>
              </a:ext>
            </a:extLst>
          </p:cNvPr>
          <p:cNvPicPr>
            <a:picLocks noChangeAspect="1"/>
          </p:cNvPicPr>
          <p:nvPr/>
        </p:nvPicPr>
        <p:blipFill>
          <a:blip r:embed="rId3"/>
          <a:stretch>
            <a:fillRect/>
          </a:stretch>
        </p:blipFill>
        <p:spPr>
          <a:xfrm>
            <a:off x="206477" y="3304031"/>
            <a:ext cx="4480784" cy="2838164"/>
          </a:xfrm>
          <a:prstGeom prst="rect">
            <a:avLst/>
          </a:prstGeom>
        </p:spPr>
      </p:pic>
    </p:spTree>
    <p:extLst>
      <p:ext uri="{BB962C8B-B14F-4D97-AF65-F5344CB8AC3E}">
        <p14:creationId xmlns:p14="http://schemas.microsoft.com/office/powerpoint/2010/main" val="34043389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BFA14-65F6-4C0F-8B9D-78965F3144DD}"/>
              </a:ext>
            </a:extLst>
          </p:cNvPr>
          <p:cNvSpPr>
            <a:spLocks noGrp="1"/>
          </p:cNvSpPr>
          <p:nvPr>
            <p:ph type="title"/>
          </p:nvPr>
        </p:nvSpPr>
        <p:spPr>
          <a:xfrm>
            <a:off x="4713584" y="286603"/>
            <a:ext cx="6442095" cy="1450757"/>
          </a:xfrm>
        </p:spPr>
        <p:txBody>
          <a:bodyPr/>
          <a:lstStyle/>
          <a:p>
            <a:r>
              <a:rPr lang="it-IT" dirty="0"/>
              <a:t>CUDA </a:t>
            </a:r>
            <a:r>
              <a:rPr lang="it-IT" dirty="0" err="1"/>
              <a:t>Parallel</a:t>
            </a:r>
            <a:r>
              <a:rPr lang="it-IT" dirty="0"/>
              <a:t> Matrix </a:t>
            </a:r>
            <a:r>
              <a:rPr lang="it-IT" dirty="0" err="1"/>
              <a:t>Multiplication</a:t>
            </a:r>
            <a:r>
              <a:rPr lang="it-IT" dirty="0"/>
              <a:t> V2</a:t>
            </a:r>
          </a:p>
        </p:txBody>
      </p:sp>
      <p:sp>
        <p:nvSpPr>
          <p:cNvPr id="3" name="Content Placeholder 2">
            <a:extLst>
              <a:ext uri="{FF2B5EF4-FFF2-40B4-BE49-F238E27FC236}">
                <a16:creationId xmlns:a16="http://schemas.microsoft.com/office/drawing/2014/main" id="{468B9D47-36C9-4C9D-894E-E22BAE2D2A47}"/>
              </a:ext>
            </a:extLst>
          </p:cNvPr>
          <p:cNvSpPr>
            <a:spLocks noGrp="1"/>
          </p:cNvSpPr>
          <p:nvPr>
            <p:ph idx="1"/>
          </p:nvPr>
        </p:nvSpPr>
        <p:spPr>
          <a:xfrm>
            <a:off x="4713585" y="1845734"/>
            <a:ext cx="6442094" cy="4023360"/>
          </a:xfrm>
        </p:spPr>
        <p:txBody>
          <a:bodyPr>
            <a:normAutofit fontScale="85000" lnSpcReduction="20000"/>
          </a:bodyPr>
          <a:lstStyle/>
          <a:p>
            <a:r>
              <a:rPr lang="en-US" dirty="0"/>
              <a:t>The </a:t>
            </a:r>
            <a:r>
              <a:rPr lang="en-US" b="1" dirty="0"/>
              <a:t>CUDA Matrix Multiplication V2</a:t>
            </a:r>
            <a:r>
              <a:rPr lang="en-US" dirty="0"/>
              <a:t> algorithm significantly improves performance by introducing a </a:t>
            </a:r>
            <a:r>
              <a:rPr lang="en-US" b="1" dirty="0"/>
              <a:t>tiled matrix multiplication</a:t>
            </a:r>
            <a:r>
              <a:rPr lang="en-US" dirty="0"/>
              <a:t> strategy that leverages </a:t>
            </a:r>
            <a:r>
              <a:rPr lang="en-US" b="1" dirty="0"/>
              <a:t>shared memory</a:t>
            </a:r>
            <a:r>
              <a:rPr lang="en-US" dirty="0"/>
              <a:t>. In the </a:t>
            </a:r>
            <a:r>
              <a:rPr lang="en-US" b="1" dirty="0" err="1"/>
              <a:t>multiplyMatricesSharedMemoryKernel</a:t>
            </a:r>
            <a:r>
              <a:rPr lang="en-US" dirty="0"/>
              <a:t>, matrices are partitioned into square tiles, with each thread block computing a sub-matrix of the output. Threads within a block cooperatively load tiles of </a:t>
            </a:r>
            <a:r>
              <a:rPr lang="en-US" b="1" dirty="0"/>
              <a:t>A</a:t>
            </a:r>
            <a:r>
              <a:rPr lang="en-US" dirty="0"/>
              <a:t> and </a:t>
            </a:r>
            <a:r>
              <a:rPr lang="en-US" b="1" dirty="0"/>
              <a:t>B</a:t>
            </a:r>
            <a:r>
              <a:rPr lang="en-US" dirty="0"/>
              <a:t> into shared memory (</a:t>
            </a:r>
            <a:r>
              <a:rPr lang="en-US" b="1" dirty="0" err="1"/>
              <a:t>s_A</a:t>
            </a:r>
            <a:r>
              <a:rPr lang="en-US" dirty="0"/>
              <a:t>, </a:t>
            </a:r>
            <a:r>
              <a:rPr lang="en-US" b="1" dirty="0" err="1"/>
              <a:t>s_B</a:t>
            </a:r>
            <a:r>
              <a:rPr lang="en-US" dirty="0"/>
              <a:t>) and synchronize with </a:t>
            </a:r>
            <a:r>
              <a:rPr lang="en-US" b="1" dirty="0"/>
              <a:t>__</a:t>
            </a:r>
            <a:r>
              <a:rPr lang="en-US" b="1" dirty="0" err="1"/>
              <a:t>syncthreads</a:t>
            </a:r>
            <a:r>
              <a:rPr lang="en-US" b="1" dirty="0"/>
              <a:t>()</a:t>
            </a:r>
            <a:r>
              <a:rPr lang="en-US" dirty="0"/>
              <a:t> before computation. Each output element is then computed from shared memory, reducing global memory traffic and improving data locality. The </a:t>
            </a:r>
            <a:r>
              <a:rPr lang="en-US" b="1" dirty="0"/>
              <a:t>TILE_SIZE</a:t>
            </a:r>
            <a:r>
              <a:rPr lang="en-US" dirty="0"/>
              <a:t> parameter defines the tile dimensions and block size. As in V1, the final trace of </a:t>
            </a:r>
            <a:r>
              <a:rPr lang="en-US" b="1" dirty="0"/>
              <a:t>A³</a:t>
            </a:r>
            <a:r>
              <a:rPr lang="en-US" dirty="0"/>
              <a:t> is computed by a dedicated </a:t>
            </a:r>
            <a:r>
              <a:rPr lang="en-US" b="1" dirty="0" err="1"/>
              <a:t>traceKernel</a:t>
            </a:r>
            <a:r>
              <a:rPr lang="en-US" dirty="0"/>
              <a:t>, with </a:t>
            </a:r>
            <a:r>
              <a:rPr lang="en-US" b="1" dirty="0"/>
              <a:t>TRACE_BLOCKSIZE</a:t>
            </a:r>
            <a:r>
              <a:rPr lang="en-US" dirty="0"/>
              <a:t> providing additional tuning for parallel execution.</a:t>
            </a:r>
          </a:p>
          <a:p>
            <a:r>
              <a:rPr lang="en-US" dirty="0"/>
              <a:t>Performance results show clear benefits of tiling. For a </a:t>
            </a:r>
            <a:r>
              <a:rPr lang="en-US" b="1" dirty="0"/>
              <a:t>100-node graph</a:t>
            </a:r>
            <a:r>
              <a:rPr lang="en-US" dirty="0"/>
              <a:t>, execution time drops sharply when </a:t>
            </a:r>
            <a:r>
              <a:rPr lang="en-US" b="1" dirty="0"/>
              <a:t>TILE_SIZE</a:t>
            </a:r>
            <a:r>
              <a:rPr lang="en-US" dirty="0"/>
              <a:t> increases from 8 to 16, then remains consistently low. This demonstrates that even small graphs benefit from reduced global memory usage and better data locality. For a </a:t>
            </a:r>
            <a:r>
              <a:rPr lang="en-US" b="1" dirty="0"/>
              <a:t>10k-node graph</a:t>
            </a:r>
            <a:r>
              <a:rPr lang="en-US" dirty="0"/>
              <a:t>, performance improves steadily with larger </a:t>
            </a:r>
            <a:r>
              <a:rPr lang="en-US" b="1" dirty="0"/>
              <a:t>TILE_SIZE</a:t>
            </a:r>
            <a:r>
              <a:rPr lang="en-US" dirty="0"/>
              <a:t>, achieving the lowest times at </a:t>
            </a:r>
            <a:r>
              <a:rPr lang="en-US" b="1" dirty="0"/>
              <a:t>TILE_SIZE = 32</a:t>
            </a:r>
            <a:r>
              <a:rPr lang="en-US" dirty="0"/>
              <a:t>. While </a:t>
            </a:r>
            <a:r>
              <a:rPr lang="en-US" b="1" dirty="0"/>
              <a:t>TILE_SIZE</a:t>
            </a:r>
            <a:r>
              <a:rPr lang="en-US" dirty="0"/>
              <a:t> is the dominant factor, tuning </a:t>
            </a:r>
            <a:r>
              <a:rPr lang="en-US" b="1" dirty="0"/>
              <a:t>TRACE_BLOCKSIZE</a:t>
            </a:r>
            <a:r>
              <a:rPr lang="en-US" dirty="0"/>
              <a:t> (best at 32) provides further optimization for the trace computation.</a:t>
            </a:r>
          </a:p>
          <a:p>
            <a:endParaRPr lang="it-IT" dirty="0"/>
          </a:p>
        </p:txBody>
      </p:sp>
      <p:pic>
        <p:nvPicPr>
          <p:cNvPr id="4" name="Picture 3">
            <a:extLst>
              <a:ext uri="{FF2B5EF4-FFF2-40B4-BE49-F238E27FC236}">
                <a16:creationId xmlns:a16="http://schemas.microsoft.com/office/drawing/2014/main" id="{9618BD25-105D-4886-BBF6-998F3603A1E5}"/>
              </a:ext>
            </a:extLst>
          </p:cNvPr>
          <p:cNvPicPr>
            <a:picLocks noChangeAspect="1"/>
          </p:cNvPicPr>
          <p:nvPr/>
        </p:nvPicPr>
        <p:blipFill>
          <a:blip r:embed="rId2"/>
          <a:stretch>
            <a:fillRect/>
          </a:stretch>
        </p:blipFill>
        <p:spPr>
          <a:xfrm>
            <a:off x="182880" y="522515"/>
            <a:ext cx="4530704" cy="2767504"/>
          </a:xfrm>
          <a:prstGeom prst="rect">
            <a:avLst/>
          </a:prstGeom>
        </p:spPr>
      </p:pic>
      <p:pic>
        <p:nvPicPr>
          <p:cNvPr id="5" name="Picture 4">
            <a:extLst>
              <a:ext uri="{FF2B5EF4-FFF2-40B4-BE49-F238E27FC236}">
                <a16:creationId xmlns:a16="http://schemas.microsoft.com/office/drawing/2014/main" id="{ADD684CF-E56C-4B5B-AE96-1695D61FB2F0}"/>
              </a:ext>
            </a:extLst>
          </p:cNvPr>
          <p:cNvPicPr>
            <a:picLocks noChangeAspect="1"/>
          </p:cNvPicPr>
          <p:nvPr/>
        </p:nvPicPr>
        <p:blipFill>
          <a:blip r:embed="rId3"/>
          <a:stretch>
            <a:fillRect/>
          </a:stretch>
        </p:blipFill>
        <p:spPr>
          <a:xfrm>
            <a:off x="318565" y="3290018"/>
            <a:ext cx="4341925" cy="2755817"/>
          </a:xfrm>
          <a:prstGeom prst="rect">
            <a:avLst/>
          </a:prstGeom>
        </p:spPr>
      </p:pic>
    </p:spTree>
    <p:extLst>
      <p:ext uri="{BB962C8B-B14F-4D97-AF65-F5344CB8AC3E}">
        <p14:creationId xmlns:p14="http://schemas.microsoft.com/office/powerpoint/2010/main" val="4063111365"/>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426</TotalTime>
  <Words>3427</Words>
  <Application>Microsoft Office PowerPoint</Application>
  <PresentationFormat>Widescreen</PresentationFormat>
  <Paragraphs>82</Paragraphs>
  <Slides>26</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Calibri</vt:lpstr>
      <vt:lpstr>Calibri Light</vt:lpstr>
      <vt:lpstr>Cambria Math</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vt:lpstr>
      <vt:lpstr>CUDA Parallel Forward Edge Iterator V2_1</vt:lpstr>
      <vt:lpstr>CUDA Parallel Forward Edge Iterator V2_2</vt:lpstr>
      <vt:lpstr>CUDA Parallel Forward Edge Iterator V3</vt:lpstr>
      <vt:lpstr>CUDA Parallel Edge V3: final comparison</vt:lpstr>
      <vt:lpstr>Matrix Multiplication Algorithm</vt:lpstr>
      <vt:lpstr>Parallel (C++) Matrix Multiplication</vt:lpstr>
      <vt:lpstr>CUDA Parallel Matrix Multiplication V1</vt:lpstr>
      <vt:lpstr>CUDA Parallel Matrix Multiplication V2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creator>Revalor, Riccardo</dc:creator>
  <cp:lastModifiedBy>Revalor, Riccardo</cp:lastModifiedBy>
  <cp:revision>55</cp:revision>
  <dcterms:created xsi:type="dcterms:W3CDTF">2025-09-02T16:39:16Z</dcterms:created>
  <dcterms:modified xsi:type="dcterms:W3CDTF">2025-09-04T22:22:38Z</dcterms:modified>
</cp:coreProperties>
</file>