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media/image29.png" ContentType="image/png"/>
  <Override PartName="/ppt/media/image28.png" ContentType="image/png"/>
  <Override PartName="/ppt/media/image27.png" ContentType="image/png"/>
  <Override PartName="/ppt/media/image26.png" ContentType="image/png"/>
  <Override PartName="/ppt/media/image25.png" ContentType="image/png"/>
  <Override PartName="/ppt/media/image24.png" ContentType="image/png"/>
  <Override PartName="/ppt/media/image23.png" ContentType="image/png"/>
  <Override PartName="/ppt/media/image18.png" ContentType="image/png"/>
  <Override PartName="/ppt/media/image9.png" ContentType="image/png"/>
  <Override PartName="/ppt/media/image20.png" ContentType="image/png"/>
  <Override PartName="/ppt/media/image12.png" ContentType="image/png"/>
  <Override PartName="/ppt/media/image35.png" ContentType="image/png"/>
  <Override PartName="/ppt/media/image3.png" ContentType="image/png"/>
  <Override PartName="/ppt/media/image13.png" ContentType="image/png"/>
  <Override PartName="/ppt/media/image36.png" ContentType="image/png"/>
  <Override PartName="/ppt/media/image4.png" ContentType="image/png"/>
  <Override PartName="/ppt/media/image30.png" ContentType="image/png"/>
  <Override PartName="/ppt/media/image31.png" ContentType="image/png"/>
  <Override PartName="/ppt/media/image32.png" ContentType="image/png"/>
  <Override PartName="/ppt/media/image33.png" ContentType="image/png"/>
  <Override PartName="/ppt/media/image8.png" ContentType="image/png"/>
  <Override PartName="/ppt/media/image17.png" ContentType="image/png"/>
  <Override PartName="/ppt/media/image11.png" ContentType="image/png"/>
  <Override PartName="/ppt/media/image2.png" ContentType="image/png"/>
  <Override PartName="/ppt/media/image34.png" ContentType="image/png"/>
  <Override PartName="/ppt/media/image7.png" ContentType="image/png"/>
  <Override PartName="/ppt/media/image16.png" ContentType="image/png"/>
  <Override PartName="/ppt/media/image5.png" ContentType="image/png"/>
  <Override PartName="/ppt/media/image14.png" ContentType="image/png"/>
  <Override PartName="/ppt/media/image6.png" ContentType="image/png"/>
  <Override PartName="/ppt/media/image15.png" ContentType="image/png"/>
  <Override PartName="/ppt/media/image1.jpeg" ContentType="image/jpeg"/>
  <Override PartName="/ppt/media/image10.png" ContentType="image/png"/>
  <Override PartName="/ppt/media/image19.png" ContentType="image/png"/>
  <Override PartName="/ppt/media/image21.png" ContentType="image/png"/>
  <Override PartName="/ppt/media/image22.png" ContentType="image/png"/>
  <Override PartName="/ppt/slides/_rels/slide5.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11" name="PlaceHolder 1"/>
          <p:cNvSpPr>
            <a:spLocks noGrp="1"/>
          </p:cNvSpPr>
          <p:nvPr>
            <p:ph type="title"/>
          </p:nvPr>
        </p:nvSpPr>
        <p:spPr>
          <a:xfrm>
            <a:off x="1097280" y="286560"/>
            <a:ext cx="10058040" cy="145044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12" name="PlaceHolder 2"/>
          <p:cNvSpPr>
            <a:spLocks noGrp="1"/>
          </p:cNvSpPr>
          <p:nvPr>
            <p:ph type="subTitle"/>
          </p:nvPr>
        </p:nvSpPr>
        <p:spPr>
          <a:xfrm>
            <a:off x="1097280" y="1845720"/>
            <a:ext cx="10058040" cy="402300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FF861826-9496-419E-8D7C-D04E34E20D99}"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CDB2A3C8-3C33-4646-9CCE-3DBF44363AF1}"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AE30D1C9-8360-4EAD-BC34-2CAA21227A51}"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39" name="PlaceHolder 1"/>
          <p:cNvSpPr>
            <a:spLocks noGrp="1"/>
          </p:cNvSpPr>
          <p:nvPr>
            <p:ph type="title"/>
          </p:nvPr>
        </p:nvSpPr>
        <p:spPr>
          <a:xfrm>
            <a:off x="1097280" y="286560"/>
            <a:ext cx="10058040" cy="145044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40" name="PlaceHolder 2"/>
          <p:cNvSpPr>
            <a:spLocks noGrp="1"/>
          </p:cNvSpPr>
          <p:nvPr>
            <p:ph/>
          </p:nvPr>
        </p:nvSpPr>
        <p:spPr>
          <a:xfrm>
            <a:off x="1097280" y="1845720"/>
            <a:ext cx="10058040" cy="4023000"/>
          </a:xfrm>
          <a:prstGeom prst="rect">
            <a:avLst/>
          </a:prstGeom>
          <a:noFill/>
          <a:ln w="0">
            <a:noFill/>
          </a:ln>
        </p:spPr>
        <p:txBody>
          <a:bodyPr lIns="0" rIns="0" tIns="0" bIns="0" anchor="t">
            <a:normAutofit/>
          </a:bodyPr>
          <a:p>
            <a:pPr indent="0">
              <a:lnSpc>
                <a:spcPct val="90000"/>
              </a:lnSpc>
              <a:spcBef>
                <a:spcPts val="1417"/>
              </a:spcBef>
              <a:buNone/>
            </a:pPr>
            <a:endParaRPr b="0" lang="en-US" sz="2000" spc="-1" strike="noStrike">
              <a:solidFill>
                <a:schemeClr val="dk1">
                  <a:lumMod val="75000"/>
                  <a:lumOff val="25000"/>
                </a:schemeClr>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88D1D7D0-1B0F-4CD2-B552-C1B4DB3A857A}"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0951A492-4129-40A0-AE4D-98BACB84C469}"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1097280" y="286560"/>
            <a:ext cx="10058040" cy="145044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62" name="PlaceHolder 2"/>
          <p:cNvSpPr>
            <a:spLocks noGrp="1"/>
          </p:cNvSpPr>
          <p:nvPr>
            <p:ph/>
          </p:nvPr>
        </p:nvSpPr>
        <p:spPr>
          <a:xfrm>
            <a:off x="1097280" y="1845720"/>
            <a:ext cx="4908240" cy="4023000"/>
          </a:xfrm>
          <a:prstGeom prst="rect">
            <a:avLst/>
          </a:prstGeom>
          <a:noFill/>
          <a:ln w="0">
            <a:noFill/>
          </a:ln>
        </p:spPr>
        <p:txBody>
          <a:bodyPr lIns="0" rIns="0" tIns="0" bIns="0" anchor="t">
            <a:normAutofit/>
          </a:bodyPr>
          <a:p>
            <a:pPr indent="0">
              <a:lnSpc>
                <a:spcPct val="90000"/>
              </a:lnSpc>
              <a:spcBef>
                <a:spcPts val="1417"/>
              </a:spcBef>
              <a:buNone/>
            </a:pPr>
            <a:endParaRPr b="0" lang="en-US" sz="2000" spc="-1" strike="noStrike">
              <a:solidFill>
                <a:schemeClr val="dk1">
                  <a:lumMod val="75000"/>
                  <a:lumOff val="25000"/>
                </a:schemeClr>
              </a:solidFill>
              <a:latin typeface="Calibri"/>
            </a:endParaRPr>
          </a:p>
        </p:txBody>
      </p:sp>
      <p:sp>
        <p:nvSpPr>
          <p:cNvPr id="63" name="PlaceHolder 3"/>
          <p:cNvSpPr>
            <a:spLocks noGrp="1"/>
          </p:cNvSpPr>
          <p:nvPr>
            <p:ph/>
          </p:nvPr>
        </p:nvSpPr>
        <p:spPr>
          <a:xfrm>
            <a:off x="6251400" y="1845720"/>
            <a:ext cx="4908240" cy="4023000"/>
          </a:xfrm>
          <a:prstGeom prst="rect">
            <a:avLst/>
          </a:prstGeom>
          <a:noFill/>
          <a:ln w="0">
            <a:noFill/>
          </a:ln>
        </p:spPr>
        <p:txBody>
          <a:bodyPr lIns="0" rIns="0" tIns="0" bIns="0" anchor="t">
            <a:normAutofit/>
          </a:bodyPr>
          <a:p>
            <a:pPr indent="0">
              <a:lnSpc>
                <a:spcPct val="90000"/>
              </a:lnSpc>
              <a:spcBef>
                <a:spcPts val="1417"/>
              </a:spcBef>
              <a:buNone/>
            </a:pPr>
            <a:endParaRPr b="0" lang="en-US" sz="2000" spc="-1" strike="noStrike">
              <a:solidFill>
                <a:schemeClr val="dk1">
                  <a:lumMod val="75000"/>
                  <a:lumOff val="25000"/>
                </a:schemeClr>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409A6D59-885B-4306-A601-28AD730F02C2}"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3892ABF4-0CB2-4218-98A7-F656DD6AB0F6}"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82" name="PlaceHolder 1"/>
          <p:cNvSpPr>
            <a:spLocks noGrp="1"/>
          </p:cNvSpPr>
          <p:nvPr>
            <p:ph type="title"/>
          </p:nvPr>
        </p:nvSpPr>
        <p:spPr>
          <a:xfrm>
            <a:off x="1097280" y="286560"/>
            <a:ext cx="10058040" cy="145044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173DDFB5-9BCB-422B-BB78-6E610C6516F0}"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A63A9EAF-9A17-48F1-8EAF-0CA0E42C7276}"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32D9F861-969F-42B6-A8D8-71F5EE5C487A}"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FF721C87-601F-4141-9575-6E2D5C22424D}"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jpeg"/><Relationship Id="rId3"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1"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2"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4"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t">
            <a:noAutofit/>
          </a:bodyPr>
          <a:p>
            <a:endParaRPr b="0" lang="en-US" sz="1800" spc="-1" strike="noStrike">
              <a:solidFill>
                <a:srgbClr val="ffffff"/>
              </a:solidFill>
              <a:latin typeface="Arial"/>
            </a:endParaRPr>
          </a:p>
        </p:txBody>
      </p:sp>
      <p:sp>
        <p:nvSpPr>
          <p:cNvPr id="5" name="PlaceHolder 1"/>
          <p:cNvSpPr>
            <a:spLocks noGrp="1"/>
          </p:cNvSpPr>
          <p:nvPr>
            <p:ph type="title"/>
          </p:nvPr>
        </p:nvSpPr>
        <p:spPr>
          <a:xfrm>
            <a:off x="1097280" y="758880"/>
            <a:ext cx="10058040" cy="3565800"/>
          </a:xfrm>
          <a:prstGeom prst="rect">
            <a:avLst/>
          </a:prstGeom>
          <a:noFill/>
          <a:ln w="0">
            <a:noFill/>
          </a:ln>
        </p:spPr>
        <p:txBody>
          <a:bodyPr lIns="91440" rIns="91440" tIns="45720" bIns="45720" anchor="b">
            <a:normAutofit/>
          </a:bodyPr>
          <a:p>
            <a:pPr indent="0" defTabSz="914400">
              <a:lnSpc>
                <a:spcPct val="85000"/>
              </a:lnSpc>
              <a:buNone/>
            </a:pPr>
            <a:r>
              <a:rPr b="0" lang="en-US" sz="8000" spc="-52" strike="noStrike">
                <a:solidFill>
                  <a:schemeClr val="dk1">
                    <a:lumMod val="85000"/>
                    <a:lumOff val="15000"/>
                  </a:schemeClr>
                </a:solidFill>
                <a:latin typeface="Calibri Light"/>
              </a:rPr>
              <a:t>Click to edit Master title style</a:t>
            </a:r>
            <a:endParaRPr b="0" lang="en-US" sz="8000" spc="-1" strike="noStrike">
              <a:solidFill>
                <a:schemeClr val="dk1"/>
              </a:solidFill>
              <a:latin typeface="Calibri"/>
            </a:endParaRPr>
          </a:p>
        </p:txBody>
      </p:sp>
      <p:sp>
        <p:nvSpPr>
          <p:cNvPr id="6" name="PlaceHolder 2"/>
          <p:cNvSpPr>
            <a:spLocks noGrp="1"/>
          </p:cNvSpPr>
          <p:nvPr>
            <p:ph type="dt" idx="1"/>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7" name="PlaceHolder 3"/>
          <p:cNvSpPr>
            <a:spLocks noGrp="1"/>
          </p:cNvSpPr>
          <p:nvPr>
            <p:ph type="ftr" idx="2"/>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 name="PlaceHolder 4"/>
          <p:cNvSpPr>
            <a:spLocks noGrp="1"/>
          </p:cNvSpPr>
          <p:nvPr>
            <p:ph type="sldNum" idx="3"/>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CE652E19-DD58-4FAC-A35F-BEF8576A4A66}"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cxnSp>
        <p:nvCxnSpPr>
          <p:cNvPr id="9"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
        <p:nvSpPr>
          <p:cNvPr id="10"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000" spc="-1" strike="noStrike">
                <a:solidFill>
                  <a:schemeClr val="dk1">
                    <a:lumMod val="75000"/>
                    <a:lumOff val="25000"/>
                  </a:schemeClr>
                </a:solidFill>
                <a:latin typeface="Calibri"/>
              </a:rPr>
              <a:t>Click to edit the outline text format</a:t>
            </a:r>
            <a:endParaRPr b="0" lang="en-US" sz="2000" spc="-1" strike="noStrike">
              <a:solidFill>
                <a:schemeClr val="dk1">
                  <a:lumMod val="75000"/>
                  <a:lumOff val="25000"/>
                </a:schemeClr>
              </a:solidFill>
              <a:latin typeface="Calibri"/>
            </a:endParaRPr>
          </a:p>
          <a:p>
            <a:pPr lvl="1" marL="864000" indent="-324000">
              <a:lnSpc>
                <a:spcPct val="90000"/>
              </a:lnSpc>
              <a:spcBef>
                <a:spcPts val="1134"/>
              </a:spcBef>
              <a:buClr>
                <a:srgbClr val="000000"/>
              </a:buClr>
              <a:buSzPct val="75000"/>
              <a:buFont typeface="Symbol" charset="2"/>
              <a:buChar char=""/>
            </a:pPr>
            <a:r>
              <a:rPr b="0" lang="en-US" sz="1400" spc="-1" strike="noStrike">
                <a:solidFill>
                  <a:schemeClr val="dk1">
                    <a:lumMod val="75000"/>
                    <a:lumOff val="25000"/>
                  </a:schemeClr>
                </a:solidFill>
                <a:latin typeface="Calibri"/>
              </a:rPr>
              <a:t>Second Outline Level</a:t>
            </a:r>
            <a:endParaRPr b="0" lang="en-US" sz="1400" spc="-1" strike="noStrike">
              <a:solidFill>
                <a:schemeClr val="dk1">
                  <a:lumMod val="75000"/>
                  <a:lumOff val="25000"/>
                </a:schemeClr>
              </a:solidFill>
              <a:latin typeface="Calibri"/>
            </a:endParaRPr>
          </a:p>
          <a:p>
            <a:pPr lvl="2" marL="1296000" indent="-288000">
              <a:lnSpc>
                <a:spcPct val="90000"/>
              </a:lnSpc>
              <a:spcBef>
                <a:spcPts val="850"/>
              </a:spcBef>
              <a:buClr>
                <a:srgbClr val="000000"/>
              </a:buClr>
              <a:buSzPct val="45000"/>
              <a:buFont typeface="Wingdings" charset="2"/>
              <a:buChar char=""/>
            </a:pPr>
            <a:r>
              <a:rPr b="0" lang="en-US" sz="1400" spc="-1" strike="noStrike">
                <a:solidFill>
                  <a:schemeClr val="dk1">
                    <a:lumMod val="75000"/>
                    <a:lumOff val="25000"/>
                  </a:schemeClr>
                </a:solidFill>
                <a:latin typeface="Calibri"/>
              </a:rPr>
              <a:t>Third Outline Level</a:t>
            </a:r>
            <a:endParaRPr b="0" lang="en-US" sz="1400" spc="-1" strike="noStrike">
              <a:solidFill>
                <a:schemeClr val="dk1">
                  <a:lumMod val="75000"/>
                  <a:lumOff val="25000"/>
                </a:schemeClr>
              </a:solidFill>
              <a:latin typeface="Calibri"/>
            </a:endParaRPr>
          </a:p>
          <a:p>
            <a:pPr lvl="3" marL="1728000" indent="-216000">
              <a:lnSpc>
                <a:spcPct val="90000"/>
              </a:lnSpc>
              <a:spcBef>
                <a:spcPts val="567"/>
              </a:spcBef>
              <a:buClr>
                <a:srgbClr val="000000"/>
              </a:buClr>
              <a:buSzPct val="75000"/>
              <a:buFont typeface="Symbol" charset="2"/>
              <a:buChar char=""/>
            </a:pPr>
            <a:r>
              <a:rPr b="0" lang="en-US" sz="1400" spc="-1" strike="noStrike">
                <a:solidFill>
                  <a:schemeClr val="dk1">
                    <a:lumMod val="75000"/>
                    <a:lumOff val="25000"/>
                  </a:schemeClr>
                </a:solidFill>
                <a:latin typeface="Calibri"/>
              </a:rPr>
              <a:t>Fourth Outline Level</a:t>
            </a:r>
            <a:endParaRPr b="0" lang="en-US" sz="1400" spc="-1" strike="noStrike">
              <a:solidFill>
                <a:schemeClr val="dk1">
                  <a:lumMod val="75000"/>
                  <a:lumOff val="25000"/>
                </a:schemeClr>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lumMod val="75000"/>
                    <a:lumOff val="25000"/>
                  </a:schemeClr>
                </a:solidFill>
                <a:latin typeface="Calibri"/>
              </a:rPr>
              <a:t>Fifth Outline Level</a:t>
            </a:r>
            <a:endParaRPr b="0" lang="en-US" sz="2000" spc="-1" strike="noStrike">
              <a:solidFill>
                <a:schemeClr val="dk1">
                  <a:lumMod val="75000"/>
                  <a:lumOff val="25000"/>
                </a:schemeClr>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lumMod val="75000"/>
                    <a:lumOff val="25000"/>
                  </a:schemeClr>
                </a:solidFill>
                <a:latin typeface="Calibri"/>
              </a:rPr>
              <a:t>Sixth Outline Level</a:t>
            </a:r>
            <a:endParaRPr b="0" lang="en-US" sz="2000" spc="-1" strike="noStrike">
              <a:solidFill>
                <a:schemeClr val="dk1">
                  <a:lumMod val="75000"/>
                  <a:lumOff val="25000"/>
                </a:schemeClr>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lumMod val="75000"/>
                    <a:lumOff val="25000"/>
                  </a:schemeClr>
                </a:solidFill>
                <a:latin typeface="Calibri"/>
              </a:rPr>
              <a:t>Seventh Outline Level</a:t>
            </a:r>
            <a:endParaRPr b="0" lang="en-US" sz="2000" spc="-1" strike="noStrike">
              <a:solidFill>
                <a:schemeClr val="dk1">
                  <a:lumMod val="75000"/>
                  <a:lumOff val="25000"/>
                </a:schemeClr>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14"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1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6"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en-US" sz="4800" spc="-52" strike="noStrike">
                <a:solidFill>
                  <a:schemeClr val="dk1">
                    <a:lumMod val="75000"/>
                    <a:lumOff val="25000"/>
                  </a:schemeClr>
                </a:solidFill>
                <a:latin typeface="Calibri Light"/>
              </a:rPr>
              <a:t>Click to edit Master title style</a:t>
            </a:r>
            <a:endParaRPr b="0" lang="en-US" sz="4800" spc="-1" strike="noStrike">
              <a:solidFill>
                <a:schemeClr val="dk1"/>
              </a:solidFill>
              <a:latin typeface="Calibri"/>
            </a:endParaRPr>
          </a:p>
        </p:txBody>
      </p:sp>
      <p:sp>
        <p:nvSpPr>
          <p:cNvPr id="17" name="PlaceHolder 2"/>
          <p:cNvSpPr>
            <a:spLocks noGrp="1"/>
          </p:cNvSpPr>
          <p:nvPr>
            <p:ph type="body"/>
          </p:nvPr>
        </p:nvSpPr>
        <p:spPr>
          <a:xfrm>
            <a:off x="1097280" y="1845720"/>
            <a:ext cx="10058040" cy="4023000"/>
          </a:xfrm>
          <a:prstGeom prst="rect">
            <a:avLst/>
          </a:prstGeom>
          <a:noFill/>
          <a:ln w="0">
            <a:noFill/>
          </a:ln>
        </p:spPr>
        <p:txBody>
          <a:bodyPr lIns="45720" rIns="45720" tIns="0" bIns="0" anchor="t" vert="eaVert">
            <a:no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Click to edit Master text styles</a:t>
            </a:r>
            <a:endParaRPr b="0" lang="en-US" sz="2000" spc="-1" strike="noStrike">
              <a:solidFill>
                <a:schemeClr val="dk1">
                  <a:lumMod val="75000"/>
                  <a:lumOff val="25000"/>
                </a:schemeClr>
              </a:solidFill>
              <a:latin typeface="Calibri"/>
            </a:endParaRPr>
          </a:p>
          <a:p>
            <a:pPr lvl="1" marL="384120" indent="-182880" defTabSz="914400">
              <a:lnSpc>
                <a:spcPct val="90000"/>
              </a:lnSpc>
              <a:spcBef>
                <a:spcPts val="201"/>
              </a:spcBef>
              <a:spcAft>
                <a:spcPts val="400"/>
              </a:spcAft>
              <a:buClr>
                <a:srgbClr val="e48312"/>
              </a:buClr>
              <a:buFont typeface="Calibri"/>
              <a:buChar char="◦"/>
            </a:pPr>
            <a:r>
              <a:rPr b="0" lang="en-US" sz="1800" spc="-1" strike="noStrike">
                <a:solidFill>
                  <a:schemeClr val="dk1">
                    <a:lumMod val="75000"/>
                    <a:lumOff val="25000"/>
                  </a:schemeClr>
                </a:solidFill>
                <a:latin typeface="Calibri"/>
              </a:rPr>
              <a:t>Second level</a:t>
            </a:r>
            <a:endParaRPr b="0" lang="en-US" sz="1800" spc="-1" strike="noStrike">
              <a:solidFill>
                <a:schemeClr val="dk1">
                  <a:lumMod val="75000"/>
                  <a:lumOff val="25000"/>
                </a:schemeClr>
              </a:solidFill>
              <a:latin typeface="Calibri"/>
            </a:endParaRPr>
          </a:p>
          <a:p>
            <a:pPr lvl="2" marL="56700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Third level</a:t>
            </a:r>
            <a:endParaRPr b="0" lang="en-US" sz="1400" spc="-1" strike="noStrike">
              <a:solidFill>
                <a:schemeClr val="dk1">
                  <a:lumMod val="75000"/>
                  <a:lumOff val="25000"/>
                </a:schemeClr>
              </a:solidFill>
              <a:latin typeface="Calibri"/>
            </a:endParaRPr>
          </a:p>
          <a:p>
            <a:pPr lvl="3" marL="74988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Fourth level</a:t>
            </a:r>
            <a:endParaRPr b="0" lang="en-US" sz="1400" spc="-1" strike="noStrike">
              <a:solidFill>
                <a:schemeClr val="dk1">
                  <a:lumMod val="75000"/>
                  <a:lumOff val="25000"/>
                </a:schemeClr>
              </a:solidFill>
              <a:latin typeface="Calibri"/>
            </a:endParaRPr>
          </a:p>
          <a:p>
            <a:pPr lvl="4" marL="93276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Fifth level</a:t>
            </a:r>
            <a:endParaRPr b="0" lang="en-US" sz="1400" spc="-1" strike="noStrike">
              <a:solidFill>
                <a:schemeClr val="dk1">
                  <a:lumMod val="75000"/>
                  <a:lumOff val="25000"/>
                </a:schemeClr>
              </a:solidFill>
              <a:latin typeface="Calibri"/>
            </a:endParaRPr>
          </a:p>
        </p:txBody>
      </p:sp>
      <p:sp>
        <p:nvSpPr>
          <p:cNvPr id="18" name="PlaceHolder 3"/>
          <p:cNvSpPr>
            <a:spLocks noGrp="1"/>
          </p:cNvSpPr>
          <p:nvPr>
            <p:ph type="dt" idx="4"/>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19" name="PlaceHolder 4"/>
          <p:cNvSpPr>
            <a:spLocks noGrp="1"/>
          </p:cNvSpPr>
          <p:nvPr>
            <p:ph type="ftr" idx="5"/>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6"/>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6C24163B-DF60-49A7-8C1E-5A93C425330F}"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2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2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2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2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t">
            <a:noAutofit/>
          </a:bodyPr>
          <a:p>
            <a:endParaRPr b="0" lang="en-US" sz="1800" spc="-1" strike="noStrike">
              <a:solidFill>
                <a:srgbClr val="ffffff"/>
              </a:solidFill>
              <a:latin typeface="Arial"/>
            </a:endParaRPr>
          </a:p>
        </p:txBody>
      </p:sp>
      <p:sp>
        <p:nvSpPr>
          <p:cNvPr id="26" name="PlaceHolder 1"/>
          <p:cNvSpPr>
            <a:spLocks noGrp="1"/>
          </p:cNvSpPr>
          <p:nvPr>
            <p:ph type="title"/>
          </p:nvPr>
        </p:nvSpPr>
        <p:spPr>
          <a:xfrm>
            <a:off x="8724960" y="414720"/>
            <a:ext cx="2628720" cy="5757120"/>
          </a:xfrm>
          <a:prstGeom prst="rect">
            <a:avLst/>
          </a:prstGeom>
          <a:noFill/>
          <a:ln w="0">
            <a:noFill/>
          </a:ln>
        </p:spPr>
        <p:txBody>
          <a:bodyPr lIns="91440" rIns="91440" tIns="45720" bIns="45720" anchor="b" vert="eaVert">
            <a:noAutofit/>
          </a:bodyPr>
          <a:p>
            <a:pPr indent="0" defTabSz="914400">
              <a:lnSpc>
                <a:spcPct val="85000"/>
              </a:lnSpc>
              <a:buNone/>
            </a:pPr>
            <a:r>
              <a:rPr b="0" lang="en-US" sz="4800" spc="-52" strike="noStrike">
                <a:solidFill>
                  <a:schemeClr val="dk1">
                    <a:lumMod val="75000"/>
                    <a:lumOff val="25000"/>
                  </a:schemeClr>
                </a:solidFill>
                <a:latin typeface="Calibri Light"/>
              </a:rPr>
              <a:t>Click to edit Master title style</a:t>
            </a:r>
            <a:endParaRPr b="0" lang="en-US" sz="4800" spc="-1" strike="noStrike">
              <a:solidFill>
                <a:schemeClr val="dk1"/>
              </a:solidFill>
              <a:latin typeface="Calibri"/>
            </a:endParaRPr>
          </a:p>
        </p:txBody>
      </p:sp>
      <p:sp>
        <p:nvSpPr>
          <p:cNvPr id="27" name="PlaceHolder 2"/>
          <p:cNvSpPr>
            <a:spLocks noGrp="1"/>
          </p:cNvSpPr>
          <p:nvPr>
            <p:ph type="body"/>
          </p:nvPr>
        </p:nvSpPr>
        <p:spPr>
          <a:xfrm>
            <a:off x="838080" y="414720"/>
            <a:ext cx="7733880" cy="5757120"/>
          </a:xfrm>
          <a:prstGeom prst="rect">
            <a:avLst/>
          </a:prstGeom>
          <a:noFill/>
          <a:ln w="0">
            <a:noFill/>
          </a:ln>
        </p:spPr>
        <p:txBody>
          <a:bodyPr lIns="45720" rIns="45720" tIns="0" bIns="0" anchor="t" vert="eaVert">
            <a:no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Click to edit Master text styles</a:t>
            </a:r>
            <a:endParaRPr b="0" lang="en-US" sz="2000" spc="-1" strike="noStrike">
              <a:solidFill>
                <a:schemeClr val="dk1">
                  <a:lumMod val="75000"/>
                  <a:lumOff val="25000"/>
                </a:schemeClr>
              </a:solidFill>
              <a:latin typeface="Calibri"/>
            </a:endParaRPr>
          </a:p>
          <a:p>
            <a:pPr lvl="1" marL="384120" indent="-182880" defTabSz="914400">
              <a:lnSpc>
                <a:spcPct val="90000"/>
              </a:lnSpc>
              <a:spcBef>
                <a:spcPts val="201"/>
              </a:spcBef>
              <a:spcAft>
                <a:spcPts val="400"/>
              </a:spcAft>
              <a:buClr>
                <a:srgbClr val="e48312"/>
              </a:buClr>
              <a:buFont typeface="Calibri"/>
              <a:buChar char="◦"/>
            </a:pPr>
            <a:r>
              <a:rPr b="0" lang="en-US" sz="1800" spc="-1" strike="noStrike">
                <a:solidFill>
                  <a:schemeClr val="dk1">
                    <a:lumMod val="75000"/>
                    <a:lumOff val="25000"/>
                  </a:schemeClr>
                </a:solidFill>
                <a:latin typeface="Calibri"/>
              </a:rPr>
              <a:t>Second level</a:t>
            </a:r>
            <a:endParaRPr b="0" lang="en-US" sz="1800" spc="-1" strike="noStrike">
              <a:solidFill>
                <a:schemeClr val="dk1">
                  <a:lumMod val="75000"/>
                  <a:lumOff val="25000"/>
                </a:schemeClr>
              </a:solidFill>
              <a:latin typeface="Calibri"/>
            </a:endParaRPr>
          </a:p>
          <a:p>
            <a:pPr lvl="2" marL="56700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Third level</a:t>
            </a:r>
            <a:endParaRPr b="0" lang="en-US" sz="1400" spc="-1" strike="noStrike">
              <a:solidFill>
                <a:schemeClr val="dk1">
                  <a:lumMod val="75000"/>
                  <a:lumOff val="25000"/>
                </a:schemeClr>
              </a:solidFill>
              <a:latin typeface="Calibri"/>
            </a:endParaRPr>
          </a:p>
          <a:p>
            <a:pPr lvl="3" marL="74988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Fourth level</a:t>
            </a:r>
            <a:endParaRPr b="0" lang="en-US" sz="1400" spc="-1" strike="noStrike">
              <a:solidFill>
                <a:schemeClr val="dk1">
                  <a:lumMod val="75000"/>
                  <a:lumOff val="25000"/>
                </a:schemeClr>
              </a:solidFill>
              <a:latin typeface="Calibri"/>
            </a:endParaRPr>
          </a:p>
          <a:p>
            <a:pPr lvl="4" marL="93276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Fifth level</a:t>
            </a:r>
            <a:endParaRPr b="0" lang="en-US" sz="1400" spc="-1" strike="noStrike">
              <a:solidFill>
                <a:schemeClr val="dk1">
                  <a:lumMod val="75000"/>
                  <a:lumOff val="25000"/>
                </a:schemeClr>
              </a:solidFill>
              <a:latin typeface="Calibri"/>
            </a:endParaRPr>
          </a:p>
        </p:txBody>
      </p:sp>
      <p:sp>
        <p:nvSpPr>
          <p:cNvPr id="28" name="PlaceHolder 3"/>
          <p:cNvSpPr>
            <a:spLocks noGrp="1"/>
          </p:cNvSpPr>
          <p:nvPr>
            <p:ph type="dt" idx="7"/>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29" name="PlaceHolder 4"/>
          <p:cNvSpPr>
            <a:spLocks noGrp="1"/>
          </p:cNvSpPr>
          <p:nvPr>
            <p:ph type="ftr" idx="8"/>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0" name="PlaceHolder 5"/>
          <p:cNvSpPr>
            <a:spLocks noGrp="1"/>
          </p:cNvSpPr>
          <p:nvPr>
            <p:ph type="sldNum" idx="9"/>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BD6ADCC7-B84A-4BC6-9D41-2DE2C6C53438}"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32"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3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4"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en-US" sz="4800" spc="-52" strike="noStrike">
                <a:solidFill>
                  <a:schemeClr val="dk1">
                    <a:lumMod val="75000"/>
                    <a:lumOff val="25000"/>
                  </a:schemeClr>
                </a:solidFill>
                <a:latin typeface="Calibri Light"/>
              </a:rPr>
              <a:t>Click to edit Master title style</a:t>
            </a:r>
            <a:endParaRPr b="0" lang="en-US" sz="4800" spc="-1" strike="noStrike">
              <a:solidFill>
                <a:schemeClr val="dk1"/>
              </a:solidFill>
              <a:latin typeface="Calibri"/>
            </a:endParaRPr>
          </a:p>
        </p:txBody>
      </p:sp>
      <p:sp>
        <p:nvSpPr>
          <p:cNvPr id="35" name="PlaceHolder 2"/>
          <p:cNvSpPr>
            <a:spLocks noGrp="1"/>
          </p:cNvSpPr>
          <p:nvPr>
            <p:ph type="body"/>
          </p:nvPr>
        </p:nvSpPr>
        <p:spPr>
          <a:xfrm>
            <a:off x="1097280" y="1845720"/>
            <a:ext cx="10058040" cy="4023000"/>
          </a:xfrm>
          <a:prstGeom prst="rect">
            <a:avLst/>
          </a:prstGeom>
          <a:no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Click to edit Master text styles</a:t>
            </a:r>
            <a:endParaRPr b="0" lang="en-US" sz="2000" spc="-1" strike="noStrike">
              <a:solidFill>
                <a:schemeClr val="dk1">
                  <a:lumMod val="75000"/>
                  <a:lumOff val="25000"/>
                </a:schemeClr>
              </a:solidFill>
              <a:latin typeface="Calibri"/>
            </a:endParaRPr>
          </a:p>
          <a:p>
            <a:pPr lvl="1" marL="384120" indent="-182880" defTabSz="914400">
              <a:lnSpc>
                <a:spcPct val="90000"/>
              </a:lnSpc>
              <a:spcBef>
                <a:spcPts val="201"/>
              </a:spcBef>
              <a:spcAft>
                <a:spcPts val="400"/>
              </a:spcAft>
              <a:buClr>
                <a:srgbClr val="e48312"/>
              </a:buClr>
              <a:buFont typeface="Calibri"/>
              <a:buChar char="◦"/>
            </a:pPr>
            <a:r>
              <a:rPr b="0" lang="en-US" sz="1800" spc="-1" strike="noStrike">
                <a:solidFill>
                  <a:schemeClr val="dk1">
                    <a:lumMod val="75000"/>
                    <a:lumOff val="25000"/>
                  </a:schemeClr>
                </a:solidFill>
                <a:latin typeface="Calibri"/>
              </a:rPr>
              <a:t>Second level</a:t>
            </a:r>
            <a:endParaRPr b="0" lang="en-US" sz="1800" spc="-1" strike="noStrike">
              <a:solidFill>
                <a:schemeClr val="dk1">
                  <a:lumMod val="75000"/>
                  <a:lumOff val="25000"/>
                </a:schemeClr>
              </a:solidFill>
              <a:latin typeface="Calibri"/>
            </a:endParaRPr>
          </a:p>
          <a:p>
            <a:pPr lvl="2" marL="56700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Third level</a:t>
            </a:r>
            <a:endParaRPr b="0" lang="en-US" sz="1400" spc="-1" strike="noStrike">
              <a:solidFill>
                <a:schemeClr val="dk1">
                  <a:lumMod val="75000"/>
                  <a:lumOff val="25000"/>
                </a:schemeClr>
              </a:solidFill>
              <a:latin typeface="Calibri"/>
            </a:endParaRPr>
          </a:p>
          <a:p>
            <a:pPr lvl="3" marL="74988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Fourth level</a:t>
            </a:r>
            <a:endParaRPr b="0" lang="en-US" sz="1400" spc="-1" strike="noStrike">
              <a:solidFill>
                <a:schemeClr val="dk1">
                  <a:lumMod val="75000"/>
                  <a:lumOff val="25000"/>
                </a:schemeClr>
              </a:solidFill>
              <a:latin typeface="Calibri"/>
            </a:endParaRPr>
          </a:p>
          <a:p>
            <a:pPr lvl="4" marL="93276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Fifth level</a:t>
            </a:r>
            <a:endParaRPr b="0" lang="en-US" sz="1400" spc="-1" strike="noStrike">
              <a:solidFill>
                <a:schemeClr val="dk1">
                  <a:lumMod val="75000"/>
                  <a:lumOff val="25000"/>
                </a:schemeClr>
              </a:solidFill>
              <a:latin typeface="Calibri"/>
            </a:endParaRPr>
          </a:p>
        </p:txBody>
      </p:sp>
      <p:sp>
        <p:nvSpPr>
          <p:cNvPr id="36" name="PlaceHolder 3"/>
          <p:cNvSpPr>
            <a:spLocks noGrp="1"/>
          </p:cNvSpPr>
          <p:nvPr>
            <p:ph type="dt" idx="10"/>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37" name="PlaceHolder 4"/>
          <p:cNvSpPr>
            <a:spLocks noGrp="1"/>
          </p:cNvSpPr>
          <p:nvPr>
            <p:ph type="ftr" idx="11"/>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8" name="PlaceHolder 5"/>
          <p:cNvSpPr>
            <a:spLocks noGrp="1"/>
          </p:cNvSpPr>
          <p:nvPr>
            <p:ph type="sldNum" idx="12"/>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8095957F-8BE6-41E5-84D3-53779869B7B6}"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4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4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4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4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t">
            <a:noAutofit/>
          </a:bodyPr>
          <a:p>
            <a:endParaRPr b="0" lang="en-US" sz="1800" spc="-1" strike="noStrike">
              <a:solidFill>
                <a:srgbClr val="ffffff"/>
              </a:solidFill>
              <a:latin typeface="Arial"/>
            </a:endParaRPr>
          </a:p>
        </p:txBody>
      </p:sp>
      <p:sp>
        <p:nvSpPr>
          <p:cNvPr id="46" name="PlaceHolder 1"/>
          <p:cNvSpPr>
            <a:spLocks noGrp="1"/>
          </p:cNvSpPr>
          <p:nvPr>
            <p:ph type="title"/>
          </p:nvPr>
        </p:nvSpPr>
        <p:spPr>
          <a:xfrm>
            <a:off x="1097280" y="758880"/>
            <a:ext cx="10058040" cy="3565800"/>
          </a:xfrm>
          <a:prstGeom prst="rect">
            <a:avLst/>
          </a:prstGeom>
          <a:noFill/>
          <a:ln w="0">
            <a:noFill/>
          </a:ln>
        </p:spPr>
        <p:txBody>
          <a:bodyPr lIns="91440" rIns="91440" tIns="45720" bIns="45720" anchor="b">
            <a:normAutofit/>
          </a:bodyPr>
          <a:p>
            <a:pPr indent="0" defTabSz="914400">
              <a:lnSpc>
                <a:spcPct val="85000"/>
              </a:lnSpc>
              <a:buNone/>
            </a:pPr>
            <a:r>
              <a:rPr b="0" lang="en-US" sz="8000" spc="-52" strike="noStrike">
                <a:solidFill>
                  <a:schemeClr val="dk1">
                    <a:lumMod val="85000"/>
                    <a:lumOff val="15000"/>
                  </a:schemeClr>
                </a:solidFill>
                <a:latin typeface="Calibri Light"/>
              </a:rPr>
              <a:t>Click to edit Master title style</a:t>
            </a:r>
            <a:endParaRPr b="0" lang="en-US" sz="8000" spc="-1" strike="noStrike">
              <a:solidFill>
                <a:schemeClr val="dk1"/>
              </a:solidFill>
              <a:latin typeface="Calibri"/>
            </a:endParaRPr>
          </a:p>
        </p:txBody>
      </p:sp>
      <p:sp>
        <p:nvSpPr>
          <p:cNvPr id="47" name="PlaceHolder 2"/>
          <p:cNvSpPr>
            <a:spLocks noGrp="1"/>
          </p:cNvSpPr>
          <p:nvPr>
            <p:ph type="body"/>
          </p:nvPr>
        </p:nvSpPr>
        <p:spPr>
          <a:xfrm>
            <a:off x="1097280" y="4453200"/>
            <a:ext cx="10058040" cy="1142640"/>
          </a:xfrm>
          <a:prstGeom prst="rect">
            <a:avLst/>
          </a:prstGeom>
          <a:noFill/>
          <a:ln w="0">
            <a:noFill/>
          </a:ln>
        </p:spPr>
        <p:txBody>
          <a:bodyPr lIns="91440" rIns="91440" tIns="45720" bIns="45720" anchor="t">
            <a:normAutofit/>
          </a:bodyPr>
          <a:p>
            <a:pPr indent="0" defTabSz="914400">
              <a:lnSpc>
                <a:spcPct val="90000"/>
              </a:lnSpc>
              <a:spcBef>
                <a:spcPts val="1199"/>
              </a:spcBef>
              <a:spcAft>
                <a:spcPts val="201"/>
              </a:spcAft>
              <a:buNone/>
              <a:tabLst>
                <a:tab algn="l" pos="0"/>
              </a:tabLst>
            </a:pPr>
            <a:r>
              <a:rPr b="0" lang="en-US" sz="2400" spc="199" strike="noStrike" cap="all">
                <a:solidFill>
                  <a:schemeClr val="dk2"/>
                </a:solidFill>
                <a:latin typeface="Calibri Light"/>
              </a:rPr>
              <a:t>Click to edit Master text styles</a:t>
            </a:r>
            <a:endParaRPr b="0" lang="en-US" sz="2400" spc="-1" strike="noStrike">
              <a:solidFill>
                <a:schemeClr val="dk1">
                  <a:lumMod val="75000"/>
                  <a:lumOff val="25000"/>
                </a:schemeClr>
              </a:solidFill>
              <a:latin typeface="Calibri"/>
            </a:endParaRPr>
          </a:p>
        </p:txBody>
      </p:sp>
      <p:sp>
        <p:nvSpPr>
          <p:cNvPr id="48" name="PlaceHolder 3"/>
          <p:cNvSpPr>
            <a:spLocks noGrp="1"/>
          </p:cNvSpPr>
          <p:nvPr>
            <p:ph type="dt" idx="13"/>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49" name="PlaceHolder 4"/>
          <p:cNvSpPr>
            <a:spLocks noGrp="1"/>
          </p:cNvSpPr>
          <p:nvPr>
            <p:ph type="ftr" idx="14"/>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0" name="PlaceHolder 5"/>
          <p:cNvSpPr>
            <a:spLocks noGrp="1"/>
          </p:cNvSpPr>
          <p:nvPr>
            <p:ph type="sldNum" idx="15"/>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E92C1E3C-630D-4356-91A3-309E3B2793E3}"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cxnSp>
        <p:nvCxnSpPr>
          <p:cNvPr id="51"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2"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53"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5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55"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en-US" sz="4800" spc="-52" strike="noStrike">
                <a:solidFill>
                  <a:schemeClr val="dk1">
                    <a:lumMod val="75000"/>
                    <a:lumOff val="25000"/>
                  </a:schemeClr>
                </a:solidFill>
                <a:latin typeface="Calibri Light"/>
              </a:rPr>
              <a:t>Click to edit Master title style</a:t>
            </a:r>
            <a:endParaRPr b="0" lang="en-US" sz="4800" spc="-1" strike="noStrike">
              <a:solidFill>
                <a:schemeClr val="dk1"/>
              </a:solidFill>
              <a:latin typeface="Calibri"/>
            </a:endParaRPr>
          </a:p>
        </p:txBody>
      </p:sp>
      <p:sp>
        <p:nvSpPr>
          <p:cNvPr id="56" name="PlaceHolder 2"/>
          <p:cNvSpPr>
            <a:spLocks noGrp="1"/>
          </p:cNvSpPr>
          <p:nvPr>
            <p:ph type="body"/>
          </p:nvPr>
        </p:nvSpPr>
        <p:spPr>
          <a:xfrm>
            <a:off x="1097280" y="1845720"/>
            <a:ext cx="4937400" cy="4023000"/>
          </a:xfrm>
          <a:prstGeom prst="rect">
            <a:avLst/>
          </a:prstGeom>
          <a:no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Click to edit Master text styles</a:t>
            </a:r>
            <a:endParaRPr b="0" lang="en-US" sz="2000" spc="-1" strike="noStrike">
              <a:solidFill>
                <a:schemeClr val="dk1">
                  <a:lumMod val="75000"/>
                  <a:lumOff val="25000"/>
                </a:schemeClr>
              </a:solidFill>
              <a:latin typeface="Calibri"/>
            </a:endParaRPr>
          </a:p>
          <a:p>
            <a:pPr lvl="1" marL="384120" indent="-182880" defTabSz="914400">
              <a:lnSpc>
                <a:spcPct val="90000"/>
              </a:lnSpc>
              <a:spcBef>
                <a:spcPts val="201"/>
              </a:spcBef>
              <a:spcAft>
                <a:spcPts val="400"/>
              </a:spcAft>
              <a:buClr>
                <a:srgbClr val="e48312"/>
              </a:buClr>
              <a:buFont typeface="Calibri"/>
              <a:buChar char="◦"/>
            </a:pPr>
            <a:r>
              <a:rPr b="0" lang="en-US" sz="1800" spc="-1" strike="noStrike">
                <a:solidFill>
                  <a:schemeClr val="dk1">
                    <a:lumMod val="75000"/>
                    <a:lumOff val="25000"/>
                  </a:schemeClr>
                </a:solidFill>
                <a:latin typeface="Calibri"/>
              </a:rPr>
              <a:t>Second level</a:t>
            </a:r>
            <a:endParaRPr b="0" lang="en-US" sz="1800" spc="-1" strike="noStrike">
              <a:solidFill>
                <a:schemeClr val="dk1">
                  <a:lumMod val="75000"/>
                  <a:lumOff val="25000"/>
                </a:schemeClr>
              </a:solidFill>
              <a:latin typeface="Calibri"/>
            </a:endParaRPr>
          </a:p>
          <a:p>
            <a:pPr lvl="2" marL="56700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Third level</a:t>
            </a:r>
            <a:endParaRPr b="0" lang="en-US" sz="1400" spc="-1" strike="noStrike">
              <a:solidFill>
                <a:schemeClr val="dk1">
                  <a:lumMod val="75000"/>
                  <a:lumOff val="25000"/>
                </a:schemeClr>
              </a:solidFill>
              <a:latin typeface="Calibri"/>
            </a:endParaRPr>
          </a:p>
          <a:p>
            <a:pPr lvl="3" marL="74988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Fourth level</a:t>
            </a:r>
            <a:endParaRPr b="0" lang="en-US" sz="1400" spc="-1" strike="noStrike">
              <a:solidFill>
                <a:schemeClr val="dk1">
                  <a:lumMod val="75000"/>
                  <a:lumOff val="25000"/>
                </a:schemeClr>
              </a:solidFill>
              <a:latin typeface="Calibri"/>
            </a:endParaRPr>
          </a:p>
          <a:p>
            <a:pPr lvl="4" marL="93276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Fifth level</a:t>
            </a:r>
            <a:endParaRPr b="0" lang="en-US" sz="1400" spc="-1" strike="noStrike">
              <a:solidFill>
                <a:schemeClr val="dk1">
                  <a:lumMod val="75000"/>
                  <a:lumOff val="25000"/>
                </a:schemeClr>
              </a:solidFill>
              <a:latin typeface="Calibri"/>
            </a:endParaRPr>
          </a:p>
        </p:txBody>
      </p:sp>
      <p:sp>
        <p:nvSpPr>
          <p:cNvPr id="57" name="PlaceHolder 3"/>
          <p:cNvSpPr>
            <a:spLocks noGrp="1"/>
          </p:cNvSpPr>
          <p:nvPr>
            <p:ph type="body"/>
          </p:nvPr>
        </p:nvSpPr>
        <p:spPr>
          <a:xfrm>
            <a:off x="6217920" y="1845720"/>
            <a:ext cx="4937400" cy="4023000"/>
          </a:xfrm>
          <a:prstGeom prst="rect">
            <a:avLst/>
          </a:prstGeom>
          <a:no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Click to edit Master text styles</a:t>
            </a:r>
            <a:endParaRPr b="0" lang="en-US" sz="2000" spc="-1" strike="noStrike">
              <a:solidFill>
                <a:schemeClr val="dk1">
                  <a:lumMod val="75000"/>
                  <a:lumOff val="25000"/>
                </a:schemeClr>
              </a:solidFill>
              <a:latin typeface="Calibri"/>
            </a:endParaRPr>
          </a:p>
          <a:p>
            <a:pPr lvl="1" marL="384120" indent="-182880" defTabSz="914400">
              <a:lnSpc>
                <a:spcPct val="90000"/>
              </a:lnSpc>
              <a:spcBef>
                <a:spcPts val="201"/>
              </a:spcBef>
              <a:spcAft>
                <a:spcPts val="400"/>
              </a:spcAft>
              <a:buClr>
                <a:srgbClr val="e48312"/>
              </a:buClr>
              <a:buFont typeface="Calibri"/>
              <a:buChar char="◦"/>
            </a:pPr>
            <a:r>
              <a:rPr b="0" lang="en-US" sz="1800" spc="-1" strike="noStrike">
                <a:solidFill>
                  <a:schemeClr val="dk1">
                    <a:lumMod val="75000"/>
                    <a:lumOff val="25000"/>
                  </a:schemeClr>
                </a:solidFill>
                <a:latin typeface="Calibri"/>
              </a:rPr>
              <a:t>Second level</a:t>
            </a:r>
            <a:endParaRPr b="0" lang="en-US" sz="1800" spc="-1" strike="noStrike">
              <a:solidFill>
                <a:schemeClr val="dk1">
                  <a:lumMod val="75000"/>
                  <a:lumOff val="25000"/>
                </a:schemeClr>
              </a:solidFill>
              <a:latin typeface="Calibri"/>
            </a:endParaRPr>
          </a:p>
          <a:p>
            <a:pPr lvl="2" marL="56700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Third level</a:t>
            </a:r>
            <a:endParaRPr b="0" lang="en-US" sz="1400" spc="-1" strike="noStrike">
              <a:solidFill>
                <a:schemeClr val="dk1">
                  <a:lumMod val="75000"/>
                  <a:lumOff val="25000"/>
                </a:schemeClr>
              </a:solidFill>
              <a:latin typeface="Calibri"/>
            </a:endParaRPr>
          </a:p>
          <a:p>
            <a:pPr lvl="3" marL="74988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Fourth level</a:t>
            </a:r>
            <a:endParaRPr b="0" lang="en-US" sz="1400" spc="-1" strike="noStrike">
              <a:solidFill>
                <a:schemeClr val="dk1">
                  <a:lumMod val="75000"/>
                  <a:lumOff val="25000"/>
                </a:schemeClr>
              </a:solidFill>
              <a:latin typeface="Calibri"/>
            </a:endParaRPr>
          </a:p>
          <a:p>
            <a:pPr lvl="4" marL="93276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Fifth level</a:t>
            </a:r>
            <a:endParaRPr b="0" lang="en-US" sz="1400" spc="-1" strike="noStrike">
              <a:solidFill>
                <a:schemeClr val="dk1">
                  <a:lumMod val="75000"/>
                  <a:lumOff val="25000"/>
                </a:schemeClr>
              </a:solidFill>
              <a:latin typeface="Calibri"/>
            </a:endParaRPr>
          </a:p>
        </p:txBody>
      </p:sp>
      <p:sp>
        <p:nvSpPr>
          <p:cNvPr id="58" name="PlaceHolder 4"/>
          <p:cNvSpPr>
            <a:spLocks noGrp="1"/>
          </p:cNvSpPr>
          <p:nvPr>
            <p:ph type="dt" idx="16"/>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59" name="PlaceHolder 5"/>
          <p:cNvSpPr>
            <a:spLocks noGrp="1"/>
          </p:cNvSpPr>
          <p:nvPr>
            <p:ph type="ftr" idx="17"/>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18"/>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5F82552F-381A-450A-BC7F-C729FAFBD616}"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4"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65"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66"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67"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en-US" sz="4800" spc="-52" strike="noStrike">
                <a:solidFill>
                  <a:schemeClr val="dk1">
                    <a:lumMod val="75000"/>
                    <a:lumOff val="25000"/>
                  </a:schemeClr>
                </a:solidFill>
                <a:latin typeface="Calibri Light"/>
              </a:rPr>
              <a:t>Click to edit Master title style</a:t>
            </a:r>
            <a:endParaRPr b="0" lang="en-US" sz="4800" spc="-1" strike="noStrike">
              <a:solidFill>
                <a:schemeClr val="dk1"/>
              </a:solidFill>
              <a:latin typeface="Calibri"/>
            </a:endParaRPr>
          </a:p>
        </p:txBody>
      </p:sp>
      <p:sp>
        <p:nvSpPr>
          <p:cNvPr id="68" name="PlaceHolder 2"/>
          <p:cNvSpPr>
            <a:spLocks noGrp="1"/>
          </p:cNvSpPr>
          <p:nvPr>
            <p:ph type="body"/>
          </p:nvPr>
        </p:nvSpPr>
        <p:spPr>
          <a:xfrm>
            <a:off x="1097280" y="1846080"/>
            <a:ext cx="4937400" cy="735840"/>
          </a:xfrm>
          <a:prstGeom prst="rect">
            <a:avLst/>
          </a:prstGeom>
          <a:noFill/>
          <a:ln w="0">
            <a:noFill/>
          </a:ln>
        </p:spPr>
        <p:txBody>
          <a:bodyPr lIns="91440" rIns="91440" tIns="45720" bIns="45720" anchor="ctr">
            <a:normAutofit/>
          </a:bodyPr>
          <a:p>
            <a:pPr indent="0" defTabSz="914400">
              <a:lnSpc>
                <a:spcPct val="90000"/>
              </a:lnSpc>
              <a:spcBef>
                <a:spcPts val="1199"/>
              </a:spcBef>
              <a:spcAft>
                <a:spcPts val="201"/>
              </a:spcAft>
              <a:buNone/>
              <a:tabLst>
                <a:tab algn="l" pos="0"/>
              </a:tabLst>
            </a:pPr>
            <a:r>
              <a:rPr b="0" lang="en-US" sz="2000" spc="-1" strike="noStrike" cap="all">
                <a:solidFill>
                  <a:schemeClr val="dk2"/>
                </a:solidFill>
                <a:latin typeface="Calibri"/>
              </a:rPr>
              <a:t>Click to edit Master text styles</a:t>
            </a:r>
            <a:endParaRPr b="0" lang="en-US" sz="2000" spc="-1" strike="noStrike">
              <a:solidFill>
                <a:schemeClr val="dk1">
                  <a:lumMod val="75000"/>
                  <a:lumOff val="25000"/>
                </a:schemeClr>
              </a:solidFill>
              <a:latin typeface="Calibri"/>
            </a:endParaRPr>
          </a:p>
        </p:txBody>
      </p:sp>
      <p:sp>
        <p:nvSpPr>
          <p:cNvPr id="69" name="PlaceHolder 3"/>
          <p:cNvSpPr>
            <a:spLocks noGrp="1"/>
          </p:cNvSpPr>
          <p:nvPr>
            <p:ph type="body"/>
          </p:nvPr>
        </p:nvSpPr>
        <p:spPr>
          <a:xfrm>
            <a:off x="1097280" y="2582280"/>
            <a:ext cx="4937400" cy="3377880"/>
          </a:xfrm>
          <a:prstGeom prst="rect">
            <a:avLst/>
          </a:prstGeom>
          <a:no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Click to edit Master text styles</a:t>
            </a:r>
            <a:endParaRPr b="0" lang="en-US" sz="2000" spc="-1" strike="noStrike">
              <a:solidFill>
                <a:schemeClr val="dk1">
                  <a:lumMod val="75000"/>
                  <a:lumOff val="25000"/>
                </a:schemeClr>
              </a:solidFill>
              <a:latin typeface="Calibri"/>
            </a:endParaRPr>
          </a:p>
          <a:p>
            <a:pPr lvl="1" marL="384120" indent="-182880" defTabSz="914400">
              <a:lnSpc>
                <a:spcPct val="90000"/>
              </a:lnSpc>
              <a:spcBef>
                <a:spcPts val="201"/>
              </a:spcBef>
              <a:spcAft>
                <a:spcPts val="400"/>
              </a:spcAft>
              <a:buClr>
                <a:srgbClr val="e48312"/>
              </a:buClr>
              <a:buFont typeface="Calibri"/>
              <a:buChar char="◦"/>
            </a:pPr>
            <a:r>
              <a:rPr b="0" lang="en-US" sz="1800" spc="-1" strike="noStrike">
                <a:solidFill>
                  <a:schemeClr val="dk1">
                    <a:lumMod val="75000"/>
                    <a:lumOff val="25000"/>
                  </a:schemeClr>
                </a:solidFill>
                <a:latin typeface="Calibri"/>
              </a:rPr>
              <a:t>Second level</a:t>
            </a:r>
            <a:endParaRPr b="0" lang="en-US" sz="1800" spc="-1" strike="noStrike">
              <a:solidFill>
                <a:schemeClr val="dk1">
                  <a:lumMod val="75000"/>
                  <a:lumOff val="25000"/>
                </a:schemeClr>
              </a:solidFill>
              <a:latin typeface="Calibri"/>
            </a:endParaRPr>
          </a:p>
          <a:p>
            <a:pPr lvl="2" marL="56700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Third level</a:t>
            </a:r>
            <a:endParaRPr b="0" lang="en-US" sz="1400" spc="-1" strike="noStrike">
              <a:solidFill>
                <a:schemeClr val="dk1">
                  <a:lumMod val="75000"/>
                  <a:lumOff val="25000"/>
                </a:schemeClr>
              </a:solidFill>
              <a:latin typeface="Calibri"/>
            </a:endParaRPr>
          </a:p>
          <a:p>
            <a:pPr lvl="3" marL="74988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Fourth level</a:t>
            </a:r>
            <a:endParaRPr b="0" lang="en-US" sz="1400" spc="-1" strike="noStrike">
              <a:solidFill>
                <a:schemeClr val="dk1">
                  <a:lumMod val="75000"/>
                  <a:lumOff val="25000"/>
                </a:schemeClr>
              </a:solidFill>
              <a:latin typeface="Calibri"/>
            </a:endParaRPr>
          </a:p>
          <a:p>
            <a:pPr lvl="4" marL="93276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Fifth level</a:t>
            </a:r>
            <a:endParaRPr b="0" lang="en-US" sz="1400" spc="-1" strike="noStrike">
              <a:solidFill>
                <a:schemeClr val="dk1">
                  <a:lumMod val="75000"/>
                  <a:lumOff val="25000"/>
                </a:schemeClr>
              </a:solidFill>
              <a:latin typeface="Calibri"/>
            </a:endParaRPr>
          </a:p>
        </p:txBody>
      </p:sp>
      <p:sp>
        <p:nvSpPr>
          <p:cNvPr id="70" name="PlaceHolder 4"/>
          <p:cNvSpPr>
            <a:spLocks noGrp="1"/>
          </p:cNvSpPr>
          <p:nvPr>
            <p:ph type="body"/>
          </p:nvPr>
        </p:nvSpPr>
        <p:spPr>
          <a:xfrm>
            <a:off x="6217920" y="1846080"/>
            <a:ext cx="4937400" cy="735840"/>
          </a:xfrm>
          <a:prstGeom prst="rect">
            <a:avLst/>
          </a:prstGeom>
          <a:noFill/>
          <a:ln w="0">
            <a:noFill/>
          </a:ln>
        </p:spPr>
        <p:txBody>
          <a:bodyPr lIns="91440" rIns="91440" tIns="45720" bIns="45720" anchor="ctr">
            <a:normAutofit/>
          </a:bodyPr>
          <a:p>
            <a:pPr indent="0" defTabSz="914400">
              <a:lnSpc>
                <a:spcPct val="90000"/>
              </a:lnSpc>
              <a:spcBef>
                <a:spcPts val="1199"/>
              </a:spcBef>
              <a:spcAft>
                <a:spcPts val="201"/>
              </a:spcAft>
              <a:buNone/>
              <a:tabLst>
                <a:tab algn="l" pos="0"/>
              </a:tabLst>
            </a:pPr>
            <a:r>
              <a:rPr b="0" lang="en-US" sz="2000" spc="-1" strike="noStrike" cap="all">
                <a:solidFill>
                  <a:schemeClr val="dk2"/>
                </a:solidFill>
                <a:latin typeface="Calibri"/>
              </a:rPr>
              <a:t>Click to edit Master text styles</a:t>
            </a:r>
            <a:endParaRPr b="0" lang="en-US" sz="2000" spc="-1" strike="noStrike">
              <a:solidFill>
                <a:schemeClr val="dk1">
                  <a:lumMod val="75000"/>
                  <a:lumOff val="25000"/>
                </a:schemeClr>
              </a:solidFill>
              <a:latin typeface="Calibri"/>
            </a:endParaRPr>
          </a:p>
        </p:txBody>
      </p:sp>
      <p:sp>
        <p:nvSpPr>
          <p:cNvPr id="71" name="PlaceHolder 5"/>
          <p:cNvSpPr>
            <a:spLocks noGrp="1"/>
          </p:cNvSpPr>
          <p:nvPr>
            <p:ph type="body"/>
          </p:nvPr>
        </p:nvSpPr>
        <p:spPr>
          <a:xfrm>
            <a:off x="6217920" y="2582280"/>
            <a:ext cx="4937400" cy="3377880"/>
          </a:xfrm>
          <a:prstGeom prst="rect">
            <a:avLst/>
          </a:prstGeom>
          <a:no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Click to edit Master text styles</a:t>
            </a:r>
            <a:endParaRPr b="0" lang="en-US" sz="2000" spc="-1" strike="noStrike">
              <a:solidFill>
                <a:schemeClr val="dk1">
                  <a:lumMod val="75000"/>
                  <a:lumOff val="25000"/>
                </a:schemeClr>
              </a:solidFill>
              <a:latin typeface="Calibri"/>
            </a:endParaRPr>
          </a:p>
          <a:p>
            <a:pPr lvl="1" marL="384120" indent="-182880" defTabSz="914400">
              <a:lnSpc>
                <a:spcPct val="90000"/>
              </a:lnSpc>
              <a:spcBef>
                <a:spcPts val="201"/>
              </a:spcBef>
              <a:spcAft>
                <a:spcPts val="400"/>
              </a:spcAft>
              <a:buClr>
                <a:srgbClr val="e48312"/>
              </a:buClr>
              <a:buFont typeface="Calibri"/>
              <a:buChar char="◦"/>
            </a:pPr>
            <a:r>
              <a:rPr b="0" lang="en-US" sz="1800" spc="-1" strike="noStrike">
                <a:solidFill>
                  <a:schemeClr val="dk1">
                    <a:lumMod val="75000"/>
                    <a:lumOff val="25000"/>
                  </a:schemeClr>
                </a:solidFill>
                <a:latin typeface="Calibri"/>
              </a:rPr>
              <a:t>Second level</a:t>
            </a:r>
            <a:endParaRPr b="0" lang="en-US" sz="1800" spc="-1" strike="noStrike">
              <a:solidFill>
                <a:schemeClr val="dk1">
                  <a:lumMod val="75000"/>
                  <a:lumOff val="25000"/>
                </a:schemeClr>
              </a:solidFill>
              <a:latin typeface="Calibri"/>
            </a:endParaRPr>
          </a:p>
          <a:p>
            <a:pPr lvl="2" marL="56700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Third level</a:t>
            </a:r>
            <a:endParaRPr b="0" lang="en-US" sz="1400" spc="-1" strike="noStrike">
              <a:solidFill>
                <a:schemeClr val="dk1">
                  <a:lumMod val="75000"/>
                  <a:lumOff val="25000"/>
                </a:schemeClr>
              </a:solidFill>
              <a:latin typeface="Calibri"/>
            </a:endParaRPr>
          </a:p>
          <a:p>
            <a:pPr lvl="3" marL="74988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Fourth level</a:t>
            </a:r>
            <a:endParaRPr b="0" lang="en-US" sz="1400" spc="-1" strike="noStrike">
              <a:solidFill>
                <a:schemeClr val="dk1">
                  <a:lumMod val="75000"/>
                  <a:lumOff val="25000"/>
                </a:schemeClr>
              </a:solidFill>
              <a:latin typeface="Calibri"/>
            </a:endParaRPr>
          </a:p>
          <a:p>
            <a:pPr lvl="4" marL="93276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Fifth level</a:t>
            </a:r>
            <a:endParaRPr b="0" lang="en-US" sz="1400" spc="-1" strike="noStrike">
              <a:solidFill>
                <a:schemeClr val="dk1">
                  <a:lumMod val="75000"/>
                  <a:lumOff val="25000"/>
                </a:schemeClr>
              </a:solidFill>
              <a:latin typeface="Calibri"/>
            </a:endParaRPr>
          </a:p>
        </p:txBody>
      </p:sp>
      <p:sp>
        <p:nvSpPr>
          <p:cNvPr id="72" name="PlaceHolder 6"/>
          <p:cNvSpPr>
            <a:spLocks noGrp="1"/>
          </p:cNvSpPr>
          <p:nvPr>
            <p:ph type="dt" idx="19"/>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73" name="PlaceHolder 7"/>
          <p:cNvSpPr>
            <a:spLocks noGrp="1"/>
          </p:cNvSpPr>
          <p:nvPr>
            <p:ph type="ftr" idx="20"/>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4" name="PlaceHolder 8"/>
          <p:cNvSpPr>
            <a:spLocks noGrp="1"/>
          </p:cNvSpPr>
          <p:nvPr>
            <p:ph type="sldNum" idx="21"/>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71DB6939-8C87-4C7E-93F1-AB7F0BEA5541}"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5"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76"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77"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78"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en-US" sz="4800" spc="-52" strike="noStrike">
                <a:solidFill>
                  <a:schemeClr val="dk1">
                    <a:lumMod val="75000"/>
                    <a:lumOff val="25000"/>
                  </a:schemeClr>
                </a:solidFill>
                <a:latin typeface="Calibri Light"/>
              </a:rPr>
              <a:t>Click to edit Master title style</a:t>
            </a:r>
            <a:endParaRPr b="0" lang="en-US" sz="4800" spc="-1" strike="noStrike">
              <a:solidFill>
                <a:schemeClr val="dk1"/>
              </a:solidFill>
              <a:latin typeface="Calibri"/>
            </a:endParaRPr>
          </a:p>
        </p:txBody>
      </p:sp>
      <p:sp>
        <p:nvSpPr>
          <p:cNvPr id="79" name="PlaceHolder 2"/>
          <p:cNvSpPr>
            <a:spLocks noGrp="1"/>
          </p:cNvSpPr>
          <p:nvPr>
            <p:ph type="dt" idx="22"/>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80" name="PlaceHolder 3"/>
          <p:cNvSpPr>
            <a:spLocks noGrp="1"/>
          </p:cNvSpPr>
          <p:nvPr>
            <p:ph type="ftr" idx="23"/>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1" name="PlaceHolder 4"/>
          <p:cNvSpPr>
            <a:spLocks noGrp="1"/>
          </p:cNvSpPr>
          <p:nvPr>
            <p:ph type="sldNum" idx="24"/>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3665D0A5-0DF9-45B0-B389-EC385D1ED16B}"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3"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84"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8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86" name="Rectangle 4"/>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87" name="Rectangle 5"/>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t">
            <a:noAutofit/>
          </a:bodyPr>
          <a:p>
            <a:endParaRPr b="0" lang="en-US" sz="1800" spc="-1" strike="noStrike">
              <a:solidFill>
                <a:srgbClr val="ffffff"/>
              </a:solidFill>
              <a:latin typeface="Arial"/>
            </a:endParaRPr>
          </a:p>
        </p:txBody>
      </p:sp>
      <p:sp>
        <p:nvSpPr>
          <p:cNvPr id="88" name="PlaceHolder 1"/>
          <p:cNvSpPr>
            <a:spLocks noGrp="1"/>
          </p:cNvSpPr>
          <p:nvPr>
            <p:ph type="dt" idx="25"/>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89" name="PlaceHolder 2"/>
          <p:cNvSpPr>
            <a:spLocks noGrp="1"/>
          </p:cNvSpPr>
          <p:nvPr>
            <p:ph type="ftr" idx="26"/>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90" name="PlaceHolder 3"/>
          <p:cNvSpPr>
            <a:spLocks noGrp="1"/>
          </p:cNvSpPr>
          <p:nvPr>
            <p:ph type="sldNum" idx="27"/>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D0DF817D-B9DA-4B6E-927E-CA2C2B21BD1B}"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9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9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94" name="Rectangle 7"/>
          <p:cNvSpPr/>
          <p:nvPr/>
        </p:nvSpPr>
        <p:spPr>
          <a:xfrm>
            <a:off x="0" y="0"/>
            <a:ext cx="4050360" cy="6857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95" name="Rectangle 8"/>
          <p:cNvSpPr/>
          <p:nvPr/>
        </p:nvSpPr>
        <p:spPr>
          <a:xfrm>
            <a:off x="4039920" y="0"/>
            <a:ext cx="63720" cy="6857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96" name="PlaceHolder 1"/>
          <p:cNvSpPr>
            <a:spLocks noGrp="1"/>
          </p:cNvSpPr>
          <p:nvPr>
            <p:ph type="title"/>
          </p:nvPr>
        </p:nvSpPr>
        <p:spPr>
          <a:xfrm>
            <a:off x="457200" y="594360"/>
            <a:ext cx="3200040" cy="2285640"/>
          </a:xfrm>
          <a:prstGeom prst="rect">
            <a:avLst/>
          </a:prstGeom>
          <a:noFill/>
          <a:ln w="0">
            <a:noFill/>
          </a:ln>
        </p:spPr>
        <p:txBody>
          <a:bodyPr lIns="91440" rIns="91440" tIns="45720" bIns="45720" anchor="b">
            <a:normAutofit/>
          </a:bodyPr>
          <a:p>
            <a:pPr indent="0" defTabSz="914400">
              <a:lnSpc>
                <a:spcPct val="85000"/>
              </a:lnSpc>
              <a:buNone/>
            </a:pPr>
            <a:r>
              <a:rPr b="0" lang="en-US" sz="3600" spc="-52" strike="noStrike">
                <a:solidFill>
                  <a:srgbClr val="ffffff"/>
                </a:solidFill>
                <a:latin typeface="Calibri Light"/>
              </a:rPr>
              <a:t>Click to edit Master title style</a:t>
            </a:r>
            <a:endParaRPr b="0" lang="en-US" sz="3600" spc="-1" strike="noStrike">
              <a:solidFill>
                <a:schemeClr val="dk1"/>
              </a:solidFill>
              <a:latin typeface="Calibri"/>
            </a:endParaRPr>
          </a:p>
        </p:txBody>
      </p:sp>
      <p:sp>
        <p:nvSpPr>
          <p:cNvPr id="97" name="PlaceHolder 2"/>
          <p:cNvSpPr>
            <a:spLocks noGrp="1"/>
          </p:cNvSpPr>
          <p:nvPr>
            <p:ph type="body"/>
          </p:nvPr>
        </p:nvSpPr>
        <p:spPr>
          <a:xfrm>
            <a:off x="4800600" y="731520"/>
            <a:ext cx="6491880" cy="5257440"/>
          </a:xfrm>
          <a:prstGeom prst="rect">
            <a:avLst/>
          </a:prstGeom>
          <a:no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Click to edit Master text styles</a:t>
            </a:r>
            <a:endParaRPr b="0" lang="en-US" sz="2000" spc="-1" strike="noStrike">
              <a:solidFill>
                <a:schemeClr val="dk1">
                  <a:lumMod val="75000"/>
                  <a:lumOff val="25000"/>
                </a:schemeClr>
              </a:solidFill>
              <a:latin typeface="Calibri"/>
            </a:endParaRPr>
          </a:p>
          <a:p>
            <a:pPr lvl="1" marL="384120" indent="-182880" defTabSz="914400">
              <a:lnSpc>
                <a:spcPct val="90000"/>
              </a:lnSpc>
              <a:spcBef>
                <a:spcPts val="201"/>
              </a:spcBef>
              <a:spcAft>
                <a:spcPts val="400"/>
              </a:spcAft>
              <a:buClr>
                <a:srgbClr val="e48312"/>
              </a:buClr>
              <a:buFont typeface="Calibri"/>
              <a:buChar char="◦"/>
            </a:pPr>
            <a:r>
              <a:rPr b="0" lang="en-US" sz="1800" spc="-1" strike="noStrike">
                <a:solidFill>
                  <a:schemeClr val="dk1">
                    <a:lumMod val="75000"/>
                    <a:lumOff val="25000"/>
                  </a:schemeClr>
                </a:solidFill>
                <a:latin typeface="Calibri"/>
              </a:rPr>
              <a:t>Second level</a:t>
            </a:r>
            <a:endParaRPr b="0" lang="en-US" sz="1800" spc="-1" strike="noStrike">
              <a:solidFill>
                <a:schemeClr val="dk1">
                  <a:lumMod val="75000"/>
                  <a:lumOff val="25000"/>
                </a:schemeClr>
              </a:solidFill>
              <a:latin typeface="Calibri"/>
            </a:endParaRPr>
          </a:p>
          <a:p>
            <a:pPr lvl="2" marL="56700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Third level</a:t>
            </a:r>
            <a:endParaRPr b="0" lang="en-US" sz="1400" spc="-1" strike="noStrike">
              <a:solidFill>
                <a:schemeClr val="dk1">
                  <a:lumMod val="75000"/>
                  <a:lumOff val="25000"/>
                </a:schemeClr>
              </a:solidFill>
              <a:latin typeface="Calibri"/>
            </a:endParaRPr>
          </a:p>
          <a:p>
            <a:pPr lvl="3" marL="74988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Fourth level</a:t>
            </a:r>
            <a:endParaRPr b="0" lang="en-US" sz="1400" spc="-1" strike="noStrike">
              <a:solidFill>
                <a:schemeClr val="dk1">
                  <a:lumMod val="75000"/>
                  <a:lumOff val="25000"/>
                </a:schemeClr>
              </a:solidFill>
              <a:latin typeface="Calibri"/>
            </a:endParaRPr>
          </a:p>
          <a:p>
            <a:pPr lvl="4" marL="932760" indent="-182880" defTabSz="914400">
              <a:lnSpc>
                <a:spcPct val="90000"/>
              </a:lnSpc>
              <a:spcBef>
                <a:spcPts val="201"/>
              </a:spcBef>
              <a:spcAft>
                <a:spcPts val="400"/>
              </a:spcAft>
              <a:buClr>
                <a:srgbClr val="e48312"/>
              </a:buClr>
              <a:buFont typeface="Calibri"/>
              <a:buChar char="◦"/>
            </a:pPr>
            <a:r>
              <a:rPr b="0" lang="en-US" sz="1400" spc="-1" strike="noStrike">
                <a:solidFill>
                  <a:schemeClr val="dk1">
                    <a:lumMod val="75000"/>
                    <a:lumOff val="25000"/>
                  </a:schemeClr>
                </a:solidFill>
                <a:latin typeface="Calibri"/>
              </a:rPr>
              <a:t>Fifth level</a:t>
            </a:r>
            <a:endParaRPr b="0" lang="en-US" sz="1400" spc="-1" strike="noStrike">
              <a:solidFill>
                <a:schemeClr val="dk1">
                  <a:lumMod val="75000"/>
                  <a:lumOff val="25000"/>
                </a:schemeClr>
              </a:solidFill>
              <a:latin typeface="Calibri"/>
            </a:endParaRPr>
          </a:p>
        </p:txBody>
      </p:sp>
      <p:sp>
        <p:nvSpPr>
          <p:cNvPr id="98" name="PlaceHolder 3"/>
          <p:cNvSpPr>
            <a:spLocks noGrp="1"/>
          </p:cNvSpPr>
          <p:nvPr>
            <p:ph type="body"/>
          </p:nvPr>
        </p:nvSpPr>
        <p:spPr>
          <a:xfrm>
            <a:off x="457200" y="2926080"/>
            <a:ext cx="3200040" cy="3378600"/>
          </a:xfrm>
          <a:prstGeom prst="rect">
            <a:avLst/>
          </a:prstGeom>
          <a:noFill/>
          <a:ln w="0">
            <a:noFill/>
          </a:ln>
        </p:spPr>
        <p:txBody>
          <a:bodyPr lIns="91440" rIns="91440" tIns="45720" bIns="45720" anchor="t">
            <a:normAutofit/>
          </a:bodyPr>
          <a:p>
            <a:pPr indent="0" defTabSz="914400">
              <a:lnSpc>
                <a:spcPct val="90000"/>
              </a:lnSpc>
              <a:spcBef>
                <a:spcPts val="1199"/>
              </a:spcBef>
              <a:spcAft>
                <a:spcPts val="201"/>
              </a:spcAft>
              <a:buNone/>
              <a:tabLst>
                <a:tab algn="l" pos="0"/>
              </a:tabLst>
            </a:pPr>
            <a:r>
              <a:rPr b="0" lang="en-US" sz="1500" spc="-1" strike="noStrike">
                <a:solidFill>
                  <a:srgbClr val="ffffff"/>
                </a:solidFill>
                <a:latin typeface="Calibri"/>
              </a:rPr>
              <a:t>Click to edit Master text styles</a:t>
            </a:r>
            <a:endParaRPr b="0" lang="en-US" sz="1500" spc="-1" strike="noStrike">
              <a:solidFill>
                <a:schemeClr val="dk1">
                  <a:lumMod val="75000"/>
                  <a:lumOff val="25000"/>
                </a:schemeClr>
              </a:solidFill>
              <a:latin typeface="Calibri"/>
            </a:endParaRPr>
          </a:p>
        </p:txBody>
      </p:sp>
      <p:sp>
        <p:nvSpPr>
          <p:cNvPr id="99" name="PlaceHolder 4"/>
          <p:cNvSpPr>
            <a:spLocks noGrp="1"/>
          </p:cNvSpPr>
          <p:nvPr>
            <p:ph type="dt" idx="28"/>
          </p:nvPr>
        </p:nvSpPr>
        <p:spPr>
          <a:xfrm>
            <a:off x="465480" y="6459840"/>
            <a:ext cx="261828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100" name="PlaceHolder 5"/>
          <p:cNvSpPr>
            <a:spLocks noGrp="1"/>
          </p:cNvSpPr>
          <p:nvPr>
            <p:ph type="ftr" idx="29"/>
          </p:nvPr>
        </p:nvSpPr>
        <p:spPr>
          <a:xfrm>
            <a:off x="4800600" y="6459840"/>
            <a:ext cx="46479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1" name="PlaceHolder 6"/>
          <p:cNvSpPr>
            <a:spLocks noGrp="1"/>
          </p:cNvSpPr>
          <p:nvPr>
            <p:ph type="sldNum" idx="30"/>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chemeClr val="dk2"/>
                </a:solidFill>
                <a:latin typeface="Calibri"/>
              </a:defRPr>
            </a:lvl1pPr>
          </a:lstStyle>
          <a:p>
            <a:pPr indent="0" algn="r" defTabSz="457200">
              <a:lnSpc>
                <a:spcPct val="100000"/>
              </a:lnSpc>
              <a:buNone/>
            </a:pPr>
            <a:fld id="{A021DBE8-A595-4C40-A6B2-825249D478A8}" type="slidenum">
              <a:rPr b="0" lang="it-IT" sz="1050" spc="-1" strike="noStrike">
                <a:solidFill>
                  <a:schemeClr val="dk2"/>
                </a:solidFill>
                <a:latin typeface="Calibri"/>
              </a:rPr>
              <a:t>&lt;number&gt;</a:t>
            </a:fld>
            <a:endParaRPr b="0" lang="en-US" sz="105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2"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103"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0880" bIns="20880" anchor="t">
            <a:noAutofit/>
          </a:bodyPr>
          <a:p>
            <a:endParaRPr b="0" lang="en-US" sz="1800" spc="-1" strike="noStrike">
              <a:solidFill>
                <a:srgbClr val="ffffff"/>
              </a:solidFill>
              <a:latin typeface="Arial"/>
            </a:endParaRPr>
          </a:p>
        </p:txBody>
      </p:sp>
      <p:cxnSp>
        <p:nvCxnSpPr>
          <p:cNvPr id="10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05" name="Rectangle 7"/>
          <p:cNvSpPr/>
          <p:nvPr/>
        </p:nvSpPr>
        <p:spPr>
          <a:xfrm>
            <a:off x="0" y="4952880"/>
            <a:ext cx="12188520" cy="1904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endParaRPr b="0" lang="en-US" sz="1800" spc="-1" strike="noStrike">
              <a:solidFill>
                <a:srgbClr val="ffffff"/>
              </a:solidFill>
              <a:latin typeface="Arial"/>
            </a:endParaRPr>
          </a:p>
        </p:txBody>
      </p:sp>
      <p:sp>
        <p:nvSpPr>
          <p:cNvPr id="106" name="Rectangle 8"/>
          <p:cNvSpPr/>
          <p:nvPr/>
        </p:nvSpPr>
        <p:spPr>
          <a:xfrm>
            <a:off x="0" y="491508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t">
            <a:noAutofit/>
          </a:bodyPr>
          <a:p>
            <a:endParaRPr b="0" lang="en-US" sz="1800" spc="-1" strike="noStrike">
              <a:solidFill>
                <a:srgbClr val="ffffff"/>
              </a:solidFill>
              <a:latin typeface="Arial"/>
            </a:endParaRPr>
          </a:p>
        </p:txBody>
      </p:sp>
      <p:sp>
        <p:nvSpPr>
          <p:cNvPr id="107" name="PlaceHolder 1"/>
          <p:cNvSpPr>
            <a:spLocks noGrp="1"/>
          </p:cNvSpPr>
          <p:nvPr>
            <p:ph type="title"/>
          </p:nvPr>
        </p:nvSpPr>
        <p:spPr>
          <a:xfrm>
            <a:off x="1097280" y="5074920"/>
            <a:ext cx="10112760" cy="822600"/>
          </a:xfrm>
          <a:prstGeom prst="rect">
            <a:avLst/>
          </a:prstGeom>
          <a:noFill/>
          <a:ln w="0">
            <a:noFill/>
          </a:ln>
        </p:spPr>
        <p:txBody>
          <a:bodyPr lIns="91440" rIns="91440" tIns="0" bIns="0" anchor="b">
            <a:noAutofit/>
          </a:bodyPr>
          <a:p>
            <a:pPr indent="0" defTabSz="914400">
              <a:lnSpc>
                <a:spcPct val="85000"/>
              </a:lnSpc>
              <a:buNone/>
            </a:pPr>
            <a:r>
              <a:rPr b="0" lang="en-US" sz="3600" spc="-52" strike="noStrike">
                <a:solidFill>
                  <a:srgbClr val="ffffff"/>
                </a:solidFill>
                <a:latin typeface="Calibri Light"/>
              </a:rPr>
              <a:t>Click to edit Master title style</a:t>
            </a:r>
            <a:endParaRPr b="0" lang="en-US" sz="3600" spc="-1" strike="noStrike">
              <a:solidFill>
                <a:schemeClr val="dk1"/>
              </a:solidFill>
              <a:latin typeface="Calibri"/>
            </a:endParaRPr>
          </a:p>
        </p:txBody>
      </p:sp>
      <p:sp>
        <p:nvSpPr>
          <p:cNvPr id="108" name="PlaceHolder 2"/>
          <p:cNvSpPr>
            <a:spLocks noGrp="1"/>
          </p:cNvSpPr>
          <p:nvPr>
            <p:ph type="body"/>
          </p:nvPr>
        </p:nvSpPr>
        <p:spPr>
          <a:xfrm>
            <a:off x="0" y="0"/>
            <a:ext cx="12191760" cy="4914720"/>
          </a:xfrm>
          <a:prstGeom prst="rect">
            <a:avLst/>
          </a:prstGeom>
          <a:blipFill rotWithShape="0">
            <a:blip r:embed="rId2"/>
            <a:stretch/>
          </a:blipFill>
          <a:ln w="0">
            <a:noFill/>
          </a:ln>
        </p:spPr>
        <p:txBody>
          <a:bodyPr lIns="457200" rIns="90000" tIns="457200" bIns="45000" anchor="t">
            <a:noAutofit/>
          </a:bodyPr>
          <a:p>
            <a:pPr indent="0" defTabSz="457200">
              <a:lnSpc>
                <a:spcPct val="100000"/>
              </a:lnSpc>
              <a:buNone/>
              <a:tabLst>
                <a:tab algn="l" pos="0"/>
              </a:tabLst>
            </a:pPr>
            <a:r>
              <a:rPr b="0" lang="en-US" sz="3200" spc="-1" strike="noStrike">
                <a:solidFill>
                  <a:schemeClr val="lt1"/>
                </a:solidFill>
                <a:latin typeface="Calibri"/>
              </a:rPr>
              <a:t>Click icon to add picture</a:t>
            </a:r>
            <a:endParaRPr b="0" lang="en-US" sz="3200" spc="-1" strike="noStrike">
              <a:solidFill>
                <a:schemeClr val="dk1">
                  <a:lumMod val="75000"/>
                  <a:lumOff val="25000"/>
                </a:schemeClr>
              </a:solidFill>
              <a:latin typeface="Calibri"/>
            </a:endParaRPr>
          </a:p>
        </p:txBody>
      </p:sp>
      <p:sp>
        <p:nvSpPr>
          <p:cNvPr id="109" name="PlaceHolder 3"/>
          <p:cNvSpPr>
            <a:spLocks noGrp="1"/>
          </p:cNvSpPr>
          <p:nvPr>
            <p:ph type="body"/>
          </p:nvPr>
        </p:nvSpPr>
        <p:spPr>
          <a:xfrm>
            <a:off x="1097280" y="5906880"/>
            <a:ext cx="10112760" cy="594000"/>
          </a:xfrm>
          <a:prstGeom prst="rect">
            <a:avLst/>
          </a:prstGeom>
          <a:noFill/>
          <a:ln w="0">
            <a:noFill/>
          </a:ln>
        </p:spPr>
        <p:txBody>
          <a:bodyPr lIns="91440" rIns="91440" tIns="0" bIns="0" anchor="t">
            <a:normAutofit/>
          </a:bodyPr>
          <a:p>
            <a:pPr indent="0" defTabSz="914400">
              <a:lnSpc>
                <a:spcPct val="90000"/>
              </a:lnSpc>
              <a:spcAft>
                <a:spcPts val="601"/>
              </a:spcAft>
              <a:buNone/>
              <a:tabLst>
                <a:tab algn="l" pos="0"/>
              </a:tabLst>
            </a:pPr>
            <a:r>
              <a:rPr b="0" lang="en-US" sz="1500" spc="-1" strike="noStrike">
                <a:solidFill>
                  <a:srgbClr val="ffffff"/>
                </a:solidFill>
                <a:latin typeface="Calibri"/>
              </a:rPr>
              <a:t>Click to edit Master text styles</a:t>
            </a:r>
            <a:endParaRPr b="0" lang="en-US" sz="1500" spc="-1" strike="noStrike">
              <a:solidFill>
                <a:schemeClr val="dk1">
                  <a:lumMod val="75000"/>
                  <a:lumOff val="25000"/>
                </a:schemeClr>
              </a:solidFill>
              <a:latin typeface="Calibri"/>
            </a:endParaRPr>
          </a:p>
        </p:txBody>
      </p:sp>
      <p:sp>
        <p:nvSpPr>
          <p:cNvPr id="110" name="PlaceHolder 4"/>
          <p:cNvSpPr>
            <a:spLocks noGrp="1"/>
          </p:cNvSpPr>
          <p:nvPr>
            <p:ph type="dt" idx="31"/>
          </p:nvPr>
        </p:nvSpPr>
        <p:spPr>
          <a:xfrm>
            <a:off x="1097280" y="6459840"/>
            <a:ext cx="2471760" cy="364680"/>
          </a:xfrm>
          <a:prstGeom prst="rect">
            <a:avLst/>
          </a:prstGeom>
          <a:noFill/>
          <a:ln w="0">
            <a:noFill/>
          </a:ln>
        </p:spPr>
        <p:txBody>
          <a:bodyPr lIns="91440" rIns="91440" tIns="45720" bIns="45720" anchor="ctr">
            <a:noAutofit/>
          </a:bodyPr>
          <a:lstStyle>
            <a:lvl1pPr indent="0" defTabSz="457200">
              <a:lnSpc>
                <a:spcPct val="100000"/>
              </a:lnSpc>
              <a:buNone/>
              <a:defRPr b="0" lang="it-IT" sz="900" spc="-1" strike="noStrike">
                <a:solidFill>
                  <a:srgbClr val="ffffff"/>
                </a:solidFill>
                <a:latin typeface="Calibri"/>
              </a:defRPr>
            </a:lvl1pPr>
          </a:lstStyle>
          <a:p>
            <a:pPr indent="0" defTabSz="457200">
              <a:lnSpc>
                <a:spcPct val="100000"/>
              </a:lnSpc>
              <a:buNone/>
            </a:pPr>
            <a:r>
              <a:rPr b="0" lang="it-IT" sz="900" spc="-1" strike="noStrike">
                <a:solidFill>
                  <a:srgbClr val="ffffff"/>
                </a:solidFill>
                <a:latin typeface="Calibri"/>
              </a:rPr>
              <a:t>&lt;date/time&gt;</a:t>
            </a:r>
            <a:endParaRPr b="0" lang="en-US" sz="900" spc="-1" strike="noStrike">
              <a:solidFill>
                <a:srgbClr val="000000"/>
              </a:solidFill>
              <a:latin typeface="Times New Roman"/>
            </a:endParaRPr>
          </a:p>
        </p:txBody>
      </p:sp>
      <p:sp>
        <p:nvSpPr>
          <p:cNvPr id="111" name="PlaceHolder 5"/>
          <p:cNvSpPr>
            <a:spLocks noGrp="1"/>
          </p:cNvSpPr>
          <p:nvPr>
            <p:ph type="ftr" idx="32"/>
          </p:nvPr>
        </p:nvSpPr>
        <p:spPr>
          <a:xfrm>
            <a:off x="3686040" y="6459840"/>
            <a:ext cx="482256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2" name="PlaceHolder 6"/>
          <p:cNvSpPr>
            <a:spLocks noGrp="1"/>
          </p:cNvSpPr>
          <p:nvPr>
            <p:ph type="sldNum" idx="33"/>
          </p:nvPr>
        </p:nvSpPr>
        <p:spPr>
          <a:xfrm>
            <a:off x="9900360" y="6459840"/>
            <a:ext cx="1311840" cy="364680"/>
          </a:xfrm>
          <a:prstGeom prst="rect">
            <a:avLst/>
          </a:prstGeom>
          <a:noFill/>
          <a:ln w="0">
            <a:noFill/>
          </a:ln>
        </p:spPr>
        <p:txBody>
          <a:bodyPr lIns="91440" rIns="91440" tIns="45720" bIns="45720" anchor="ctr">
            <a:noAutofit/>
          </a:bodyPr>
          <a:lstStyle>
            <a:lvl1pPr indent="0" algn="r" defTabSz="457200">
              <a:lnSpc>
                <a:spcPct val="100000"/>
              </a:lnSpc>
              <a:buNone/>
              <a:defRPr b="0" lang="it-IT" sz="1050" spc="-1" strike="noStrike">
                <a:solidFill>
                  <a:srgbClr val="ffffff"/>
                </a:solidFill>
                <a:latin typeface="Calibri"/>
              </a:defRPr>
            </a:lvl1pPr>
          </a:lstStyle>
          <a:p>
            <a:pPr indent="0" algn="r" defTabSz="457200">
              <a:lnSpc>
                <a:spcPct val="100000"/>
              </a:lnSpc>
              <a:buNone/>
            </a:pPr>
            <a:fld id="{565E3739-2879-410A-9BB3-63C050842EC9}" type="slidenum">
              <a:rPr b="0" lang="it-IT" sz="1050" spc="-1" strike="noStrike">
                <a:solidFill>
                  <a:srgbClr val="ffffff"/>
                </a:solidFill>
                <a:latin typeface="Calibri"/>
              </a:rPr>
              <a:t>&lt;number&gt;</a:t>
            </a:fld>
            <a:endParaRPr b="0" lang="en-US" sz="105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4.xml"/>
</Relationships>
</file>

<file path=ppt/slides/_rels/slide13.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slideLayout" Target="../slideLayouts/slideLayout4.xml"/>
</Relationships>
</file>

<file path=ppt/slides/_rels/slide15.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image" Target="../media/image20.png"/><Relationship Id="rId3" Type="http://schemas.openxmlformats.org/officeDocument/2006/relationships/slideLayout" Target="../slideLayouts/slideLayout4.xml"/>
</Relationships>
</file>

<file path=ppt/slides/_rels/slide16.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4.xml"/>
</Relationships>
</file>

<file path=ppt/slides/_rels/slide18.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7.png"/><Relationship Id="rId3"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png"/><Relationship Id="rId3" Type="http://schemas.openxmlformats.org/officeDocument/2006/relationships/slideLayout" Target="../slideLayouts/slideLayout4.xml"/>
</Relationships>
</file>

<file path=ppt/slides/_rels/slide22.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slideLayout" Target="../slideLayouts/slideLayout4.xml"/>
</Relationships>
</file>

<file path=ppt/slides/_rels/slide23.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1097280" y="758880"/>
            <a:ext cx="10058040" cy="3565800"/>
          </a:xfrm>
          <a:prstGeom prst="rect">
            <a:avLst/>
          </a:prstGeom>
          <a:noFill/>
          <a:ln w="0">
            <a:noFill/>
          </a:ln>
        </p:spPr>
        <p:txBody>
          <a:bodyPr lIns="91440" rIns="91440" tIns="45720" bIns="45720" anchor="b">
            <a:noAutofit/>
          </a:bodyPr>
          <a:p>
            <a:pPr indent="0" defTabSz="914400">
              <a:lnSpc>
                <a:spcPct val="85000"/>
              </a:lnSpc>
              <a:buNone/>
            </a:pPr>
            <a:r>
              <a:rPr b="0" lang="it-IT" sz="8000" spc="-52" strike="noStrike">
                <a:solidFill>
                  <a:schemeClr val="dk1">
                    <a:lumMod val="85000"/>
                    <a:lumOff val="15000"/>
                  </a:schemeClr>
                </a:solidFill>
                <a:latin typeface="Calibri Light"/>
              </a:rPr>
              <a:t>Parallel Triangle Counting Algorithms</a:t>
            </a:r>
            <a:endParaRPr b="0" lang="en-US" sz="8000" spc="-1" strike="noStrike">
              <a:solidFill>
                <a:schemeClr val="dk1"/>
              </a:solidFill>
              <a:latin typeface="Calibri"/>
            </a:endParaRPr>
          </a:p>
        </p:txBody>
      </p:sp>
      <p:sp>
        <p:nvSpPr>
          <p:cNvPr id="114" name="PlaceHolder 2"/>
          <p:cNvSpPr>
            <a:spLocks noGrp="1"/>
          </p:cNvSpPr>
          <p:nvPr>
            <p:ph type="subTitle"/>
          </p:nvPr>
        </p:nvSpPr>
        <p:spPr>
          <a:xfrm>
            <a:off x="1100160" y="4455720"/>
            <a:ext cx="10058040" cy="1142640"/>
          </a:xfrm>
          <a:prstGeom prst="rect">
            <a:avLst/>
          </a:prstGeom>
          <a:noFill/>
          <a:ln w="0">
            <a:noFill/>
          </a:ln>
        </p:spPr>
        <p:txBody>
          <a:bodyPr lIns="91440" rIns="91440" tIns="45720" bIns="45720" anchor="t">
            <a:noAutofit/>
          </a:bodyPr>
          <a:p>
            <a:pPr indent="0" defTabSz="914400">
              <a:lnSpc>
                <a:spcPct val="90000"/>
              </a:lnSpc>
              <a:spcBef>
                <a:spcPts val="1199"/>
              </a:spcBef>
              <a:spcAft>
                <a:spcPts val="201"/>
              </a:spcAft>
              <a:buNone/>
              <a:tabLst>
                <a:tab algn="l" pos="0"/>
              </a:tabLst>
            </a:pPr>
            <a:r>
              <a:rPr b="0" lang="it-IT" sz="2400" spc="199" strike="noStrike" cap="all">
                <a:solidFill>
                  <a:schemeClr val="dk2"/>
                </a:solidFill>
                <a:latin typeface="Calibri Light"/>
              </a:rPr>
              <a:t>Michele carloni - s338856</a:t>
            </a:r>
            <a:endParaRPr b="0" lang="en-US" sz="2400" spc="-1" strike="noStrike">
              <a:solidFill>
                <a:srgbClr val="000000"/>
              </a:solidFill>
              <a:latin typeface="Arial"/>
            </a:endParaRPr>
          </a:p>
          <a:p>
            <a:pPr indent="0" defTabSz="914400">
              <a:lnSpc>
                <a:spcPct val="90000"/>
              </a:lnSpc>
              <a:spcBef>
                <a:spcPts val="1199"/>
              </a:spcBef>
              <a:spcAft>
                <a:spcPts val="201"/>
              </a:spcAft>
              <a:buNone/>
              <a:tabLst>
                <a:tab algn="l" pos="0"/>
              </a:tabLst>
            </a:pPr>
            <a:r>
              <a:rPr b="0" lang="it-IT" sz="2400" spc="199" strike="noStrike" cap="all">
                <a:solidFill>
                  <a:schemeClr val="dk2"/>
                </a:solidFill>
                <a:latin typeface="Calibri Light"/>
              </a:rPr>
              <a:t>Riccardo revalor – s339423</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it-IT" sz="4800" spc="-52" strike="noStrike">
                <a:solidFill>
                  <a:schemeClr val="dk1">
                    <a:lumMod val="75000"/>
                    <a:lumOff val="25000"/>
                  </a:schemeClr>
                </a:solidFill>
                <a:latin typeface="Calibri Light"/>
              </a:rPr>
              <a:t>Abstract</a:t>
            </a:r>
            <a:endParaRPr b="0" lang="en-US" sz="4800" spc="-1" strike="noStrike">
              <a:solidFill>
                <a:schemeClr val="dk1"/>
              </a:solidFill>
              <a:latin typeface="Calibri"/>
            </a:endParaRPr>
          </a:p>
        </p:txBody>
      </p:sp>
      <p:sp>
        <p:nvSpPr>
          <p:cNvPr id="116" name="PlaceHolder 2"/>
          <p:cNvSpPr>
            <a:spLocks noGrp="1"/>
          </p:cNvSpPr>
          <p:nvPr>
            <p:ph/>
          </p:nvPr>
        </p:nvSpPr>
        <p:spPr>
          <a:xfrm>
            <a:off x="1097280" y="1845720"/>
            <a:ext cx="10058040" cy="4023000"/>
          </a:xfrm>
          <a:prstGeom prst="rect">
            <a:avLst/>
          </a:prstGeom>
          <a:no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it-IT" sz="2000" spc="-1" strike="noStrike">
                <a:solidFill>
                  <a:schemeClr val="dk1">
                    <a:lumMod val="75000"/>
                    <a:lumOff val="25000"/>
                  </a:schemeClr>
                </a:solidFill>
                <a:latin typeface="Calibri"/>
              </a:rPr>
              <a:t>In our research we conducted a </a:t>
            </a:r>
            <a:r>
              <a:rPr b="0" lang="en-US" sz="2000" spc="-1" strike="noStrike">
                <a:solidFill>
                  <a:schemeClr val="dk1">
                    <a:lumMod val="75000"/>
                    <a:lumOff val="25000"/>
                  </a:schemeClr>
                </a:solidFill>
                <a:latin typeface="Calibri"/>
              </a:rPr>
              <a:t>comprehensive analysis of various algorithms for triangle counting in graphs. </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We’ve investigated the </a:t>
            </a:r>
            <a:r>
              <a:rPr b="1" lang="en-US" sz="2000" spc="-1" strike="noStrike">
                <a:solidFill>
                  <a:schemeClr val="dk1">
                    <a:lumMod val="75000"/>
                    <a:lumOff val="25000"/>
                  </a:schemeClr>
                </a:solidFill>
                <a:latin typeface="Calibri"/>
              </a:rPr>
              <a:t>Forward algorithm</a:t>
            </a:r>
            <a:r>
              <a:rPr b="0" lang="en-US" sz="2000" spc="-1" strike="noStrike">
                <a:solidFill>
                  <a:schemeClr val="dk1">
                    <a:lumMod val="75000"/>
                    <a:lumOff val="25000"/>
                  </a:schemeClr>
                </a:solidFill>
                <a:latin typeface="Calibri"/>
              </a:rPr>
              <a:t>, implemented with both node-centric and edge-centric iteration strategies. For each of these, we test two distinct data repre-sentations: an adjacency matrix and an adjacency vector. All Forward algorithm variants are evaluated across </a:t>
            </a:r>
            <a:r>
              <a:rPr b="1" lang="en-US" sz="2000" spc="-1" strike="noStrike">
                <a:solidFill>
                  <a:schemeClr val="dk1">
                    <a:lumMod val="75000"/>
                    <a:lumOff val="25000"/>
                  </a:schemeClr>
                </a:solidFill>
                <a:latin typeface="Calibri"/>
              </a:rPr>
              <a:t>sequential</a:t>
            </a:r>
            <a:r>
              <a:rPr b="0" lang="en-US" sz="2000" spc="-1" strike="noStrike">
                <a:solidFill>
                  <a:schemeClr val="dk1">
                    <a:lumMod val="75000"/>
                    <a:lumOff val="25000"/>
                  </a:schemeClr>
                </a:solidFill>
                <a:latin typeface="Calibri"/>
              </a:rPr>
              <a:t>, </a:t>
            </a:r>
            <a:r>
              <a:rPr b="1" lang="en-US" sz="2000" spc="-1" strike="noStrike">
                <a:solidFill>
                  <a:schemeClr val="dk1">
                    <a:lumMod val="75000"/>
                    <a:lumOff val="25000"/>
                  </a:schemeClr>
                </a:solidFill>
                <a:latin typeface="Calibri"/>
              </a:rPr>
              <a:t>parallel C++ </a:t>
            </a:r>
            <a:r>
              <a:rPr b="0" lang="en-US" sz="2000" spc="-1" strike="noStrike">
                <a:solidFill>
                  <a:schemeClr val="dk1">
                    <a:lumMod val="75000"/>
                    <a:lumOff val="25000"/>
                  </a:schemeClr>
                </a:solidFill>
                <a:latin typeface="Calibri"/>
              </a:rPr>
              <a:t>(CPU threads), and </a:t>
            </a:r>
            <a:r>
              <a:rPr b="1" lang="en-US" sz="2000" spc="-1" strike="noStrike">
                <a:solidFill>
                  <a:schemeClr val="dk1">
                    <a:lumMod val="75000"/>
                    <a:lumOff val="25000"/>
                  </a:schemeClr>
                </a:solidFill>
                <a:latin typeface="Calibri"/>
              </a:rPr>
              <a:t>parallel CUDA </a:t>
            </a:r>
            <a:r>
              <a:rPr b="0" lang="en-US" sz="2000" spc="-1" strike="noStrike">
                <a:solidFill>
                  <a:schemeClr val="dk1">
                    <a:lumMod val="75000"/>
                    <a:lumOff val="25000"/>
                  </a:schemeClr>
                </a:solidFill>
                <a:latin typeface="Calibri"/>
              </a:rPr>
              <a:t>(GPU threads) implementations.</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Furthermore, we explore a third algorithm based on </a:t>
            </a:r>
            <a:r>
              <a:rPr b="1" lang="en-US" sz="2000" spc="-1" strike="noStrike">
                <a:solidFill>
                  <a:schemeClr val="dk1">
                    <a:lumMod val="75000"/>
                    <a:lumOff val="25000"/>
                  </a:schemeClr>
                </a:solidFill>
                <a:latin typeface="Calibri"/>
              </a:rPr>
              <a:t>matrix multiplication</a:t>
            </a:r>
            <a:r>
              <a:rPr b="0" lang="en-US" sz="2000" spc="-1" strike="noStrike">
                <a:solidFill>
                  <a:schemeClr val="dk1">
                    <a:lumMod val="75000"/>
                    <a:lumOff val="25000"/>
                  </a:schemeClr>
                </a:solidFill>
                <a:latin typeface="Calibri"/>
              </a:rPr>
              <a:t>, which is also implemented and benchmarked using both parallel C++ and parallel CUDA approaches. This work provides insights into the performance characteristics and scalability of these diverse methodologies for triangle enumeration.</a:t>
            </a:r>
            <a:endParaRPr b="0" lang="en-US" sz="2000" spc="-1" strike="noStrike">
              <a:solidFill>
                <a:schemeClr val="dk1">
                  <a:lumMod val="75000"/>
                  <a:lumOff val="25000"/>
                </a:schemeClr>
              </a:solidFill>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17" name="Rectangle 103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8" name="PlaceHolder 1"/>
          <p:cNvSpPr>
            <a:spLocks noGrp="1"/>
          </p:cNvSpPr>
          <p:nvPr>
            <p:ph type="title"/>
          </p:nvPr>
        </p:nvSpPr>
        <p:spPr>
          <a:xfrm>
            <a:off x="6411600" y="635040"/>
            <a:ext cx="5126760" cy="1450440"/>
          </a:xfrm>
          <a:prstGeom prst="rect">
            <a:avLst/>
          </a:prstGeom>
          <a:noFill/>
          <a:ln w="0">
            <a:noFill/>
          </a:ln>
        </p:spPr>
        <p:txBody>
          <a:bodyPr lIns="91440" rIns="91440" tIns="45720" bIns="45720" anchor="b">
            <a:normAutofit/>
          </a:bodyPr>
          <a:p>
            <a:pPr indent="0" defTabSz="914400">
              <a:lnSpc>
                <a:spcPct val="85000"/>
              </a:lnSpc>
              <a:buNone/>
            </a:pPr>
            <a:r>
              <a:rPr b="0" lang="it-IT" sz="4800" spc="-52" strike="noStrike">
                <a:solidFill>
                  <a:schemeClr val="dk1">
                    <a:lumMod val="75000"/>
                    <a:lumOff val="25000"/>
                  </a:schemeClr>
                </a:solidFill>
                <a:latin typeface="Calibri Light"/>
              </a:rPr>
              <a:t>The Basics</a:t>
            </a:r>
            <a:endParaRPr b="0" lang="en-US" sz="4800" spc="-1" strike="noStrike">
              <a:solidFill>
                <a:schemeClr val="dk1"/>
              </a:solidFill>
              <a:latin typeface="Calibri"/>
            </a:endParaRPr>
          </a:p>
        </p:txBody>
      </p:sp>
      <p:pic>
        <p:nvPicPr>
          <p:cNvPr id="119" name="Picture 2" descr="Graph definition - Math Insight"/>
          <p:cNvPicPr/>
          <p:nvPr/>
        </p:nvPicPr>
        <p:blipFill>
          <a:blip r:embed="rId1"/>
          <a:stretch/>
        </p:blipFill>
        <p:spPr>
          <a:xfrm>
            <a:off x="643320" y="815760"/>
            <a:ext cx="5451120" cy="4906080"/>
          </a:xfrm>
          <a:prstGeom prst="rect">
            <a:avLst/>
          </a:prstGeom>
          <a:ln w="0">
            <a:noFill/>
          </a:ln>
        </p:spPr>
      </p:pic>
      <p:cxnSp>
        <p:nvCxnSpPr>
          <p:cNvPr id="120" name="Straight Connector 1032">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21" name="PlaceHolder 2"/>
          <p:cNvSpPr>
            <a:spLocks noGrp="1"/>
          </p:cNvSpPr>
          <p:nvPr>
            <p:ph/>
          </p:nvPr>
        </p:nvSpPr>
        <p:spPr>
          <a:xfrm>
            <a:off x="6411600" y="2198880"/>
            <a:ext cx="5126760" cy="3669840"/>
          </a:xfrm>
          <a:prstGeom prst="rect">
            <a:avLst/>
          </a:prstGeom>
          <a:noFill/>
          <a:ln w="0">
            <a:noFill/>
          </a:ln>
        </p:spPr>
        <p:txBody>
          <a:bodyPr lIns="0" rIns="0" tIns="45720" bIns="45720" anchor="t">
            <a:norm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Suppose that we have at our disposal a given graph </a:t>
            </a:r>
            <a:r>
              <a:rPr b="1" lang="en-US" sz="2000" spc="-1" strike="noStrike">
                <a:solidFill>
                  <a:schemeClr val="dk1">
                    <a:lumMod val="75000"/>
                    <a:lumOff val="25000"/>
                  </a:schemeClr>
                </a:solidFill>
                <a:latin typeface="Calibri"/>
              </a:rPr>
              <a:t>G = (V, E )</a:t>
            </a:r>
            <a:r>
              <a:rPr b="0" lang="en-US" sz="2000" spc="-1" strike="noStrike">
                <a:solidFill>
                  <a:schemeClr val="dk1">
                    <a:lumMod val="75000"/>
                    <a:lumOff val="25000"/>
                  </a:schemeClr>
                </a:solidFill>
                <a:latin typeface="Calibri"/>
              </a:rPr>
              <a:t>,</a:t>
            </a:r>
            <a:r>
              <a:rPr b="1" lang="en-US" sz="2000" spc="-1" strike="noStrike">
                <a:solidFill>
                  <a:schemeClr val="dk1">
                    <a:lumMod val="75000"/>
                    <a:lumOff val="25000"/>
                  </a:schemeClr>
                </a:solidFill>
                <a:latin typeface="Calibri"/>
              </a:rPr>
              <a:t> </a:t>
            </a:r>
            <a:r>
              <a:rPr b="0" lang="en-US" sz="2000" spc="-1" strike="noStrike">
                <a:solidFill>
                  <a:schemeClr val="dk1">
                    <a:lumMod val="75000"/>
                    <a:lumOff val="25000"/>
                  </a:schemeClr>
                </a:solidFill>
                <a:latin typeface="Calibri"/>
              </a:rPr>
              <a:t>where G is the graph itself, V denotes the set of all vertices (also called nodes), and E represents the set of edges (also called links or arcs). An edge connects two nodes between them. </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The primary goal is to detect and count the number of triangles that can be formed inside the graph. More specifically, a triangle in graph G = (V, E ) is a set of three distinct vertices </a:t>
            </a:r>
            <a:r>
              <a:rPr b="1" lang="en-US" sz="2000" spc="-1" strike="noStrike">
                <a:solidFill>
                  <a:schemeClr val="dk1">
                    <a:lumMod val="75000"/>
                    <a:lumOff val="25000"/>
                  </a:schemeClr>
                </a:solidFill>
                <a:latin typeface="Calibri"/>
              </a:rPr>
              <a:t>{u, v, w} ⊆ V</a:t>
            </a:r>
            <a:r>
              <a:rPr b="0" lang="en-US" sz="2000" spc="-1" strike="noStrike">
                <a:solidFill>
                  <a:schemeClr val="dk1">
                    <a:lumMod val="75000"/>
                    <a:lumOff val="25000"/>
                  </a:schemeClr>
                </a:solidFill>
                <a:latin typeface="Calibri"/>
              </a:rPr>
              <a:t> such that the edges (u, v), (v, w), and (w, u) all exist in the set of edges E . </a:t>
            </a:r>
            <a:endParaRPr b="0" lang="en-US" sz="2000" spc="-1" strike="noStrike">
              <a:solidFill>
                <a:schemeClr val="dk1">
                  <a:lumMod val="75000"/>
                  <a:lumOff val="25000"/>
                </a:schemeClr>
              </a:solidFill>
              <a:latin typeface="Calibri"/>
            </a:endParaRPr>
          </a:p>
        </p:txBody>
      </p:sp>
      <p:sp>
        <p:nvSpPr>
          <p:cNvPr id="122" name="Rectangle 103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123" name="Rectangle 103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it-IT" sz="4800" spc="-52" strike="noStrike">
                <a:solidFill>
                  <a:schemeClr val="dk1">
                    <a:lumMod val="75000"/>
                    <a:lumOff val="25000"/>
                  </a:schemeClr>
                </a:solidFill>
                <a:latin typeface="Calibri Light"/>
              </a:rPr>
              <a:t>Node Iterator/Forward Node Iteator</a:t>
            </a:r>
            <a:endParaRPr b="0" lang="en-US" sz="4800" spc="-1" strike="noStrike">
              <a:solidFill>
                <a:schemeClr val="dk1"/>
              </a:solidFill>
              <a:latin typeface="Calibri"/>
            </a:endParaRPr>
          </a:p>
        </p:txBody>
      </p:sp>
      <p:sp>
        <p:nvSpPr>
          <p:cNvPr id="125" name="PlaceHolder 2"/>
          <p:cNvSpPr>
            <a:spLocks noGrp="1"/>
          </p:cNvSpPr>
          <p:nvPr>
            <p:ph/>
          </p:nvPr>
        </p:nvSpPr>
        <p:spPr>
          <a:xfrm>
            <a:off x="1097280" y="1845720"/>
            <a:ext cx="10058040" cy="4023000"/>
          </a:xfrm>
          <a:prstGeom prst="rect">
            <a:avLst/>
          </a:prstGeom>
          <a:noFill/>
          <a:ln w="0">
            <a:noFill/>
          </a:ln>
        </p:spPr>
        <p:txBody>
          <a:bodyPr lIns="0" rIns="0" tIns="45720" bIns="45720" anchor="t">
            <a:normAutofit fontScale="97938" lnSpcReduction="10000"/>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The simplest and most naive version of the Node Iterator Algorithm iterates over all nodes in the graph and for each pair of neighbors of each node, checks whether they are connected by an edge and they share a common neighbor. </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We implemented the Forward Algorithm (in various versions: sequential, parallel, CUDA) using these following strategies:</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1) Graph Representation: </a:t>
            </a:r>
            <a:r>
              <a:rPr b="1" lang="en-US" sz="2000" spc="-1" strike="noStrike">
                <a:solidFill>
                  <a:schemeClr val="dk1">
                    <a:lumMod val="75000"/>
                    <a:lumOff val="25000"/>
                  </a:schemeClr>
                </a:solidFill>
                <a:latin typeface="Calibri"/>
              </a:rPr>
              <a:t>adjacency matrices </a:t>
            </a:r>
            <a:r>
              <a:rPr b="0" lang="en-US" sz="2000" spc="-1" strike="noStrike">
                <a:solidFill>
                  <a:schemeClr val="dk1">
                    <a:lumMod val="75000"/>
                    <a:lumOff val="25000"/>
                  </a:schemeClr>
                </a:solidFill>
                <a:latin typeface="Calibri"/>
              </a:rPr>
              <a:t>(implemented as std::vector&lt;std::vector&lt;int») and </a:t>
            </a:r>
            <a:r>
              <a:rPr b="1" lang="en-US" sz="2000" spc="-1" strike="noStrike">
                <a:solidFill>
                  <a:schemeClr val="dk1">
                    <a:lumMod val="75000"/>
                    <a:lumOff val="25000"/>
                  </a:schemeClr>
                </a:solidFill>
                <a:latin typeface="Calibri"/>
              </a:rPr>
              <a:t>adjacency lists </a:t>
            </a:r>
            <a:r>
              <a:rPr b="0" lang="en-US" sz="2000" spc="-1" strike="noStrike">
                <a:solidFill>
                  <a:schemeClr val="dk1">
                    <a:lumMod val="75000"/>
                    <a:lumOff val="25000"/>
                  </a:schemeClr>
                </a:solidFill>
                <a:latin typeface="Calibri"/>
              </a:rPr>
              <a:t>(implemented as std::map&lt;int,std::vector&lt;int» to handle potentially sparse or non-contiguous node IDs).</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2) Auxiliary Sets: used to store a specific subset of neighbors for each node (std::vector&lt;std::set&lt;int»). Intersected to </a:t>
            </a:r>
            <a:r>
              <a:rPr b="1" lang="en-US" sz="2000" spc="-1" strike="noStrike">
                <a:solidFill>
                  <a:schemeClr val="dk1">
                    <a:lumMod val="75000"/>
                    <a:lumOff val="25000"/>
                  </a:schemeClr>
                </a:solidFill>
                <a:latin typeface="Calibri"/>
              </a:rPr>
              <a:t>identify the third vertex </a:t>
            </a:r>
            <a:r>
              <a:rPr b="0" lang="en-US" sz="2000" spc="-1" strike="noStrike">
                <a:solidFill>
                  <a:schemeClr val="dk1">
                    <a:lumMod val="75000"/>
                    <a:lumOff val="25000"/>
                  </a:schemeClr>
                </a:solidFill>
                <a:latin typeface="Calibri"/>
              </a:rPr>
              <a:t>composing each triangle.</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3) Ordering/Rank: crucial for </a:t>
            </a:r>
            <a:r>
              <a:rPr b="1" lang="en-US" sz="2000" spc="-1" strike="noStrike">
                <a:solidFill>
                  <a:schemeClr val="dk1">
                    <a:lumMod val="75000"/>
                    <a:lumOff val="25000"/>
                  </a:schemeClr>
                </a:solidFill>
                <a:latin typeface="Calibri"/>
              </a:rPr>
              <a:t>pruning</a:t>
            </a:r>
            <a:r>
              <a:rPr b="0" lang="en-US" sz="2000" spc="-1" strike="noStrike">
                <a:solidFill>
                  <a:schemeClr val="dk1">
                    <a:lumMod val="75000"/>
                    <a:lumOff val="25000"/>
                  </a:schemeClr>
                </a:solidFill>
                <a:latin typeface="Calibri"/>
              </a:rPr>
              <a:t> and to guarantee that each triangle is </a:t>
            </a:r>
            <a:r>
              <a:rPr b="1" lang="en-US" sz="2000" spc="-1" strike="noStrike">
                <a:solidFill>
                  <a:schemeClr val="dk1">
                    <a:lumMod val="75000"/>
                    <a:lumOff val="25000"/>
                  </a:schemeClr>
                </a:solidFill>
                <a:latin typeface="Calibri"/>
              </a:rPr>
              <a:t>counted exactly once</a:t>
            </a:r>
            <a:endParaRPr b="0" lang="en-US" sz="2000" spc="-1" strike="noStrike">
              <a:solidFill>
                <a:schemeClr val="dk1">
                  <a:lumMod val="75000"/>
                  <a:lumOff val="25000"/>
                </a:schemeClr>
              </a:solidFill>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it-IT" sz="4800" spc="-52" strike="noStrike">
                <a:solidFill>
                  <a:schemeClr val="dk1">
                    <a:lumMod val="75000"/>
                    <a:lumOff val="25000"/>
                  </a:schemeClr>
                </a:solidFill>
                <a:latin typeface="Calibri Light"/>
              </a:rPr>
              <a:t>Parallel (C++) Forward Node Iteator Algorithm, V1 </a:t>
            </a:r>
            <a:endParaRPr b="0" lang="en-US" sz="4800" spc="-1" strike="noStrike">
              <a:solidFill>
                <a:schemeClr val="dk1"/>
              </a:solidFill>
              <a:latin typeface="Calibri"/>
            </a:endParaRPr>
          </a:p>
        </p:txBody>
      </p:sp>
      <p:sp>
        <p:nvSpPr>
          <p:cNvPr id="127" name="TextBox 8"/>
          <p:cNvSpPr/>
          <p:nvPr/>
        </p:nvSpPr>
        <p:spPr>
          <a:xfrm>
            <a:off x="1097280" y="1870920"/>
            <a:ext cx="10058040" cy="1461240"/>
          </a:xfrm>
          <a:prstGeom prst="rect">
            <a:avLst/>
          </a:prstGeom>
          <a:noFill/>
          <a:ln w="0">
            <a:noFill/>
          </a:ln>
        </p:spPr>
        <p:style>
          <a:lnRef idx="0"/>
          <a:fillRef idx="0"/>
          <a:effectRef idx="0"/>
          <a:fontRef idx="minor"/>
        </p:style>
        <p:txBody>
          <a:bodyPr lIns="90000" rIns="90000" tIns="45000" bIns="45000" anchor="t">
            <a:spAutoFit/>
          </a:bodyPr>
          <a:p>
            <a:pPr marL="285840" indent="-285840" algn="just" defTabSz="457200">
              <a:lnSpc>
                <a:spcPct val="100000"/>
              </a:lnSpc>
              <a:buClr>
                <a:srgbClr val="000000"/>
              </a:buClr>
              <a:buFont typeface="Arial"/>
              <a:buChar char="•"/>
            </a:pPr>
            <a:r>
              <a:rPr b="0" lang="it-IT" sz="1800" spc="-1" strike="noStrike">
                <a:solidFill>
                  <a:schemeClr val="dk1"/>
                </a:solidFill>
                <a:latin typeface="Calibri"/>
              </a:rPr>
              <a:t>In the </a:t>
            </a:r>
            <a:r>
              <a:rPr b="1" lang="it-IT" sz="1800" spc="-1" strike="noStrike">
                <a:solidFill>
                  <a:schemeClr val="dk1"/>
                </a:solidFill>
                <a:latin typeface="Calibri"/>
              </a:rPr>
              <a:t>first version </a:t>
            </a:r>
            <a:r>
              <a:rPr b="0" lang="it-IT" sz="1800" spc="-1" strike="noStrike">
                <a:solidFill>
                  <a:schemeClr val="dk1"/>
                </a:solidFill>
                <a:latin typeface="Calibri"/>
              </a:rPr>
              <a:t>of the algorithm, more naive and simple case, the part that gets parallelized is the For-ward algorithm function. More in detail, the outer loopthat iterates through the nodes in the ordered list is still sequential, running N times, but the iteration overeach node neighbors t is parallelized: this is achievedby dividing the neighbors of s into chunks, with eachchunk processed by a separate worker thread usingstd::async.</a:t>
            </a:r>
            <a:endParaRPr b="0" lang="en-US" sz="1800" spc="-1" strike="noStrike">
              <a:solidFill>
                <a:srgbClr val="000000"/>
              </a:solidFill>
              <a:latin typeface="Arial"/>
            </a:endParaRPr>
          </a:p>
        </p:txBody>
      </p:sp>
      <p:pic>
        <p:nvPicPr>
          <p:cNvPr id="128" name="Picture 10" descr="A graph with a red line&#10;&#10;AI-generated content may be incorrect."/>
          <p:cNvPicPr/>
          <p:nvPr/>
        </p:nvPicPr>
        <p:blipFill>
          <a:blip r:embed="rId1"/>
          <a:stretch/>
        </p:blipFill>
        <p:spPr>
          <a:xfrm>
            <a:off x="158760" y="3056760"/>
            <a:ext cx="5552280" cy="3331080"/>
          </a:xfrm>
          <a:prstGeom prst="rect">
            <a:avLst/>
          </a:prstGeom>
          <a:ln w="0">
            <a:noFill/>
          </a:ln>
        </p:spPr>
      </p:pic>
      <p:sp>
        <p:nvSpPr>
          <p:cNvPr id="129" name="TextBox 12"/>
          <p:cNvSpPr/>
          <p:nvPr/>
        </p:nvSpPr>
        <p:spPr>
          <a:xfrm>
            <a:off x="5547240" y="3701520"/>
            <a:ext cx="6095520" cy="1735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800" spc="-1" strike="noStrike">
                <a:solidFill>
                  <a:schemeClr val="dk1"/>
                </a:solidFill>
                <a:latin typeface="Calibri"/>
              </a:rPr>
              <a:t>Using multiple threads with mutexes to operate on shared data is often counterproductive. The </a:t>
            </a:r>
            <a:r>
              <a:rPr b="1" lang="en-US" sz="1800" spc="-1" strike="noStrike">
                <a:solidFill>
                  <a:schemeClr val="dk1"/>
                </a:solidFill>
                <a:latin typeface="Calibri"/>
              </a:rPr>
              <a:t>mutexes</a:t>
            </a:r>
            <a:r>
              <a:rPr b="0" lang="en-US" sz="1800" spc="-1" strike="noStrike">
                <a:solidFill>
                  <a:schemeClr val="dk1"/>
                </a:solidFill>
                <a:latin typeface="Calibri"/>
              </a:rPr>
              <a:t> force the operations to run </a:t>
            </a:r>
            <a:r>
              <a:rPr b="1" lang="en-US" sz="1800" spc="-1" strike="noStrike">
                <a:solidFill>
                  <a:schemeClr val="dk1"/>
                </a:solidFill>
                <a:latin typeface="Calibri"/>
              </a:rPr>
              <a:t>one after another</a:t>
            </a:r>
            <a:r>
              <a:rPr b="0" lang="en-US" sz="1800" spc="-1" strike="noStrike">
                <a:solidFill>
                  <a:schemeClr val="dk1"/>
                </a:solidFill>
                <a:latin typeface="Calibri"/>
              </a:rPr>
              <a:t> (serially), which eliminates the speed advantage of using parallel threads. Also, the process of creating and managing the threads adds its own </a:t>
            </a:r>
            <a:r>
              <a:rPr b="1" lang="en-US" sz="1800" spc="-1" strike="noStrike">
                <a:solidFill>
                  <a:schemeClr val="dk1"/>
                </a:solidFill>
                <a:latin typeface="Calibri"/>
              </a:rPr>
              <a:t>computational overhead</a:t>
            </a:r>
            <a:r>
              <a:rPr b="0" lang="en-US" sz="1800" spc="-1" strike="noStrike">
                <a:solidFill>
                  <a:schemeClr val="dk1"/>
                </a:solidFill>
                <a:latin typeface="Calibri"/>
              </a:rPr>
              <a:t>, further slowing down the entire process.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30" name="Rectangle 24">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1" name="PlaceHolder 1"/>
          <p:cNvSpPr>
            <a:spLocks noGrp="1"/>
          </p:cNvSpPr>
          <p:nvPr>
            <p:ph type="title"/>
          </p:nvPr>
        </p:nvSpPr>
        <p:spPr>
          <a:xfrm>
            <a:off x="4703400" y="635040"/>
            <a:ext cx="6845760" cy="1450440"/>
          </a:xfrm>
          <a:prstGeom prst="rect">
            <a:avLst/>
          </a:prstGeom>
          <a:noFill/>
          <a:ln w="0">
            <a:noFill/>
          </a:ln>
        </p:spPr>
        <p:txBody>
          <a:bodyPr lIns="91440" rIns="91440" tIns="45720" bIns="45720" anchor="b">
            <a:normAutofit fontScale="93560"/>
          </a:bodyPr>
          <a:p>
            <a:pPr indent="0" defTabSz="914400">
              <a:lnSpc>
                <a:spcPct val="85000"/>
              </a:lnSpc>
              <a:buNone/>
            </a:pPr>
            <a:r>
              <a:rPr b="0" lang="en-US" sz="3700" spc="-52" strike="noStrike">
                <a:solidFill>
                  <a:schemeClr val="dk1">
                    <a:lumMod val="75000"/>
                    <a:lumOff val="25000"/>
                  </a:schemeClr>
                </a:solidFill>
                <a:latin typeface="Calibri Light"/>
              </a:rPr>
              <a:t>Parallel (C++) Forward Node Iteator Algorithm, V3 (Final Version) </a:t>
            </a:r>
            <a:endParaRPr b="0" lang="en-US" sz="3700" spc="-1" strike="noStrike">
              <a:solidFill>
                <a:schemeClr val="dk1"/>
              </a:solidFill>
              <a:latin typeface="Calibri"/>
            </a:endParaRPr>
          </a:p>
        </p:txBody>
      </p:sp>
      <p:pic>
        <p:nvPicPr>
          <p:cNvPr id="132" name="Picture 6" descr="A graph with red line&#10;&#10;AI-generated content may be incorrect."/>
          <p:cNvPicPr/>
          <p:nvPr/>
        </p:nvPicPr>
        <p:blipFill>
          <a:blip r:embed="rId1"/>
          <a:srcRect l="0" t="0" r="2583" b="0"/>
          <a:stretch/>
        </p:blipFill>
        <p:spPr>
          <a:xfrm>
            <a:off x="532800" y="-51120"/>
            <a:ext cx="3637800" cy="2240280"/>
          </a:xfrm>
          <a:prstGeom prst="rect">
            <a:avLst/>
          </a:prstGeom>
          <a:ln w="0">
            <a:noFill/>
          </a:ln>
        </p:spPr>
      </p:pic>
      <p:cxnSp>
        <p:nvCxnSpPr>
          <p:cNvPr id="133" name="Straight Connector 26">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34" name="Picture 8" descr="A graph with red line&#10;&#10;AI-generated content may be incorrect."/>
          <p:cNvPicPr/>
          <p:nvPr/>
        </p:nvPicPr>
        <p:blipFill>
          <a:blip r:embed="rId2"/>
          <a:srcRect l="0" t="0" r="2583" b="0"/>
          <a:stretch/>
        </p:blipFill>
        <p:spPr>
          <a:xfrm>
            <a:off x="411840" y="2085840"/>
            <a:ext cx="3810600" cy="2346840"/>
          </a:xfrm>
          <a:prstGeom prst="rect">
            <a:avLst/>
          </a:prstGeom>
          <a:ln w="0">
            <a:noFill/>
          </a:ln>
        </p:spPr>
      </p:pic>
      <p:pic>
        <p:nvPicPr>
          <p:cNvPr id="135" name="Picture 10" descr=""/>
          <p:cNvPicPr/>
          <p:nvPr/>
        </p:nvPicPr>
        <p:blipFill>
          <a:blip r:embed="rId3"/>
          <a:stretch/>
        </p:blipFill>
        <p:spPr>
          <a:xfrm>
            <a:off x="467640" y="4329360"/>
            <a:ext cx="3767760" cy="2071080"/>
          </a:xfrm>
          <a:prstGeom prst="rect">
            <a:avLst/>
          </a:prstGeom>
          <a:ln w="0">
            <a:noFill/>
          </a:ln>
        </p:spPr>
      </p:pic>
      <p:sp>
        <p:nvSpPr>
          <p:cNvPr id="136" name="TextBox 4"/>
          <p:cNvSpPr/>
          <p:nvPr/>
        </p:nvSpPr>
        <p:spPr>
          <a:xfrm>
            <a:off x="4701600" y="2198880"/>
            <a:ext cx="6847560" cy="3669840"/>
          </a:xfrm>
          <a:prstGeom prst="rect">
            <a:avLst/>
          </a:prstGeom>
          <a:noFill/>
          <a:ln w="0">
            <a:noFill/>
          </a:ln>
        </p:spPr>
        <p:style>
          <a:lnRef idx="0"/>
          <a:fillRef idx="0"/>
          <a:effectRef idx="0"/>
          <a:fontRef idx="minor"/>
        </p:style>
        <p:txBody>
          <a:bodyPr lIns="0" rIns="0" anchor="t">
            <a:normAutofit/>
          </a:bodyPr>
          <a:p>
            <a:pPr defTabSz="914400">
              <a:lnSpc>
                <a:spcPct val="90000"/>
              </a:lnSpc>
              <a:spcAft>
                <a:spcPts val="601"/>
              </a:spcAft>
            </a:pPr>
            <a:r>
              <a:rPr b="0" lang="en-US" sz="1700" spc="-1" strike="noStrike">
                <a:solidFill>
                  <a:schemeClr val="dk1">
                    <a:lumMod val="75000"/>
                    <a:lumOff val="25000"/>
                  </a:schemeClr>
                </a:solidFill>
                <a:latin typeface="Calibri"/>
              </a:rPr>
              <a:t>The final version of our algorithm is the most efficient and scalable. Amdahl’s Law states that the speedup of a program from parallelization is limited by the sequential fraction ofthe program. </a:t>
            </a:r>
            <a:r>
              <a:rPr b="1" lang="en-US" sz="1700" spc="-1" strike="noStrike">
                <a:solidFill>
                  <a:schemeClr val="dk1">
                    <a:lumMod val="75000"/>
                    <a:lumOff val="25000"/>
                  </a:schemeClr>
                </a:solidFill>
                <a:latin typeface="Calibri"/>
              </a:rPr>
              <a:t>The new algorithm has a much smaller sequential fraction.</a:t>
            </a:r>
            <a:endParaRPr b="0" lang="en-US" sz="1700" spc="-1" strike="noStrike">
              <a:solidFill>
                <a:srgbClr val="000000"/>
              </a:solidFill>
              <a:latin typeface="Arial"/>
            </a:endParaRPr>
          </a:p>
          <a:p>
            <a:pPr defTabSz="914400">
              <a:lnSpc>
                <a:spcPct val="90000"/>
              </a:lnSpc>
              <a:spcAft>
                <a:spcPts val="601"/>
              </a:spcAft>
            </a:pPr>
            <a:r>
              <a:rPr b="0" lang="en-US" sz="1700" spc="-1" strike="noStrike">
                <a:solidFill>
                  <a:schemeClr val="dk1">
                    <a:lumMod val="75000"/>
                    <a:lumOff val="25000"/>
                  </a:schemeClr>
                </a:solidFill>
                <a:latin typeface="Calibri"/>
              </a:rPr>
              <a:t>We resorted to C++ std::async tasks, and </a:t>
            </a:r>
            <a:r>
              <a:rPr b="1" lang="en-US" sz="1700" spc="-1" strike="noStrike">
                <a:solidFill>
                  <a:schemeClr val="dk1">
                    <a:lumMod val="75000"/>
                    <a:lumOff val="25000"/>
                  </a:schemeClr>
                </a:solidFill>
                <a:latin typeface="Calibri"/>
              </a:rPr>
              <a:t>thread-local counts</a:t>
            </a:r>
            <a:r>
              <a:rPr b="0" lang="en-US" sz="1700" spc="-1" strike="noStrike">
                <a:solidFill>
                  <a:schemeClr val="dk1">
                    <a:lumMod val="75000"/>
                    <a:lumOff val="25000"/>
                  </a:schemeClr>
                </a:solidFill>
                <a:latin typeface="Calibri"/>
              </a:rPr>
              <a:t> were used to eliminate contention between them (mutexes not needed anymore). The core algorithm was also rewritten using std::unordered_set, which dramatically improved data lookup speeds from O(logN) to an average of </a:t>
            </a:r>
            <a:r>
              <a:rPr b="1" lang="en-US" sz="1700" spc="-1" strike="noStrike">
                <a:solidFill>
                  <a:schemeClr val="dk1">
                    <a:lumMod val="75000"/>
                    <a:lumOff val="25000"/>
                  </a:schemeClr>
                </a:solidFill>
                <a:latin typeface="Calibri"/>
              </a:rPr>
              <a:t>O(1)</a:t>
            </a:r>
            <a:r>
              <a:rPr b="0" lang="en-US" sz="1700" spc="-1" strike="noStrike">
                <a:solidFill>
                  <a:schemeClr val="dk1">
                    <a:lumMod val="75000"/>
                    <a:lumOff val="25000"/>
                  </a:schemeClr>
                </a:solidFill>
                <a:latin typeface="Calibri"/>
              </a:rPr>
              <a:t> and made memory usage more efficient.</a:t>
            </a:r>
            <a:endParaRPr b="0" lang="en-US" sz="1700" spc="-1" strike="noStrike">
              <a:solidFill>
                <a:srgbClr val="000000"/>
              </a:solidFill>
              <a:latin typeface="Arial"/>
            </a:endParaRPr>
          </a:p>
          <a:p>
            <a:pPr defTabSz="914400">
              <a:lnSpc>
                <a:spcPct val="90000"/>
              </a:lnSpc>
              <a:spcAft>
                <a:spcPts val="601"/>
              </a:spcAft>
            </a:pPr>
            <a:r>
              <a:rPr b="0" lang="en-US" sz="1700" spc="-1" strike="noStrike">
                <a:solidFill>
                  <a:schemeClr val="dk1">
                    <a:lumMod val="75000"/>
                    <a:lumOff val="25000"/>
                  </a:schemeClr>
                </a:solidFill>
                <a:latin typeface="Calibri"/>
              </a:rPr>
              <a:t>We immediately see the scalability issues are solved: if we increase the thread number, the execution time always gets lower. This also represents a substantial performance gain over the V2 version, with a time reduction of approximately </a:t>
            </a:r>
            <a:r>
              <a:rPr b="1" lang="en-US" sz="1700" spc="-1" strike="noStrike">
                <a:solidFill>
                  <a:schemeClr val="dk1">
                    <a:lumMod val="75000"/>
                    <a:lumOff val="25000"/>
                  </a:schemeClr>
                </a:solidFill>
                <a:latin typeface="Calibri"/>
              </a:rPr>
              <a:t>82-89%</a:t>
            </a:r>
            <a:r>
              <a:rPr b="0" lang="en-US" sz="1700" spc="-1" strike="noStrike">
                <a:solidFill>
                  <a:schemeClr val="dk1">
                    <a:lumMod val="75000"/>
                    <a:lumOff val="25000"/>
                  </a:schemeClr>
                </a:solidFill>
                <a:latin typeface="Calibri"/>
              </a:rPr>
              <a:t> observed across all thread configurations for a 10k node graph.</a:t>
            </a:r>
            <a:endParaRPr b="0" lang="en-US" sz="1700" spc="-1" strike="noStrike">
              <a:solidFill>
                <a:srgbClr val="000000"/>
              </a:solidFill>
              <a:latin typeface="Arial"/>
            </a:endParaRPr>
          </a:p>
        </p:txBody>
      </p:sp>
      <p:sp>
        <p:nvSpPr>
          <p:cNvPr id="137" name="Rectangle 2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138" name="Rectangle 3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39" name="Rectangle 21">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0" name="PlaceHolder 1"/>
          <p:cNvSpPr>
            <a:spLocks noGrp="1"/>
          </p:cNvSpPr>
          <p:nvPr>
            <p:ph type="title"/>
          </p:nvPr>
        </p:nvSpPr>
        <p:spPr>
          <a:xfrm>
            <a:off x="5144760" y="635040"/>
            <a:ext cx="6404760" cy="1450440"/>
          </a:xfrm>
          <a:prstGeom prst="rect">
            <a:avLst/>
          </a:prstGeom>
          <a:noFill/>
          <a:ln w="0">
            <a:noFill/>
          </a:ln>
        </p:spPr>
        <p:txBody>
          <a:bodyPr lIns="91440" rIns="91440" tIns="45720" bIns="45720" anchor="b">
            <a:normAutofit fontScale="87308" lnSpcReduction="20000"/>
          </a:bodyPr>
          <a:p>
            <a:pPr indent="0" defTabSz="914400">
              <a:lnSpc>
                <a:spcPct val="85000"/>
              </a:lnSpc>
              <a:buNone/>
            </a:pPr>
            <a:r>
              <a:rPr b="0" lang="en-US" sz="4800" spc="-52" strike="noStrike">
                <a:solidFill>
                  <a:schemeClr val="dk1">
                    <a:lumMod val="75000"/>
                    <a:lumOff val="25000"/>
                  </a:schemeClr>
                </a:solidFill>
                <a:latin typeface="Calibri Light"/>
              </a:rPr>
              <a:t>Node Iterator Algorithms, final comparison </a:t>
            </a:r>
            <a:endParaRPr b="0" lang="en-US" sz="4800" spc="-1" strike="noStrike">
              <a:solidFill>
                <a:schemeClr val="dk1"/>
              </a:solidFill>
              <a:latin typeface="Calibri"/>
            </a:endParaRPr>
          </a:p>
        </p:txBody>
      </p:sp>
      <p:pic>
        <p:nvPicPr>
          <p:cNvPr id="141" name="Picture 9" descr=""/>
          <p:cNvPicPr/>
          <p:nvPr/>
        </p:nvPicPr>
        <p:blipFill>
          <a:blip r:embed="rId1"/>
          <a:stretch/>
        </p:blipFill>
        <p:spPr>
          <a:xfrm>
            <a:off x="5290920" y="3026160"/>
            <a:ext cx="5632200" cy="3492000"/>
          </a:xfrm>
          <a:prstGeom prst="rect">
            <a:avLst/>
          </a:prstGeom>
          <a:ln w="0">
            <a:noFill/>
          </a:ln>
        </p:spPr>
      </p:pic>
      <p:cxnSp>
        <p:nvCxnSpPr>
          <p:cNvPr id="142" name="Straight Connector 23">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43" name="Picture 7" descr=""/>
          <p:cNvPicPr/>
          <p:nvPr/>
        </p:nvPicPr>
        <p:blipFill>
          <a:blip r:embed="rId2"/>
          <a:stretch/>
        </p:blipFill>
        <p:spPr>
          <a:xfrm>
            <a:off x="76680" y="122400"/>
            <a:ext cx="4941720" cy="3100680"/>
          </a:xfrm>
          <a:prstGeom prst="rect">
            <a:avLst/>
          </a:prstGeom>
          <a:ln w="0">
            <a:noFill/>
          </a:ln>
        </p:spPr>
      </p:pic>
      <p:sp>
        <p:nvSpPr>
          <p:cNvPr id="144" name="TextBox 5"/>
          <p:cNvSpPr/>
          <p:nvPr/>
        </p:nvSpPr>
        <p:spPr>
          <a:xfrm>
            <a:off x="5144760" y="2198880"/>
            <a:ext cx="6404760" cy="3669840"/>
          </a:xfrm>
          <a:prstGeom prst="rect">
            <a:avLst/>
          </a:prstGeom>
          <a:noFill/>
          <a:ln w="0">
            <a:noFill/>
          </a:ln>
        </p:spPr>
        <p:style>
          <a:lnRef idx="0"/>
          <a:fillRef idx="0"/>
          <a:effectRef idx="0"/>
          <a:fontRef idx="minor"/>
        </p:style>
        <p:txBody>
          <a:bodyPr lIns="0" rIns="0" anchor="t">
            <a:normAutofit/>
          </a:bodyPr>
          <a:p>
            <a:pPr defTabSz="914400">
              <a:lnSpc>
                <a:spcPct val="90000"/>
              </a:lnSpc>
              <a:spcAft>
                <a:spcPts val="601"/>
              </a:spcAft>
            </a:pPr>
            <a:r>
              <a:rPr b="1" lang="en-US" sz="1800" spc="-1" strike="noStrike">
                <a:solidFill>
                  <a:schemeClr val="dk1">
                    <a:lumMod val="75000"/>
                    <a:lumOff val="25000"/>
                  </a:schemeClr>
                </a:solidFill>
                <a:latin typeface="Calibri"/>
              </a:rPr>
              <a:t>The final version of the Node Iterator (Forward) algorithm always beats the sequential version, and if we add up more threads, the speedup keeps increasing.</a:t>
            </a:r>
            <a:endParaRPr b="0" lang="en-US" sz="1800" spc="-1" strike="noStrike">
              <a:solidFill>
                <a:srgbClr val="000000"/>
              </a:solidFill>
              <a:latin typeface="Arial"/>
            </a:endParaRPr>
          </a:p>
        </p:txBody>
      </p:sp>
      <p:sp>
        <p:nvSpPr>
          <p:cNvPr id="145" name="Rectangle 25">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146" name="Rectangle 2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pic>
        <p:nvPicPr>
          <p:cNvPr id="147" name="Picture 13" descr=""/>
          <p:cNvPicPr/>
          <p:nvPr/>
        </p:nvPicPr>
        <p:blipFill>
          <a:blip r:embed="rId3"/>
          <a:stretch/>
        </p:blipFill>
        <p:spPr>
          <a:xfrm>
            <a:off x="521640" y="3498480"/>
            <a:ext cx="1195920" cy="853200"/>
          </a:xfrm>
          <a:prstGeom prst="rect">
            <a:avLst/>
          </a:prstGeom>
          <a:ln w="0">
            <a:noFill/>
          </a:ln>
        </p:spPr>
      </p:pic>
      <p:pic>
        <p:nvPicPr>
          <p:cNvPr id="148" name="Picture 17" descr=""/>
          <p:cNvPicPr/>
          <p:nvPr/>
        </p:nvPicPr>
        <p:blipFill>
          <a:blip r:embed="rId4"/>
          <a:stretch/>
        </p:blipFill>
        <p:spPr>
          <a:xfrm>
            <a:off x="521640" y="4627440"/>
            <a:ext cx="2041920" cy="815040"/>
          </a:xfrm>
          <a:prstGeom prst="rect">
            <a:avLst/>
          </a:prstGeom>
          <a:ln w="0">
            <a:noFill/>
          </a:ln>
        </p:spPr>
      </p:pic>
      <p:sp>
        <p:nvSpPr>
          <p:cNvPr id="149" name="TextBox 18"/>
          <p:cNvSpPr/>
          <p:nvPr/>
        </p:nvSpPr>
        <p:spPr>
          <a:xfrm>
            <a:off x="1857240" y="3925440"/>
            <a:ext cx="106344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it-IT" sz="1800" spc="-1" strike="noStrike">
                <a:solidFill>
                  <a:schemeClr val="dk1"/>
                </a:solidFill>
                <a:latin typeface="Calibri"/>
              </a:rPr>
              <a:t>Speed-up</a:t>
            </a:r>
            <a:endParaRPr b="0" lang="en-US" sz="1800" spc="-1" strike="noStrike">
              <a:solidFill>
                <a:srgbClr val="000000"/>
              </a:solidFill>
              <a:latin typeface="Arial"/>
            </a:endParaRPr>
          </a:p>
        </p:txBody>
      </p:sp>
      <p:sp>
        <p:nvSpPr>
          <p:cNvPr id="150" name="TextBox 19"/>
          <p:cNvSpPr/>
          <p:nvPr/>
        </p:nvSpPr>
        <p:spPr>
          <a:xfrm>
            <a:off x="2664360" y="4973760"/>
            <a:ext cx="274428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it-IT" sz="1800" spc="-1" strike="noStrike">
                <a:solidFill>
                  <a:schemeClr val="dk1"/>
                </a:solidFill>
                <a:latin typeface="Calibri"/>
              </a:rPr>
              <a:t>Efficiency (p = numThreads)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it-IT" sz="4800" spc="-52" strike="noStrike">
                <a:solidFill>
                  <a:schemeClr val="dk1">
                    <a:lumMod val="75000"/>
                    <a:lumOff val="25000"/>
                  </a:schemeClr>
                </a:solidFill>
                <a:latin typeface="Calibri Light"/>
              </a:rPr>
              <a:t>CUDA Parallel Forward Node Algorithm V1</a:t>
            </a:r>
            <a:endParaRPr b="0" lang="en-US" sz="4800" spc="-1" strike="noStrike">
              <a:solidFill>
                <a:schemeClr val="dk1"/>
              </a:solidFill>
              <a:latin typeface="Calibri"/>
            </a:endParaRPr>
          </a:p>
        </p:txBody>
      </p:sp>
      <p:sp>
        <p:nvSpPr>
          <p:cNvPr id="152" name="TextBox 4"/>
          <p:cNvSpPr/>
          <p:nvPr/>
        </p:nvSpPr>
        <p:spPr>
          <a:xfrm>
            <a:off x="1097280" y="1809000"/>
            <a:ext cx="10058040" cy="338148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800" spc="-1" strike="noStrike">
                <a:solidFill>
                  <a:schemeClr val="dk1"/>
                </a:solidFill>
                <a:latin typeface="Calibri"/>
              </a:rPr>
              <a:t>The Forward Algorithm was adapted to run on GPUs using CUDA, leveraging their </a:t>
            </a:r>
            <a:r>
              <a:rPr b="1" lang="en-US" sz="1800" spc="-1" strike="noStrike">
                <a:solidFill>
                  <a:schemeClr val="dk1"/>
                </a:solidFill>
                <a:latin typeface="Calibri"/>
              </a:rPr>
              <a:t>massive parallelism</a:t>
            </a:r>
            <a:r>
              <a:rPr b="0" lang="en-US" sz="1800" spc="-1" strike="noStrike">
                <a:solidFill>
                  <a:schemeClr val="dk1"/>
                </a:solidFill>
                <a:latin typeface="Calibri"/>
              </a:rPr>
              <a:t> to significantly speed up processing for large graphs. To achieve this, the graph's data is converted into a GPU-optimized </a:t>
            </a:r>
            <a:r>
              <a:rPr b="1" lang="en-US" sz="1800" spc="-1" strike="noStrike">
                <a:solidFill>
                  <a:schemeClr val="dk1"/>
                </a:solidFill>
                <a:latin typeface="Calibri"/>
              </a:rPr>
              <a:t>Compressed Row Storage (CRS)</a:t>
            </a:r>
            <a:r>
              <a:rPr b="0" lang="en-US" sz="1800" spc="-1" strike="noStrike">
                <a:solidFill>
                  <a:schemeClr val="dk1"/>
                </a:solidFill>
                <a:latin typeface="Calibri"/>
              </a:rPr>
              <a:t> format. This dense storage format is well suited for </a:t>
            </a:r>
            <a:r>
              <a:rPr b="1" lang="en-US" sz="1800" spc="-1" strike="noStrike">
                <a:solidFill>
                  <a:schemeClr val="dk1"/>
                </a:solidFill>
                <a:latin typeface="Calibri"/>
              </a:rPr>
              <a:t>coalesced</a:t>
            </a:r>
            <a:r>
              <a:rPr b="0" lang="en-US" sz="1800" spc="-1" strike="noStrike">
                <a:solidFill>
                  <a:schemeClr val="dk1"/>
                </a:solidFill>
                <a:latin typeface="Calibri"/>
              </a:rPr>
              <a:t> memory access. </a:t>
            </a:r>
            <a:endParaRPr b="0" lang="en-US" sz="1800" spc="-1" strike="noStrike">
              <a:solidFill>
                <a:srgbClr val="000000"/>
              </a:solidFill>
              <a:latin typeface="Arial"/>
            </a:endParaRPr>
          </a:p>
          <a:p>
            <a:pPr algn="just" defTabSz="457200">
              <a:lnSpc>
                <a:spcPct val="100000"/>
              </a:lnSpc>
            </a:pPr>
            <a:r>
              <a:rPr b="0" lang="en-US" sz="1800" spc="-1" strike="noStrike">
                <a:solidFill>
                  <a:schemeClr val="dk1"/>
                </a:solidFill>
                <a:latin typeface="Calibri"/>
              </a:rPr>
              <a:t>The core of the algorithm is performed inside the </a:t>
            </a:r>
            <a:r>
              <a:rPr b="1" lang="en-US" sz="1800" spc="-1" strike="noStrike">
                <a:solidFill>
                  <a:schemeClr val="dk1"/>
                </a:solidFill>
                <a:latin typeface="Calibri"/>
              </a:rPr>
              <a:t>ForwardAlgorithmKernel kernel function</a:t>
            </a:r>
            <a:r>
              <a:rPr b="0" lang="en-US" sz="1800" spc="-1" strike="noStrike">
                <a:solidFill>
                  <a:schemeClr val="dk1"/>
                </a:solidFill>
                <a:latin typeface="Calibri"/>
              </a:rPr>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b="1" lang="en-US" sz="1800" spc="-1" strike="noStrike">
                <a:solidFill>
                  <a:schemeClr val="dk1"/>
                </a:solidFill>
                <a:latin typeface="Calibri"/>
              </a:rPr>
              <a:t>atomicAdd</a:t>
            </a:r>
            <a:r>
              <a:rPr b="0" lang="en-US" sz="1800" spc="-1" strike="noStrike">
                <a:solidFill>
                  <a:schemeClr val="dk1"/>
                </a:solidFill>
                <a:latin typeface="Calibri"/>
              </a:rPr>
              <a:t> function is used.</a:t>
            </a:r>
            <a:endParaRPr b="0" lang="en-US" sz="1800" spc="-1" strike="noStrike">
              <a:solidFill>
                <a:srgbClr val="000000"/>
              </a:solidFill>
              <a:latin typeface="Arial"/>
            </a:endParaRPr>
          </a:p>
          <a:p>
            <a:pPr algn="just" defTabSz="457200">
              <a:lnSpc>
                <a:spcPct val="100000"/>
              </a:lnSpc>
            </a:pPr>
            <a:r>
              <a:rPr b="0" lang="en-US" sz="1800" spc="-1" strike="noStrike">
                <a:solidFill>
                  <a:schemeClr val="dk1"/>
                </a:solidFill>
                <a:latin typeface="Calibri"/>
              </a:rPr>
              <a:t>This strategy is heavily dependent on the configuration of its launch parameters, particularly the </a:t>
            </a:r>
            <a:r>
              <a:rPr b="1" lang="en-US" sz="1800" spc="-1" strike="noStrike">
                <a:solidFill>
                  <a:schemeClr val="dk1"/>
                </a:solidFill>
                <a:latin typeface="Calibri"/>
              </a:rPr>
              <a:t>blockSize, which serves as a critical hyperparameter for performance tuning. </a:t>
            </a:r>
            <a:r>
              <a:rPr b="0" lang="en-US" sz="1800" spc="-1" strike="noStrike">
                <a:solidFill>
                  <a:schemeClr val="dk1"/>
                </a:solidFill>
                <a:latin typeface="Calibri"/>
              </a:rPr>
              <a:t>Since, in current architectures, a warp is composed of </a:t>
            </a:r>
            <a:r>
              <a:rPr b="1" lang="en-US" sz="1800" spc="-1" strike="noStrike">
                <a:solidFill>
                  <a:schemeClr val="dk1"/>
                </a:solidFill>
                <a:latin typeface="Calibri"/>
              </a:rPr>
              <a:t>32 threads</a:t>
            </a:r>
            <a:r>
              <a:rPr b="0" lang="en-US" sz="1800" spc="-1" strike="noStrike">
                <a:solidFill>
                  <a:schemeClr val="dk1"/>
                </a:solidFill>
                <a:latin typeface="Calibri"/>
              </a:rPr>
              <a:t>, using multiples of 32 can result in the block containing an exact number of full warps, so the GPU can schedule them more efficiently</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53" name="Rectangle 18">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54" name="Picture 4" descr="A graph with a red line&#10;&#10;AI-generated content may be incorrect."/>
          <p:cNvPicPr/>
          <p:nvPr/>
        </p:nvPicPr>
        <p:blipFill>
          <a:blip r:embed="rId1"/>
          <a:stretch/>
        </p:blipFill>
        <p:spPr>
          <a:xfrm>
            <a:off x="479880" y="47880"/>
            <a:ext cx="5451120" cy="3270600"/>
          </a:xfrm>
          <a:prstGeom prst="rect">
            <a:avLst/>
          </a:prstGeom>
          <a:ln w="0">
            <a:noFill/>
          </a:ln>
        </p:spPr>
      </p:pic>
      <p:cxnSp>
        <p:nvCxnSpPr>
          <p:cNvPr id="155" name="Straight Connector 19">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56" name="TextBox 6"/>
          <p:cNvSpPr/>
          <p:nvPr/>
        </p:nvSpPr>
        <p:spPr>
          <a:xfrm>
            <a:off x="6411600" y="2198880"/>
            <a:ext cx="5126760" cy="3669840"/>
          </a:xfrm>
          <a:prstGeom prst="rect">
            <a:avLst/>
          </a:prstGeom>
          <a:noFill/>
          <a:ln w="0">
            <a:noFill/>
          </a:ln>
        </p:spPr>
        <p:style>
          <a:lnRef idx="0"/>
          <a:fillRef idx="0"/>
          <a:effectRef idx="0"/>
          <a:fontRef idx="minor"/>
        </p:style>
        <p:txBody>
          <a:bodyPr lIns="0" rIns="0" anchor="t">
            <a:normAutofit/>
          </a:bodyPr>
          <a:p>
            <a:pPr defTabSz="914400">
              <a:lnSpc>
                <a:spcPct val="90000"/>
              </a:lnSpc>
              <a:spcAft>
                <a:spcPts val="601"/>
              </a:spcAft>
            </a:pPr>
            <a:r>
              <a:rPr b="0" lang="en-US" sz="1800" spc="-1" strike="noStrike">
                <a:solidFill>
                  <a:schemeClr val="dk1">
                    <a:lumMod val="75000"/>
                    <a:lumOff val="25000"/>
                  </a:schemeClr>
                </a:solidFill>
                <a:latin typeface="Calibri"/>
              </a:rPr>
              <a:t>We can see that the </a:t>
            </a:r>
            <a:r>
              <a:rPr b="1" lang="en-US" sz="1800" spc="-1" strike="noStrike">
                <a:solidFill>
                  <a:schemeClr val="dk1">
                    <a:lumMod val="75000"/>
                    <a:lumOff val="25000"/>
                  </a:schemeClr>
                </a:solidFill>
                <a:latin typeface="Calibri"/>
              </a:rPr>
              <a:t>best performance is achieved setting blockSize to 128</a:t>
            </a:r>
            <a:r>
              <a:rPr b="0" lang="en-US" sz="1800" spc="-1" strike="noStrike">
                <a:solidFill>
                  <a:schemeClr val="dk1">
                    <a:lumMod val="75000"/>
                    <a:lumOff val="25000"/>
                  </a:schemeClr>
                </a:solidFill>
                <a:latin typeface="Calibri"/>
              </a:rPr>
              <a:t>, resulting in approximately 25 ms of execution time (this includes also the time spent copying data using from the Host to the Device using the PCIe buffer). Then, the execution time significantly worsens as the size of a block increases to 256, 512, and 1024. In facts, when blockSize is small to moderate (i.e. 64 or 128) the blocks are "lightweight" and many can be scheduled simultaneously on an SM. This leads to </a:t>
            </a:r>
            <a:r>
              <a:rPr b="1" lang="en-US" sz="1800" spc="-1" strike="noStrike">
                <a:solidFill>
                  <a:schemeClr val="dk1">
                    <a:lumMod val="75000"/>
                    <a:lumOff val="25000"/>
                  </a:schemeClr>
                </a:solidFill>
                <a:latin typeface="Calibri"/>
              </a:rPr>
              <a:t>high occupancy</a:t>
            </a:r>
            <a:r>
              <a:rPr b="0" lang="en-US" sz="1800" spc="-1" strike="noStrike">
                <a:solidFill>
                  <a:schemeClr val="dk1">
                    <a:lumMod val="75000"/>
                    <a:lumOff val="25000"/>
                  </a:schemeClr>
                </a:solidFill>
                <a:latin typeface="Calibri"/>
              </a:rPr>
              <a:t>. In facts, we </a:t>
            </a:r>
            <a:r>
              <a:rPr b="1" lang="en-US" sz="1800" spc="-1" strike="noStrike">
                <a:solidFill>
                  <a:schemeClr val="dk1">
                    <a:lumMod val="75000"/>
                    <a:lumOff val="25000"/>
                  </a:schemeClr>
                </a:solidFill>
                <a:latin typeface="Calibri"/>
              </a:rPr>
              <a:t>almost </a:t>
            </a:r>
            <a:r>
              <a:rPr b="1" lang="en-US" sz="1800" spc="-1" strike="noStrike">
                <a:solidFill>
                  <a:schemeClr val="dk1"/>
                </a:solidFill>
                <a:latin typeface="Calibri"/>
              </a:rPr>
              <a:t>saturate the SM </a:t>
            </a:r>
            <a:r>
              <a:rPr b="0" lang="en-US" sz="1800" spc="-1" strike="noStrike">
                <a:solidFill>
                  <a:schemeClr val="dk1"/>
                </a:solidFill>
                <a:latin typeface="Calibri"/>
              </a:rPr>
              <a:t>(achieving an excellent occupancy of 82.39%)</a:t>
            </a:r>
            <a:endParaRPr b="0" lang="en-US" sz="1800" spc="-1" strike="noStrike">
              <a:solidFill>
                <a:srgbClr val="000000"/>
              </a:solidFill>
              <a:latin typeface="Arial"/>
            </a:endParaRPr>
          </a:p>
        </p:txBody>
      </p:sp>
      <p:sp>
        <p:nvSpPr>
          <p:cNvPr id="157" name="Rectangle 20">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158" name="Rectangle 1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pic>
        <p:nvPicPr>
          <p:cNvPr id="159" name="Picture 8" descr=""/>
          <p:cNvPicPr/>
          <p:nvPr/>
        </p:nvPicPr>
        <p:blipFill>
          <a:blip r:embed="rId2"/>
          <a:stretch/>
        </p:blipFill>
        <p:spPr>
          <a:xfrm>
            <a:off x="753120" y="3366720"/>
            <a:ext cx="4627800" cy="305496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Autofit/>
          </a:bodyPr>
          <a:p>
            <a:pPr indent="0" defTabSz="914400">
              <a:lnSpc>
                <a:spcPct val="85000"/>
              </a:lnSpc>
              <a:buNone/>
            </a:pPr>
            <a:r>
              <a:rPr b="0" lang="it-IT" sz="4800" spc="-52" strike="noStrike">
                <a:solidFill>
                  <a:schemeClr val="dk1">
                    <a:lumMod val="75000"/>
                    <a:lumOff val="25000"/>
                  </a:schemeClr>
                </a:solidFill>
                <a:latin typeface="Calibri Light"/>
              </a:rPr>
              <a:t>CUDA Parallel Forward Node Algorithm V2</a:t>
            </a:r>
            <a:endParaRPr b="0" lang="en-US" sz="4800" spc="-1" strike="noStrike">
              <a:solidFill>
                <a:schemeClr val="dk1"/>
              </a:solidFill>
              <a:latin typeface="Calibri"/>
            </a:endParaRPr>
          </a:p>
        </p:txBody>
      </p:sp>
      <p:sp>
        <p:nvSpPr>
          <p:cNvPr id="161" name="PlaceHolder 2"/>
          <p:cNvSpPr>
            <a:spLocks noGrp="1"/>
          </p:cNvSpPr>
          <p:nvPr>
            <p:ph/>
          </p:nvPr>
        </p:nvSpPr>
        <p:spPr>
          <a:xfrm>
            <a:off x="1097280" y="1845720"/>
            <a:ext cx="10058040" cy="4023000"/>
          </a:xfrm>
          <a:prstGeom prst="rect">
            <a:avLst/>
          </a:prstGeom>
          <a:no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The second version of the algorithm introduces a much faster, </a:t>
            </a:r>
            <a:r>
              <a:rPr b="1" lang="en-US" sz="2000" spc="-1" strike="noStrike">
                <a:solidFill>
                  <a:schemeClr val="dk1">
                    <a:lumMod val="75000"/>
                    <a:lumOff val="25000"/>
                  </a:schemeClr>
                </a:solidFill>
                <a:latin typeface="Calibri"/>
              </a:rPr>
              <a:t>merge-like</a:t>
            </a:r>
            <a:r>
              <a:rPr b="0" lang="en-US" sz="2000" spc="-1" strike="noStrike">
                <a:solidFill>
                  <a:schemeClr val="dk1">
                    <a:lumMod val="75000"/>
                    <a:lumOff val="25000"/>
                  </a:schemeClr>
                </a:solidFill>
                <a:latin typeface="Calibri"/>
              </a:rPr>
              <a:t> method to find triangles using two pointers. This new approach is a major algorithmic improvement over a simple nested loop, significantly cutting down on computation.</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However, this method creates a GPU-specific bottleneck called </a:t>
            </a:r>
            <a:r>
              <a:rPr b="1" lang="en-US" sz="2000" spc="-1" strike="noStrike">
                <a:solidFill>
                  <a:schemeClr val="dk1">
                    <a:lumMod val="75000"/>
                    <a:lumOff val="25000"/>
                  </a:schemeClr>
                </a:solidFill>
                <a:latin typeface="Calibri"/>
              </a:rPr>
              <a:t>warp divergence</a:t>
            </a:r>
            <a:r>
              <a:rPr b="0" lang="en-US" sz="2000" spc="-1" strike="noStrike">
                <a:solidFill>
                  <a:schemeClr val="dk1">
                    <a:lumMod val="75000"/>
                    <a:lumOff val="25000"/>
                  </a:schemeClr>
                </a:solidFill>
                <a:latin typeface="Calibri"/>
              </a:rPr>
              <a:t>. This happens when threads in the same execution group take different if-else paths in the code, forcing the GPU to run them one by one and reducing the benefits of parallelism.</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Despite this, the new algorithm is a substantial upgrade, even though its full speed is sometimes limited by this divergence.</a:t>
            </a:r>
            <a:endParaRPr b="0" lang="en-US" sz="20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pPr>
            <a:endParaRPr b="0" lang="en-US" sz="2000" spc="-1" strike="noStrike">
              <a:solidFill>
                <a:schemeClr val="dk1">
                  <a:lumMod val="75000"/>
                  <a:lumOff val="25000"/>
                </a:schemeClr>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62"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
        <p:nvSpPr>
          <p:cNvPr id="163"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t">
            <a:noAutofit/>
          </a:bodyPr>
          <a:p>
            <a:pPr defTabSz="457200">
              <a:lnSpc>
                <a:spcPct val="100000"/>
              </a:lnSpc>
            </a:pPr>
            <a:endParaRPr b="0" lang="it-IT" sz="1800" spc="-1" strike="noStrike">
              <a:solidFill>
                <a:schemeClr val="lt1"/>
              </a:solidFill>
              <a:latin typeface="Calibri"/>
            </a:endParaRPr>
          </a:p>
        </p:txBody>
      </p:sp>
      <p:cxnSp>
        <p:nvCxnSpPr>
          <p:cNvPr id="164"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165"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6" name="PlaceHolder 1"/>
          <p:cNvSpPr>
            <a:spLocks noGrp="1"/>
          </p:cNvSpPr>
          <p:nvPr>
            <p:ph type="title"/>
          </p:nvPr>
        </p:nvSpPr>
        <p:spPr>
          <a:xfrm>
            <a:off x="633960" y="4550400"/>
            <a:ext cx="10908720" cy="1057320"/>
          </a:xfrm>
          <a:prstGeom prst="rect">
            <a:avLst/>
          </a:prstGeom>
          <a:noFill/>
          <a:ln w="0">
            <a:noFill/>
          </a:ln>
        </p:spPr>
        <p:txBody>
          <a:bodyPr lIns="91440" rIns="91440" tIns="45720" bIns="45720" anchor="b">
            <a:normAutofit fontScale="85641"/>
          </a:bodyPr>
          <a:p>
            <a:pPr indent="0" defTabSz="914400">
              <a:lnSpc>
                <a:spcPct val="85000"/>
              </a:lnSpc>
              <a:buNone/>
            </a:pPr>
            <a:r>
              <a:rPr b="0" lang="en-US" sz="5600" spc="-52" strike="noStrike">
                <a:solidFill>
                  <a:schemeClr val="dk1">
                    <a:lumMod val="85000"/>
                    <a:lumOff val="15000"/>
                  </a:schemeClr>
                </a:solidFill>
                <a:latin typeface="Calibri Light"/>
              </a:rPr>
              <a:t>CUDA Parallel Node: Final comparison</a:t>
            </a:r>
            <a:endParaRPr b="0" lang="en-US" sz="5600" spc="-1" strike="noStrike">
              <a:solidFill>
                <a:schemeClr val="dk1"/>
              </a:solidFill>
              <a:latin typeface="Calibri"/>
            </a:endParaRPr>
          </a:p>
        </p:txBody>
      </p:sp>
      <p:pic>
        <p:nvPicPr>
          <p:cNvPr id="167" name="Content Placeholder 4" descr=""/>
          <p:cNvPicPr/>
          <p:nvPr/>
        </p:nvPicPr>
        <p:blipFill>
          <a:blip r:embed="rId1"/>
          <a:stretch/>
        </p:blipFill>
        <p:spPr>
          <a:xfrm>
            <a:off x="635400" y="953280"/>
            <a:ext cx="5131440" cy="2976120"/>
          </a:xfrm>
          <a:prstGeom prst="rect">
            <a:avLst/>
          </a:prstGeom>
          <a:ln w="0">
            <a:noFill/>
          </a:ln>
        </p:spPr>
      </p:pic>
      <p:sp>
        <p:nvSpPr>
          <p:cNvPr id="168"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69" name="Picture 6" descr=""/>
          <p:cNvPicPr/>
          <p:nvPr/>
        </p:nvPicPr>
        <p:blipFill>
          <a:blip r:embed="rId2"/>
          <a:stretch/>
        </p:blipFill>
        <p:spPr>
          <a:xfrm>
            <a:off x="6424920" y="880560"/>
            <a:ext cx="5117760" cy="3121560"/>
          </a:xfrm>
          <a:prstGeom prst="rect">
            <a:avLst/>
          </a:prstGeom>
          <a:ln w="0">
            <a:noFill/>
          </a:ln>
        </p:spPr>
      </p:pic>
      <p:cxnSp>
        <p:nvCxnSpPr>
          <p:cNvPr id="170"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171"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172"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73"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4" name="PlaceHolder 1"/>
          <p:cNvSpPr>
            <a:spLocks noGrp="1"/>
          </p:cNvSpPr>
          <p:nvPr>
            <p:ph type="title"/>
          </p:nvPr>
        </p:nvSpPr>
        <p:spPr>
          <a:xfrm>
            <a:off x="6411600" y="635040"/>
            <a:ext cx="5126760" cy="1450440"/>
          </a:xfrm>
          <a:prstGeom prst="rect">
            <a:avLst/>
          </a:prstGeom>
          <a:noFill/>
          <a:ln w="0">
            <a:noFill/>
          </a:ln>
        </p:spPr>
        <p:txBody>
          <a:bodyPr lIns="91440" rIns="91440" tIns="45720" bIns="45720" anchor="b">
            <a:normAutofit/>
          </a:bodyPr>
          <a:p>
            <a:pPr indent="0" defTabSz="914400">
              <a:lnSpc>
                <a:spcPct val="85000"/>
              </a:lnSpc>
              <a:buNone/>
            </a:pPr>
            <a:r>
              <a:rPr b="0" lang="en-US" sz="4800" spc="-52" strike="noStrike">
                <a:solidFill>
                  <a:schemeClr val="dk1">
                    <a:lumMod val="75000"/>
                    <a:lumOff val="25000"/>
                  </a:schemeClr>
                </a:solidFill>
                <a:latin typeface="Calibri Light"/>
              </a:rPr>
              <a:t>Parallel Forward Edge Iterator V1</a:t>
            </a:r>
            <a:endParaRPr b="0" lang="en-US" sz="4800" spc="-1" strike="noStrike">
              <a:solidFill>
                <a:schemeClr val="dk1"/>
              </a:solidFill>
              <a:latin typeface="Calibri"/>
            </a:endParaRPr>
          </a:p>
        </p:txBody>
      </p:sp>
      <p:pic>
        <p:nvPicPr>
          <p:cNvPr id="175" name="Picture 4" descr="A graph with red line&#10;&#10;AI-generated content may be incorrect."/>
          <p:cNvPicPr/>
          <p:nvPr/>
        </p:nvPicPr>
        <p:blipFill>
          <a:blip r:embed="rId1"/>
          <a:stretch/>
        </p:blipFill>
        <p:spPr>
          <a:xfrm>
            <a:off x="643320" y="1633320"/>
            <a:ext cx="5451120" cy="3270600"/>
          </a:xfrm>
          <a:prstGeom prst="rect">
            <a:avLst/>
          </a:prstGeom>
          <a:ln w="0">
            <a:noFill/>
          </a:ln>
        </p:spPr>
      </p:pic>
      <p:cxnSp>
        <p:nvCxnSpPr>
          <p:cNvPr id="176" name="Straight Connector 11">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77" name="PlaceHolder 2"/>
          <p:cNvSpPr>
            <a:spLocks noGrp="1"/>
          </p:cNvSpPr>
          <p:nvPr>
            <p:ph/>
          </p:nvPr>
        </p:nvSpPr>
        <p:spPr>
          <a:xfrm>
            <a:off x="6411600" y="2198880"/>
            <a:ext cx="5126760" cy="3669840"/>
          </a:xfrm>
          <a:prstGeom prst="rect">
            <a:avLst/>
          </a:prstGeom>
          <a:noFill/>
          <a:ln w="0">
            <a:noFill/>
          </a:ln>
        </p:spPr>
        <p:txBody>
          <a:bodyPr lIns="0" rIns="0" tIns="45720" bIns="45720" anchor="t">
            <a:normAutofit/>
          </a:bodyPr>
          <a:p>
            <a:pPr marL="91440" indent="-91440" defTabSz="914400">
              <a:lnSpc>
                <a:spcPct val="90000"/>
              </a:lnSpc>
              <a:spcBef>
                <a:spcPts val="1199"/>
              </a:spcBef>
              <a:spcAft>
                <a:spcPts val="201"/>
              </a:spcAft>
              <a:buClr>
                <a:srgbClr val="e48312"/>
              </a:buClr>
              <a:buFont typeface="Calibri"/>
              <a:buChar char=" "/>
            </a:pPr>
            <a:r>
              <a:rPr b="0" lang="en-US" sz="1700" spc="-1" strike="noStrike">
                <a:solidFill>
                  <a:schemeClr val="dk1">
                    <a:lumMod val="75000"/>
                    <a:lumOff val="25000"/>
                  </a:schemeClr>
                </a:solidFill>
                <a:latin typeface="Calibri"/>
              </a:rPr>
              <a:t>In this more naive version (Parallel Edge V1), we parallelize the outer loop that iterates over each edge. We distribute the edges among threads, and each thread is responsible for processing its assigned chunk. For a given edge (s,t),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b="1" lang="en-US" sz="1700" spc="-1" strike="noStrike">
                <a:solidFill>
                  <a:schemeClr val="dk1">
                    <a:lumMod val="75000"/>
                    <a:lumOff val="25000"/>
                  </a:schemeClr>
                </a:solidFill>
                <a:latin typeface="Calibri"/>
              </a:rPr>
              <a:t>graph size</a:t>
            </a:r>
            <a:r>
              <a:rPr b="0" lang="en-US" sz="1700" spc="-1" strike="noStrike">
                <a:solidFill>
                  <a:schemeClr val="dk1">
                    <a:lumMod val="75000"/>
                    <a:lumOff val="25000"/>
                  </a:schemeClr>
                </a:solidFill>
                <a:latin typeface="Calibri"/>
              </a:rPr>
              <a:t>.</a:t>
            </a:r>
            <a:endParaRPr b="0" lang="en-US" sz="1700" spc="-1" strike="noStrike">
              <a:solidFill>
                <a:schemeClr val="dk1">
                  <a:lumMod val="75000"/>
                  <a:lumOff val="25000"/>
                </a:schemeClr>
              </a:solidFill>
              <a:latin typeface="Calibri"/>
            </a:endParaRPr>
          </a:p>
        </p:txBody>
      </p:sp>
      <p:sp>
        <p:nvSpPr>
          <p:cNvPr id="178"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179"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80"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1" name="PlaceHolder 1"/>
          <p:cNvSpPr>
            <a:spLocks noGrp="1"/>
          </p:cNvSpPr>
          <p:nvPr>
            <p:ph type="title"/>
          </p:nvPr>
        </p:nvSpPr>
        <p:spPr>
          <a:xfrm>
            <a:off x="5144760" y="635040"/>
            <a:ext cx="6404760" cy="1450440"/>
          </a:xfrm>
          <a:prstGeom prst="rect">
            <a:avLst/>
          </a:prstGeom>
          <a:noFill/>
          <a:ln w="0">
            <a:noFill/>
          </a:ln>
        </p:spPr>
        <p:txBody>
          <a:bodyPr lIns="91440" rIns="91440" tIns="45720" bIns="45720" anchor="b">
            <a:normAutofit/>
          </a:bodyPr>
          <a:p>
            <a:pPr indent="0" defTabSz="914400">
              <a:lnSpc>
                <a:spcPct val="85000"/>
              </a:lnSpc>
              <a:buNone/>
            </a:pPr>
            <a:r>
              <a:rPr b="0" lang="en-US" sz="4800" spc="-52" strike="noStrike">
                <a:solidFill>
                  <a:schemeClr val="dk1">
                    <a:lumMod val="75000"/>
                    <a:lumOff val="25000"/>
                  </a:schemeClr>
                </a:solidFill>
                <a:latin typeface="Calibri Light"/>
              </a:rPr>
              <a:t>Parallel Forward Edge Iterator V2</a:t>
            </a:r>
            <a:endParaRPr b="0" lang="en-US" sz="4800" spc="-1" strike="noStrike">
              <a:solidFill>
                <a:schemeClr val="dk1"/>
              </a:solidFill>
              <a:latin typeface="Calibri"/>
            </a:endParaRPr>
          </a:p>
        </p:txBody>
      </p:sp>
      <p:pic>
        <p:nvPicPr>
          <p:cNvPr id="182" name="Picture 4" descr="A graph with red line&#10;&#10;AI-generated content may be incorrect."/>
          <p:cNvPicPr/>
          <p:nvPr/>
        </p:nvPicPr>
        <p:blipFill>
          <a:blip r:embed="rId1"/>
          <a:stretch/>
        </p:blipFill>
        <p:spPr>
          <a:xfrm>
            <a:off x="189720" y="184680"/>
            <a:ext cx="4986720" cy="2991960"/>
          </a:xfrm>
          <a:prstGeom prst="rect">
            <a:avLst/>
          </a:prstGeom>
          <a:ln w="0">
            <a:noFill/>
          </a:ln>
        </p:spPr>
      </p:pic>
      <p:cxnSp>
        <p:nvCxnSpPr>
          <p:cNvPr id="183" name="Straight Connector 22">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84" name="Picture 6" descr="A graph with red line&#10;&#10;AI-generated content may be incorrect."/>
          <p:cNvPicPr/>
          <p:nvPr/>
        </p:nvPicPr>
        <p:blipFill>
          <a:blip r:embed="rId2"/>
          <a:stretch/>
        </p:blipFill>
        <p:spPr>
          <a:xfrm>
            <a:off x="189720" y="3176640"/>
            <a:ext cx="4949640" cy="2969640"/>
          </a:xfrm>
          <a:prstGeom prst="rect">
            <a:avLst/>
          </a:prstGeom>
          <a:ln w="0">
            <a:noFill/>
          </a:ln>
        </p:spPr>
      </p:pic>
      <p:sp>
        <p:nvSpPr>
          <p:cNvPr id="185" name="PlaceHolder 2"/>
          <p:cNvSpPr>
            <a:spLocks noGrp="1"/>
          </p:cNvSpPr>
          <p:nvPr>
            <p:ph/>
          </p:nvPr>
        </p:nvSpPr>
        <p:spPr>
          <a:xfrm>
            <a:off x="4795560" y="2198880"/>
            <a:ext cx="7304760" cy="4134600"/>
          </a:xfrm>
          <a:prstGeom prst="rect">
            <a:avLst/>
          </a:prstGeom>
          <a:noFill/>
          <a:ln w="0">
            <a:noFill/>
          </a:ln>
        </p:spPr>
        <p:txBody>
          <a:bodyPr lIns="0" rIns="0" tIns="45720" bIns="45720" anchor="t">
            <a:noAutofit/>
          </a:bodyPr>
          <a:p>
            <a:pPr indent="0" defTabSz="914400">
              <a:lnSpc>
                <a:spcPct val="90000"/>
              </a:lnSpc>
              <a:spcBef>
                <a:spcPts val="1199"/>
              </a:spcBef>
              <a:spcAft>
                <a:spcPts val="201"/>
              </a:spcAft>
              <a:buNone/>
              <a:tabLst>
                <a:tab algn="l" pos="0"/>
              </a:tabLst>
            </a:pPr>
            <a:r>
              <a:rPr b="0" lang="en-US" sz="1400" spc="-1" strike="noStrike">
                <a:solidFill>
                  <a:schemeClr val="dk1">
                    <a:lumMod val="75000"/>
                    <a:lumOff val="25000"/>
                  </a:schemeClr>
                </a:solidFill>
                <a:latin typeface="Calibri"/>
              </a:rPr>
              <a:t>This version uses an adjacency list representation and employs a crucial preprocessing step to ensure all neighbor lists are sorted. With sorted lists, each thread can find the common neighbors for its assigned edges using a </a:t>
            </a:r>
            <a:r>
              <a:rPr b="1" lang="en-US" sz="1400" spc="-1" strike="noStrike">
                <a:solidFill>
                  <a:schemeClr val="dk1">
                    <a:lumMod val="75000"/>
                    <a:lumOff val="25000"/>
                  </a:schemeClr>
                </a:solidFill>
                <a:latin typeface="Calibri"/>
              </a:rPr>
              <a:t>two-pointer merge-like algorithm</a:t>
            </a:r>
            <a:r>
              <a:rPr b="0" lang="en-US" sz="1400" spc="-1" strike="noStrike">
                <a:solidFill>
                  <a:schemeClr val="dk1">
                    <a:lumMod val="75000"/>
                    <a:lumOff val="25000"/>
                  </a:schemeClr>
                </a:solidFill>
                <a:latin typeface="Calibri"/>
              </a:rPr>
              <a:t>, which has a linear time complexity of </a:t>
            </a:r>
            <a:r>
              <a:rPr b="1" lang="en-US" sz="1400" spc="-1" strike="noStrike">
                <a:solidFill>
                  <a:schemeClr val="dk1">
                    <a:lumMod val="75000"/>
                    <a:lumOff val="25000"/>
                  </a:schemeClr>
                </a:solidFill>
                <a:latin typeface="Calibri"/>
              </a:rPr>
              <a:t>O(d(s) + d(t)). </a:t>
            </a:r>
            <a:r>
              <a:rPr b="0" lang="en-US" sz="1400" spc="-1" strike="noStrike">
                <a:solidFill>
                  <a:schemeClr val="dk1">
                    <a:lumMod val="75000"/>
                    <a:lumOff val="25000"/>
                  </a:schemeClr>
                </a:solidFill>
                <a:latin typeface="Calibri"/>
              </a:rPr>
              <a:t>This significant improvement in the intersection process allows the algorithm to achieve a speedup proportional to the number of threads used, P, with very low synchronization overhead from the std::atomic variable.</a:t>
            </a:r>
            <a:endParaRPr b="0" lang="en-US" sz="14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r>
              <a:rPr b="0" lang="en-US" sz="1400" spc="-1" strike="noStrike">
                <a:solidFill>
                  <a:schemeClr val="dk1">
                    <a:lumMod val="75000"/>
                    <a:lumOff val="25000"/>
                  </a:schemeClr>
                </a:solidFill>
                <a:latin typeface="Calibri"/>
              </a:rPr>
              <a:t>On a 10k-node graph, </a:t>
            </a:r>
            <a:r>
              <a:rPr b="1" lang="en-US" sz="1400" spc="-1" strike="noStrike">
                <a:solidFill>
                  <a:schemeClr val="dk1">
                    <a:lumMod val="75000"/>
                    <a:lumOff val="25000"/>
                  </a:schemeClr>
                </a:solidFill>
                <a:latin typeface="Calibri"/>
              </a:rPr>
              <a:t>we observe a dramatic and consistent drop in execution time as the number of threads increases</a:t>
            </a:r>
            <a:r>
              <a:rPr b="0" lang="en-US" sz="1400" spc="-1" strike="noStrike">
                <a:solidFill>
                  <a:schemeClr val="dk1">
                    <a:lumMod val="75000"/>
                    <a:lumOff val="25000"/>
                  </a:schemeClr>
                </a:solidFill>
                <a:latin typeface="Calibri"/>
              </a:rPr>
              <a:t>, with an optimal point around 8 threads. The performance is </a:t>
            </a:r>
            <a:r>
              <a:rPr b="1" lang="en-US" sz="1400" spc="-1" strike="noStrike">
                <a:solidFill>
                  <a:schemeClr val="dk1">
                    <a:lumMod val="75000"/>
                    <a:lumOff val="25000"/>
                  </a:schemeClr>
                </a:solidFill>
                <a:latin typeface="Calibri"/>
              </a:rPr>
              <a:t>consistently better than the V1 version on the same graph</a:t>
            </a:r>
            <a:r>
              <a:rPr b="0" lang="en-US" sz="1400" spc="-1" strike="noStrike">
                <a:solidFill>
                  <a:schemeClr val="dk1">
                    <a:lumMod val="75000"/>
                    <a:lumOff val="25000"/>
                  </a:schemeClr>
                </a:solidFill>
                <a:latin typeface="Calibri"/>
              </a:rPr>
              <a:t>, demonstrating that the linear-time intersection is far superior to the naive nested-loop approach.</a:t>
            </a:r>
            <a:endParaRPr b="0" lang="en-US" sz="14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r>
              <a:rPr b="0" lang="en-US" sz="1400" spc="-1" strike="noStrike">
                <a:solidFill>
                  <a:schemeClr val="dk1">
                    <a:lumMod val="75000"/>
                    <a:lumOff val="25000"/>
                  </a:schemeClr>
                </a:solidFill>
                <a:latin typeface="Calibri"/>
              </a:rPr>
              <a:t>The scaling benefits of the V2 algorithm become even more apparent on extremely large graphs. For a graph with 1 million nodes, the performance curve shows a near-linear decrease as the number of threads increases up to 8. </a:t>
            </a:r>
            <a:r>
              <a:rPr b="1" lang="en-US" sz="1400" spc="-1" strike="noStrike">
                <a:solidFill>
                  <a:schemeClr val="dk1">
                    <a:lumMod val="75000"/>
                    <a:lumOff val="25000"/>
                  </a:schemeClr>
                </a:solidFill>
                <a:latin typeface="Calibri"/>
              </a:rPr>
              <a:t>This indicates a near-perfect parallel speedup </a:t>
            </a:r>
            <a:r>
              <a:rPr b="0" lang="en-US" sz="1400" spc="-1" strike="noStrike">
                <a:solidFill>
                  <a:schemeClr val="dk1">
                    <a:lumMod val="75000"/>
                    <a:lumOff val="25000"/>
                  </a:schemeClr>
                </a:solidFill>
                <a:latin typeface="Calibri"/>
              </a:rPr>
              <a:t>where the workload is large enough that the benefits of parallelization far outweigh the overhead.</a:t>
            </a:r>
            <a:endParaRPr b="0" lang="en-US" sz="1400" spc="-1" strike="noStrike">
              <a:solidFill>
                <a:schemeClr val="dk1">
                  <a:lumMod val="75000"/>
                  <a:lumOff val="25000"/>
                </a:schemeClr>
              </a:solidFill>
              <a:latin typeface="Calibri"/>
            </a:endParaRPr>
          </a:p>
        </p:txBody>
      </p:sp>
      <p:sp>
        <p:nvSpPr>
          <p:cNvPr id="186"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187"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88"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9" name="PlaceHolder 1"/>
          <p:cNvSpPr>
            <a:spLocks noGrp="1"/>
          </p:cNvSpPr>
          <p:nvPr>
            <p:ph type="title"/>
          </p:nvPr>
        </p:nvSpPr>
        <p:spPr>
          <a:xfrm>
            <a:off x="4703400" y="635040"/>
            <a:ext cx="6845760" cy="1450440"/>
          </a:xfrm>
          <a:prstGeom prst="rect">
            <a:avLst/>
          </a:prstGeom>
          <a:noFill/>
          <a:ln w="0">
            <a:noFill/>
          </a:ln>
        </p:spPr>
        <p:txBody>
          <a:bodyPr lIns="91440" rIns="91440" tIns="45720" bIns="45720" anchor="b">
            <a:normAutofit/>
          </a:bodyPr>
          <a:p>
            <a:pPr indent="0" defTabSz="914400">
              <a:lnSpc>
                <a:spcPct val="85000"/>
              </a:lnSpc>
              <a:buNone/>
            </a:pPr>
            <a:r>
              <a:rPr b="0" lang="en-US" sz="4800" spc="-52" strike="noStrike">
                <a:solidFill>
                  <a:schemeClr val="dk1">
                    <a:lumMod val="75000"/>
                    <a:lumOff val="25000"/>
                  </a:schemeClr>
                </a:solidFill>
                <a:latin typeface="Calibri Light"/>
              </a:rPr>
              <a:t>Parallel Forward Edge Iterator V3</a:t>
            </a:r>
            <a:endParaRPr b="0" lang="en-US" sz="4800" spc="-1" strike="noStrike">
              <a:solidFill>
                <a:schemeClr val="dk1"/>
              </a:solidFill>
              <a:latin typeface="Calibri"/>
            </a:endParaRPr>
          </a:p>
        </p:txBody>
      </p:sp>
      <p:pic>
        <p:nvPicPr>
          <p:cNvPr id="190" name="Picture 6" descr="A graph with red line&#10;&#10;AI-generated content may be incorrect."/>
          <p:cNvPicPr/>
          <p:nvPr/>
        </p:nvPicPr>
        <p:blipFill>
          <a:blip r:embed="rId1"/>
          <a:stretch/>
        </p:blipFill>
        <p:spPr>
          <a:xfrm>
            <a:off x="214920" y="-17640"/>
            <a:ext cx="4101480" cy="2460960"/>
          </a:xfrm>
          <a:prstGeom prst="rect">
            <a:avLst/>
          </a:prstGeom>
          <a:ln w="0">
            <a:noFill/>
          </a:ln>
        </p:spPr>
      </p:pic>
      <p:cxnSp>
        <p:nvCxnSpPr>
          <p:cNvPr id="191" name="Straight Connector 22">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92" name="Picture 8" descr="A graph with red line&#10;&#10;AI-generated content may be incorrect."/>
          <p:cNvPicPr/>
          <p:nvPr/>
        </p:nvPicPr>
        <p:blipFill>
          <a:blip r:embed="rId2"/>
          <a:stretch/>
        </p:blipFill>
        <p:spPr>
          <a:xfrm>
            <a:off x="214920" y="2198880"/>
            <a:ext cx="4101480" cy="2460960"/>
          </a:xfrm>
          <a:prstGeom prst="rect">
            <a:avLst/>
          </a:prstGeom>
          <a:ln w="0">
            <a:noFill/>
          </a:ln>
        </p:spPr>
      </p:pic>
      <p:pic>
        <p:nvPicPr>
          <p:cNvPr id="193" name="Picture 4" descr=""/>
          <p:cNvPicPr/>
          <p:nvPr/>
        </p:nvPicPr>
        <p:blipFill>
          <a:blip r:embed="rId3"/>
          <a:stretch/>
        </p:blipFill>
        <p:spPr>
          <a:xfrm>
            <a:off x="297000" y="4539240"/>
            <a:ext cx="3634560" cy="1861200"/>
          </a:xfrm>
          <a:prstGeom prst="rect">
            <a:avLst/>
          </a:prstGeom>
          <a:ln w="0">
            <a:noFill/>
          </a:ln>
        </p:spPr>
      </p:pic>
      <p:sp>
        <p:nvSpPr>
          <p:cNvPr id="194" name="PlaceHolder 2"/>
          <p:cNvSpPr>
            <a:spLocks noGrp="1"/>
          </p:cNvSpPr>
          <p:nvPr>
            <p:ph/>
          </p:nvPr>
        </p:nvSpPr>
        <p:spPr>
          <a:xfrm>
            <a:off x="4701600" y="2198880"/>
            <a:ext cx="6847560" cy="3669840"/>
          </a:xfrm>
          <a:prstGeom prst="rect">
            <a:avLst/>
          </a:prstGeom>
          <a:noFill/>
          <a:ln w="0">
            <a:noFill/>
          </a:ln>
        </p:spPr>
        <p:txBody>
          <a:bodyPr lIns="0" rIns="0" tIns="45720" bIns="45720" anchor="t">
            <a:normAutofit/>
          </a:bodyPr>
          <a:p>
            <a:pPr marL="91440" indent="-91440" defTabSz="914400">
              <a:lnSpc>
                <a:spcPct val="90000"/>
              </a:lnSpc>
              <a:spcBef>
                <a:spcPts val="1199"/>
              </a:spcBef>
              <a:spcAft>
                <a:spcPts val="201"/>
              </a:spcAft>
              <a:buClr>
                <a:srgbClr val="e48312"/>
              </a:buClr>
              <a:buFont typeface="Calibri"/>
              <a:buChar char=" "/>
            </a:pPr>
            <a:r>
              <a:rPr b="0" lang="en-US" sz="1400" spc="-1" strike="noStrike">
                <a:solidFill>
                  <a:schemeClr val="dk1">
                    <a:lumMod val="75000"/>
                    <a:lumOff val="25000"/>
                  </a:schemeClr>
                </a:solidFill>
                <a:latin typeface="Calibri"/>
              </a:rPr>
              <a:t>This highly optimized version of the Edge Algorithm incorporates several key enhancements for maximum performance.</a:t>
            </a:r>
            <a:endParaRPr b="0" lang="en-US" sz="14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1400" spc="-1" strike="noStrike">
                <a:solidFill>
                  <a:schemeClr val="dk1">
                    <a:lumMod val="75000"/>
                    <a:lumOff val="25000"/>
                  </a:schemeClr>
                </a:solidFill>
                <a:latin typeface="Calibri"/>
              </a:rPr>
              <a:t>First, it uses std::unordered_map for data storage, which provides near-instantaneous </a:t>
            </a:r>
            <a:r>
              <a:rPr b="1" lang="en-US" sz="1400" spc="-1" strike="noStrike">
                <a:solidFill>
                  <a:schemeClr val="dk1">
                    <a:lumMod val="75000"/>
                    <a:lumOff val="25000"/>
                  </a:schemeClr>
                </a:solidFill>
                <a:latin typeface="Calibri"/>
              </a:rPr>
              <a:t>O(1)</a:t>
            </a:r>
            <a:r>
              <a:rPr b="0" lang="en-US" sz="1400" spc="-1" strike="noStrike">
                <a:solidFill>
                  <a:schemeClr val="dk1">
                    <a:lumMod val="75000"/>
                    <a:lumOff val="25000"/>
                  </a:schemeClr>
                </a:solidFill>
                <a:latin typeface="Calibri"/>
              </a:rPr>
              <a:t> average lookup times, a significant improvement over the O(logN) of previous versions. For parallelism, it uses std::async to create tasks managed by the OS. Crucially, each thread uses a </a:t>
            </a:r>
            <a:r>
              <a:rPr b="1" lang="en-US" sz="1400" spc="-1" strike="noStrike">
                <a:solidFill>
                  <a:schemeClr val="dk1">
                    <a:lumMod val="75000"/>
                    <a:lumOff val="25000"/>
                  </a:schemeClr>
                </a:solidFill>
                <a:latin typeface="Calibri"/>
              </a:rPr>
              <a:t>local triangle counter</a:t>
            </a:r>
            <a:r>
              <a:rPr b="0" lang="en-US" sz="1400" spc="-1" strike="noStrike">
                <a:solidFill>
                  <a:schemeClr val="dk1">
                    <a:lumMod val="75000"/>
                    <a:lumOff val="25000"/>
                  </a:schemeClr>
                </a:solidFill>
                <a:latin typeface="Calibri"/>
              </a:rPr>
              <a:t>, completely eliminating the need for slow synchronization tools like mutexes or atomic operations. ⚡</a:t>
            </a:r>
            <a:endParaRPr b="0" lang="en-US" sz="14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1400" spc="-1" strike="noStrike">
                <a:solidFill>
                  <a:schemeClr val="dk1">
                    <a:lumMod val="75000"/>
                    <a:lumOff val="25000"/>
                  </a:schemeClr>
                </a:solidFill>
                <a:latin typeface="Calibri"/>
              </a:rPr>
              <a:t>Further optimizations include:</a:t>
            </a:r>
            <a:endParaRPr b="0" lang="en-US" sz="14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r>
              <a:rPr b="0" lang="en-US" sz="1400" spc="-1" strike="noStrike">
                <a:solidFill>
                  <a:schemeClr val="dk1">
                    <a:lumMod val="75000"/>
                    <a:lumOff val="25000"/>
                  </a:schemeClr>
                </a:solidFill>
                <a:latin typeface="Calibri"/>
              </a:rPr>
              <a:t>1) A fast </a:t>
            </a:r>
            <a:r>
              <a:rPr b="1" lang="en-US" sz="1400" spc="-1" strike="noStrike">
                <a:solidFill>
                  <a:schemeClr val="dk1">
                    <a:lumMod val="75000"/>
                    <a:lumOff val="25000"/>
                  </a:schemeClr>
                </a:solidFill>
                <a:latin typeface="Calibri"/>
              </a:rPr>
              <a:t>two-pointer intersection</a:t>
            </a:r>
            <a:r>
              <a:rPr b="0" lang="en-US" sz="1400" spc="-1" strike="noStrike">
                <a:solidFill>
                  <a:schemeClr val="dk1">
                    <a:lumMod val="75000"/>
                    <a:lumOff val="25000"/>
                  </a:schemeClr>
                </a:solidFill>
                <a:latin typeface="Calibri"/>
              </a:rPr>
              <a:t> method to find common neighbors on pre-sorted lists.</a:t>
            </a:r>
            <a:endParaRPr b="0" lang="en-US" sz="14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r>
              <a:rPr b="0" lang="en-US" sz="1400" spc="-1" strike="noStrike">
                <a:solidFill>
                  <a:schemeClr val="dk1">
                    <a:lumMod val="75000"/>
                    <a:lumOff val="25000"/>
                  </a:schemeClr>
                </a:solidFill>
                <a:latin typeface="Calibri"/>
              </a:rPr>
              <a:t>2) </a:t>
            </a:r>
            <a:r>
              <a:rPr b="1" lang="en-US" sz="1400" spc="-1" strike="noStrike">
                <a:solidFill>
                  <a:schemeClr val="dk1">
                    <a:lumMod val="75000"/>
                    <a:lumOff val="25000"/>
                  </a:schemeClr>
                </a:solidFill>
                <a:latin typeface="Calibri"/>
              </a:rPr>
              <a:t>Pre-filtering edges</a:t>
            </a:r>
            <a:r>
              <a:rPr b="0" lang="en-US" sz="1400" spc="-1" strike="noStrike">
                <a:solidFill>
                  <a:schemeClr val="dk1">
                    <a:lumMod val="75000"/>
                    <a:lumOff val="25000"/>
                  </a:schemeClr>
                </a:solidFill>
                <a:latin typeface="Calibri"/>
              </a:rPr>
              <a:t> at the start to remove redundant checks from the main loop.</a:t>
            </a:r>
            <a:endParaRPr b="0" lang="en-US" sz="14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r>
              <a:rPr b="0" lang="en-US" sz="1400" spc="-1" strike="noStrike">
                <a:solidFill>
                  <a:schemeClr val="dk1">
                    <a:lumMod val="75000"/>
                    <a:lumOff val="25000"/>
                  </a:schemeClr>
                </a:solidFill>
                <a:latin typeface="Calibri"/>
              </a:rPr>
              <a:t>3) Passing data by </a:t>
            </a:r>
            <a:r>
              <a:rPr b="1" lang="en-US" sz="1400" spc="-1" strike="noStrike">
                <a:solidFill>
                  <a:schemeClr val="dk1">
                    <a:lumMod val="75000"/>
                    <a:lumOff val="25000"/>
                  </a:schemeClr>
                </a:solidFill>
                <a:latin typeface="Calibri"/>
              </a:rPr>
              <a:t>constant reference</a:t>
            </a:r>
            <a:r>
              <a:rPr b="0" lang="en-US" sz="1400" spc="-1" strike="noStrike">
                <a:solidFill>
                  <a:schemeClr val="dk1">
                    <a:lumMod val="75000"/>
                    <a:lumOff val="25000"/>
                  </a:schemeClr>
                </a:solidFill>
                <a:latin typeface="Calibri"/>
              </a:rPr>
              <a:t> (const &amp;) to avoid expensive data copying between threads.</a:t>
            </a:r>
            <a:endParaRPr b="0" lang="en-US" sz="14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endParaRPr b="0" lang="en-US" sz="1400" spc="-1" strike="noStrike">
              <a:solidFill>
                <a:schemeClr val="dk1">
                  <a:lumMod val="75000"/>
                  <a:lumOff val="25000"/>
                </a:schemeClr>
              </a:solidFill>
              <a:latin typeface="Calibri"/>
            </a:endParaRPr>
          </a:p>
        </p:txBody>
      </p:sp>
      <p:sp>
        <p:nvSpPr>
          <p:cNvPr id="195"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196"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97" name="Rectangle 11">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
        <p:nvSpPr>
          <p:cNvPr id="198" name="Rectangle 13">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t">
            <a:noAutofit/>
          </a:bodyPr>
          <a:p>
            <a:pPr defTabSz="457200">
              <a:lnSpc>
                <a:spcPct val="100000"/>
              </a:lnSpc>
            </a:pPr>
            <a:endParaRPr b="0" lang="it-IT" sz="1800" spc="-1" strike="noStrike">
              <a:solidFill>
                <a:schemeClr val="lt1"/>
              </a:solidFill>
              <a:latin typeface="Calibri"/>
            </a:endParaRPr>
          </a:p>
        </p:txBody>
      </p:sp>
      <p:cxnSp>
        <p:nvCxnSpPr>
          <p:cNvPr id="199" name="Straight Connector 15">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00" name="Rectangle 17">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1" name="PlaceHolder 1"/>
          <p:cNvSpPr>
            <a:spLocks noGrp="1"/>
          </p:cNvSpPr>
          <p:nvPr>
            <p:ph type="title"/>
          </p:nvPr>
        </p:nvSpPr>
        <p:spPr>
          <a:xfrm>
            <a:off x="633960" y="4550400"/>
            <a:ext cx="10908720" cy="1057320"/>
          </a:xfrm>
          <a:prstGeom prst="rect">
            <a:avLst/>
          </a:prstGeom>
          <a:noFill/>
          <a:ln w="0">
            <a:noFill/>
          </a:ln>
        </p:spPr>
        <p:txBody>
          <a:bodyPr lIns="91440" rIns="91440" tIns="45720" bIns="45720" anchor="b">
            <a:normAutofit/>
          </a:bodyPr>
          <a:p>
            <a:pPr indent="0" defTabSz="914400">
              <a:lnSpc>
                <a:spcPct val="85000"/>
              </a:lnSpc>
              <a:buNone/>
            </a:pPr>
            <a:r>
              <a:rPr b="0" lang="en-US" sz="3300" spc="-52" strike="noStrike">
                <a:solidFill>
                  <a:schemeClr val="dk1">
                    <a:lumMod val="85000"/>
                    <a:lumOff val="15000"/>
                  </a:schemeClr>
                </a:solidFill>
                <a:latin typeface="Calibri Light"/>
              </a:rPr>
              <a:t>Comparison between Parallel Edge v3 and sequential version</a:t>
            </a:r>
            <a:endParaRPr b="0" lang="en-US" sz="3300" spc="-1" strike="noStrike">
              <a:solidFill>
                <a:schemeClr val="dk1"/>
              </a:solidFill>
              <a:latin typeface="Calibri"/>
            </a:endParaRPr>
          </a:p>
        </p:txBody>
      </p:sp>
      <p:pic>
        <p:nvPicPr>
          <p:cNvPr id="202" name="Picture 6" descr=""/>
          <p:cNvPicPr/>
          <p:nvPr/>
        </p:nvPicPr>
        <p:blipFill>
          <a:blip r:embed="rId1"/>
          <a:stretch/>
        </p:blipFill>
        <p:spPr>
          <a:xfrm>
            <a:off x="635400" y="844200"/>
            <a:ext cx="5131440" cy="3193920"/>
          </a:xfrm>
          <a:prstGeom prst="rect">
            <a:avLst/>
          </a:prstGeom>
          <a:ln w="0">
            <a:noFill/>
          </a:ln>
        </p:spPr>
      </p:pic>
      <p:sp>
        <p:nvSpPr>
          <p:cNvPr id="203" name="Rectangle 19">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204" name="Picture 4" descr=""/>
          <p:cNvPicPr/>
          <p:nvPr/>
        </p:nvPicPr>
        <p:blipFill>
          <a:blip r:embed="rId2"/>
          <a:stretch/>
        </p:blipFill>
        <p:spPr>
          <a:xfrm>
            <a:off x="6424920" y="790920"/>
            <a:ext cx="5117760" cy="3300840"/>
          </a:xfrm>
          <a:prstGeom prst="rect">
            <a:avLst/>
          </a:prstGeom>
          <a:ln w="0">
            <a:noFill/>
          </a:ln>
        </p:spPr>
      </p:pic>
      <p:cxnSp>
        <p:nvCxnSpPr>
          <p:cNvPr id="205" name="Straight Connector 21">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06" name="Rectangle 2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207" name="Rectangle 2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908240" y="1073520"/>
            <a:ext cx="6247080" cy="663480"/>
          </a:xfrm>
          <a:prstGeom prst="rect">
            <a:avLst/>
          </a:prstGeom>
          <a:noFill/>
          <a:ln w="0">
            <a:noFill/>
          </a:ln>
        </p:spPr>
        <p:txBody>
          <a:bodyPr lIns="91440" rIns="91440" tIns="45720" bIns="45720" anchor="b">
            <a:normAutofit fontScale="55844" lnSpcReduction="20000"/>
          </a:bodyPr>
          <a:p>
            <a:pPr indent="0" defTabSz="914400">
              <a:lnSpc>
                <a:spcPct val="85000"/>
              </a:lnSpc>
              <a:buNone/>
            </a:pPr>
            <a:r>
              <a:rPr b="0" lang="en-US" sz="4800" spc="-52" strike="noStrike">
                <a:solidFill>
                  <a:schemeClr val="dk1">
                    <a:lumMod val="75000"/>
                    <a:lumOff val="25000"/>
                  </a:schemeClr>
                </a:solidFill>
                <a:latin typeface="Calibri Light"/>
              </a:rPr>
              <a:t>CUDA Parallel Forward Edge Iterator V1</a:t>
            </a:r>
            <a:endParaRPr b="0" lang="en-US" sz="4800" spc="-1" strike="noStrike">
              <a:solidFill>
                <a:schemeClr val="dk1"/>
              </a:solidFill>
              <a:latin typeface="Calibri"/>
            </a:endParaRPr>
          </a:p>
        </p:txBody>
      </p:sp>
      <p:sp>
        <p:nvSpPr>
          <p:cNvPr id="209" name="PlaceHolder 2"/>
          <p:cNvSpPr>
            <a:spLocks noGrp="1"/>
          </p:cNvSpPr>
          <p:nvPr>
            <p:ph/>
          </p:nvPr>
        </p:nvSpPr>
        <p:spPr>
          <a:xfrm>
            <a:off x="5750640" y="1846440"/>
            <a:ext cx="5404680" cy="4022280"/>
          </a:xfrm>
          <a:prstGeom prst="rect">
            <a:avLst/>
          </a:prstGeom>
          <a:noFill/>
          <a:ln w="0">
            <a:noFill/>
          </a:ln>
        </p:spPr>
        <p:txBody>
          <a:bodyPr lIns="0" rIns="0" tIns="45720" bIns="45720" anchor="t">
            <a:norm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The </a:t>
            </a:r>
            <a:r>
              <a:rPr b="1" lang="en-US" sz="2000" spc="-1" strike="noStrike">
                <a:solidFill>
                  <a:schemeClr val="dk1">
                    <a:lumMod val="75000"/>
                    <a:lumOff val="25000"/>
                  </a:schemeClr>
                </a:solidFill>
                <a:latin typeface="Calibri"/>
              </a:rPr>
              <a:t>Forward Edge Iterator</a:t>
            </a:r>
            <a:r>
              <a:rPr b="0" lang="en-US" sz="2000" spc="-1" strike="noStrike">
                <a:solidFill>
                  <a:schemeClr val="dk1">
                    <a:lumMod val="75000"/>
                    <a:lumOff val="25000"/>
                  </a:schemeClr>
                </a:solidFill>
                <a:latin typeface="Calibri"/>
              </a:rPr>
              <a:t> has also been implemented in CUDA, similar to the Forward Node Algorithm. It uses the </a:t>
            </a:r>
            <a:r>
              <a:rPr b="1" lang="en-US" sz="2000" spc="-1" strike="noStrike">
                <a:solidFill>
                  <a:schemeClr val="dk1">
                    <a:lumMod val="75000"/>
                    <a:lumOff val="25000"/>
                  </a:schemeClr>
                </a:solidFill>
                <a:latin typeface="Calibri"/>
              </a:rPr>
              <a:t>CRS (Compressed Row Storage)</a:t>
            </a:r>
            <a:r>
              <a:rPr b="0" lang="en-US" sz="2000" spc="-1" strike="noStrike">
                <a:solidFill>
                  <a:schemeClr val="dk1">
                    <a:lumMod val="75000"/>
                    <a:lumOff val="25000"/>
                  </a:schemeClr>
                </a:solidFill>
                <a:latin typeface="Calibri"/>
              </a:rPr>
              <a:t> format to represent the graph data. The implementation assigns </a:t>
            </a:r>
            <a:r>
              <a:rPr b="1" lang="en-US" sz="2000" spc="-1" strike="noStrike">
                <a:solidFill>
                  <a:schemeClr val="dk1">
                    <a:lumMod val="75000"/>
                    <a:lumOff val="25000"/>
                  </a:schemeClr>
                </a:solidFill>
                <a:latin typeface="Calibri"/>
              </a:rPr>
              <a:t>one thread to manage one edge</a:t>
            </a:r>
            <a:r>
              <a:rPr b="0" lang="en-US" sz="2000" spc="-1" strike="noStrike">
                <a:solidFill>
                  <a:schemeClr val="dk1">
                    <a:lumMod val="75000"/>
                    <a:lumOff val="25000"/>
                  </a:schemeClr>
                </a:solidFill>
                <a:latin typeface="Calibri"/>
              </a:rPr>
              <a:t>, handled through the function </a:t>
            </a:r>
            <a:r>
              <a:rPr b="0" i="1" lang="en-US" sz="2000" spc="-1" strike="noStrike">
                <a:solidFill>
                  <a:schemeClr val="dk1">
                    <a:lumMod val="75000"/>
                    <a:lumOff val="25000"/>
                  </a:schemeClr>
                </a:solidFill>
                <a:latin typeface="Calibri"/>
              </a:rPr>
              <a:t>EdgeIteratorAlgorithmKernel</a:t>
            </a:r>
            <a:r>
              <a:rPr b="0" lang="en-US" sz="2000" spc="-1" strike="noStrike">
                <a:solidFill>
                  <a:schemeClr val="dk1">
                    <a:lumMod val="75000"/>
                    <a:lumOff val="25000"/>
                  </a:schemeClr>
                </a:solidFill>
                <a:latin typeface="Calibri"/>
              </a:rPr>
              <a:t>. Since each edge connects two nodes in the graph, the function iterates over the neighbors of both nodes, and whenever two neighbors match, a new triangle is counted.</a:t>
            </a:r>
            <a:endParaRPr b="0" lang="en-US" sz="20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endParaRPr b="0" lang="en-US" sz="2000" spc="-1" strike="noStrike">
              <a:solidFill>
                <a:schemeClr val="dk1">
                  <a:lumMod val="75000"/>
                  <a:lumOff val="25000"/>
                </a:schemeClr>
              </a:solidFill>
              <a:latin typeface="Calibri"/>
            </a:endParaRPr>
          </a:p>
        </p:txBody>
      </p:sp>
      <p:pic>
        <p:nvPicPr>
          <p:cNvPr id="210" name="Picture 3" descr=""/>
          <p:cNvPicPr/>
          <p:nvPr/>
        </p:nvPicPr>
        <p:blipFill>
          <a:blip r:embed="rId1"/>
          <a:stretch/>
        </p:blipFill>
        <p:spPr>
          <a:xfrm>
            <a:off x="155160" y="1737360"/>
            <a:ext cx="5512320" cy="349452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4943520" y="371520"/>
            <a:ext cx="6211800" cy="1365480"/>
          </a:xfrm>
          <a:prstGeom prst="rect">
            <a:avLst/>
          </a:prstGeom>
          <a:noFill/>
          <a:ln w="0">
            <a:noFill/>
          </a:ln>
        </p:spPr>
        <p:txBody>
          <a:bodyPr lIns="91440" rIns="91440" tIns="45720" bIns="45720" anchor="b">
            <a:noAutofit/>
          </a:bodyPr>
          <a:p>
            <a:pPr indent="0" defTabSz="914400">
              <a:lnSpc>
                <a:spcPct val="85000"/>
              </a:lnSpc>
              <a:buNone/>
            </a:pPr>
            <a:r>
              <a:rPr b="0" lang="en-US" sz="4800" spc="-52" strike="noStrike">
                <a:solidFill>
                  <a:schemeClr val="dk1">
                    <a:lumMod val="75000"/>
                    <a:lumOff val="25000"/>
                  </a:schemeClr>
                </a:solidFill>
                <a:latin typeface="Calibri Light"/>
              </a:rPr>
              <a:t>CUDA Parallel Forward Edge Iterator V1_1</a:t>
            </a:r>
            <a:endParaRPr b="0" lang="en-US" sz="4800" spc="-1" strike="noStrike">
              <a:solidFill>
                <a:schemeClr val="dk1"/>
              </a:solidFill>
              <a:latin typeface="Calibri"/>
            </a:endParaRPr>
          </a:p>
        </p:txBody>
      </p:sp>
      <p:sp>
        <p:nvSpPr>
          <p:cNvPr id="212" name="PlaceHolder 2"/>
          <p:cNvSpPr>
            <a:spLocks noGrp="1"/>
          </p:cNvSpPr>
          <p:nvPr>
            <p:ph/>
          </p:nvPr>
        </p:nvSpPr>
        <p:spPr>
          <a:xfrm>
            <a:off x="5821560" y="1845720"/>
            <a:ext cx="5333760" cy="4023000"/>
          </a:xfrm>
          <a:prstGeom prst="rect">
            <a:avLst/>
          </a:prstGeom>
          <a:noFill/>
          <a:ln w="0">
            <a:noFill/>
          </a:ln>
        </p:spPr>
        <p:txBody>
          <a:bodyPr lIns="0" rIns="0" tIns="45720" bIns="45720" anchor="t">
            <a:norm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The </a:t>
            </a:r>
            <a:r>
              <a:rPr b="1" lang="en-US" sz="2000" spc="-1" strike="noStrike">
                <a:solidFill>
                  <a:schemeClr val="dk1">
                    <a:lumMod val="75000"/>
                    <a:lumOff val="25000"/>
                  </a:schemeClr>
                </a:solidFill>
                <a:latin typeface="Calibri"/>
              </a:rPr>
              <a:t>V1_1 version</a:t>
            </a:r>
            <a:r>
              <a:rPr b="0" lang="en-US" sz="2000" spc="-1" strike="noStrike">
                <a:solidFill>
                  <a:schemeClr val="dk1">
                    <a:lumMod val="75000"/>
                    <a:lumOff val="25000"/>
                  </a:schemeClr>
                </a:solidFill>
                <a:latin typeface="Calibri"/>
              </a:rPr>
              <a:t> builds directly on the original CUDA Forward Edge Iterator. The core function (</a:t>
            </a:r>
            <a:r>
              <a:rPr b="0" i="1" lang="en-US" sz="2000" spc="-1" strike="noStrike">
                <a:solidFill>
                  <a:schemeClr val="dk1">
                    <a:lumMod val="75000"/>
                    <a:lumOff val="25000"/>
                  </a:schemeClr>
                </a:solidFill>
                <a:latin typeface="Calibri"/>
              </a:rPr>
              <a:t>EdgeIteratorAlgorithmKernel</a:t>
            </a:r>
            <a:r>
              <a:rPr b="0" lang="en-US" sz="2000" spc="-1" strike="noStrike">
                <a:solidFill>
                  <a:schemeClr val="dk1">
                    <a:lumMod val="75000"/>
                    <a:lumOff val="25000"/>
                  </a:schemeClr>
                </a:solidFill>
                <a:latin typeface="Calibri"/>
              </a:rPr>
              <a:t>) remains unchanged. The key modification is in how edges are assigned: Instead of one thread handling exactly one edge, the full edge set is divided into </a:t>
            </a:r>
            <a:r>
              <a:rPr b="1" lang="en-US" sz="2000" spc="-1" strike="noStrike">
                <a:solidFill>
                  <a:schemeClr val="dk1">
                    <a:lumMod val="75000"/>
                    <a:lumOff val="25000"/>
                  </a:schemeClr>
                </a:solidFill>
                <a:latin typeface="Calibri"/>
              </a:rPr>
              <a:t>chunks</a:t>
            </a:r>
            <a:r>
              <a:rPr b="0" lang="en-US" sz="2000" spc="-1" strike="noStrike">
                <a:solidFill>
                  <a:schemeClr val="dk1">
                    <a:lumMod val="75000"/>
                    <a:lumOff val="25000"/>
                  </a:schemeClr>
                </a:solidFill>
                <a:latin typeface="Calibri"/>
              </a:rPr>
              <a:t>, with each thread responsible for one chunk. This design aims to improve </a:t>
            </a:r>
            <a:r>
              <a:rPr b="1" lang="en-US" sz="2000" spc="-1" strike="noStrike">
                <a:solidFill>
                  <a:schemeClr val="dk1">
                    <a:lumMod val="75000"/>
                    <a:lumOff val="25000"/>
                  </a:schemeClr>
                </a:solidFill>
                <a:latin typeface="Calibri"/>
              </a:rPr>
              <a:t>GPU resource utilization</a:t>
            </a:r>
            <a:r>
              <a:rPr b="0" lang="en-US" sz="2000" spc="-1" strike="noStrike">
                <a:solidFill>
                  <a:schemeClr val="dk1">
                    <a:lumMod val="75000"/>
                    <a:lumOff val="25000"/>
                  </a:schemeClr>
                </a:solidFill>
                <a:latin typeface="Calibri"/>
              </a:rPr>
              <a:t> and reduce latency by lowering the number of tasks the scheduler must manage in parallel.</a:t>
            </a:r>
            <a:endParaRPr b="0" lang="en-US" sz="20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endParaRPr b="0" lang="en-US" sz="2000" spc="-1" strike="noStrike">
              <a:solidFill>
                <a:schemeClr val="dk1">
                  <a:lumMod val="75000"/>
                  <a:lumOff val="25000"/>
                </a:schemeClr>
              </a:solidFill>
              <a:latin typeface="Calibri"/>
            </a:endParaRPr>
          </a:p>
        </p:txBody>
      </p:sp>
      <p:pic>
        <p:nvPicPr>
          <p:cNvPr id="213" name="Picture 3" descr=""/>
          <p:cNvPicPr/>
          <p:nvPr/>
        </p:nvPicPr>
        <p:blipFill>
          <a:blip r:embed="rId1"/>
          <a:stretch/>
        </p:blipFill>
        <p:spPr>
          <a:xfrm>
            <a:off x="185040" y="1580400"/>
            <a:ext cx="5710680" cy="353988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5155560" y="187920"/>
            <a:ext cx="6111360" cy="1450440"/>
          </a:xfrm>
          <a:prstGeom prst="rect">
            <a:avLst/>
          </a:prstGeom>
          <a:noFill/>
          <a:ln w="0">
            <a:noFill/>
          </a:ln>
        </p:spPr>
        <p:txBody>
          <a:bodyPr lIns="91440" rIns="91440" tIns="45720" bIns="45720" anchor="b">
            <a:noAutofit/>
          </a:bodyPr>
          <a:p>
            <a:pPr indent="0" defTabSz="914400">
              <a:lnSpc>
                <a:spcPct val="85000"/>
              </a:lnSpc>
              <a:buNone/>
            </a:pPr>
            <a:r>
              <a:rPr b="0" lang="en-US" sz="4800" spc="-52" strike="noStrike">
                <a:solidFill>
                  <a:schemeClr val="dk1">
                    <a:lumMod val="75000"/>
                    <a:lumOff val="25000"/>
                  </a:schemeClr>
                </a:solidFill>
                <a:latin typeface="Calibri Light"/>
              </a:rPr>
              <a:t>CUDA Parallel Forward Edge Iterator V2, V2_1</a:t>
            </a:r>
            <a:endParaRPr b="0" lang="en-US" sz="4800" spc="-1" strike="noStrike">
              <a:solidFill>
                <a:schemeClr val="dk1"/>
              </a:solidFill>
              <a:latin typeface="Calibri"/>
            </a:endParaRPr>
          </a:p>
        </p:txBody>
      </p:sp>
      <p:sp>
        <p:nvSpPr>
          <p:cNvPr id="215" name="PlaceHolder 2"/>
          <p:cNvSpPr>
            <a:spLocks noGrp="1"/>
          </p:cNvSpPr>
          <p:nvPr>
            <p:ph/>
          </p:nvPr>
        </p:nvSpPr>
        <p:spPr>
          <a:xfrm>
            <a:off x="5043960" y="1757520"/>
            <a:ext cx="6111360" cy="1812960"/>
          </a:xfrm>
          <a:prstGeom prst="rect">
            <a:avLst/>
          </a:prstGeom>
          <a:noFill/>
          <a:ln w="0">
            <a:noFill/>
          </a:ln>
        </p:spPr>
        <p:txBody>
          <a:bodyPr lIns="0" rIns="0" tIns="45720" bIns="45720" anchor="t">
            <a:normAutofit/>
          </a:bodyPr>
          <a:p>
            <a:pPr marL="91440" indent="-91440" defTabSz="914400">
              <a:lnSpc>
                <a:spcPct val="90000"/>
              </a:lnSpc>
              <a:spcBef>
                <a:spcPts val="1199"/>
              </a:spcBef>
              <a:spcAft>
                <a:spcPts val="201"/>
              </a:spcAft>
              <a:buClr>
                <a:srgbClr val="e48312"/>
              </a:buClr>
              <a:buFont typeface="Calibri"/>
              <a:buChar char=" "/>
            </a:pPr>
            <a:r>
              <a:rPr b="0" lang="en-US" sz="1400" spc="-1" strike="noStrike">
                <a:solidFill>
                  <a:schemeClr val="dk1">
                    <a:lumMod val="75000"/>
                    <a:lumOff val="25000"/>
                  </a:schemeClr>
                </a:solidFill>
                <a:latin typeface="Calibri"/>
              </a:rPr>
              <a:t>Unlike V1, the </a:t>
            </a:r>
            <a:r>
              <a:rPr b="1" lang="en-US" sz="1400" spc="-1" strike="noStrike">
                <a:solidFill>
                  <a:schemeClr val="dk1">
                    <a:lumMod val="75000"/>
                    <a:lumOff val="25000"/>
                  </a:schemeClr>
                </a:solidFill>
                <a:latin typeface="Calibri"/>
              </a:rPr>
              <a:t>V2 CUDA Edge Iterator</a:t>
            </a:r>
            <a:r>
              <a:rPr b="0" lang="en-US" sz="1400" spc="-1" strike="noStrike">
                <a:solidFill>
                  <a:schemeClr val="dk1">
                    <a:lumMod val="75000"/>
                    <a:lumOff val="25000"/>
                  </a:schemeClr>
                </a:solidFill>
                <a:latin typeface="Calibri"/>
              </a:rPr>
              <a:t> uses a </a:t>
            </a:r>
            <a:r>
              <a:rPr b="1" lang="en-US" sz="1400" spc="-1" strike="noStrike">
                <a:solidFill>
                  <a:schemeClr val="dk1">
                    <a:lumMod val="75000"/>
                    <a:lumOff val="25000"/>
                  </a:schemeClr>
                </a:solidFill>
                <a:latin typeface="Calibri"/>
              </a:rPr>
              <a:t>two-pointer merge-like algorithm</a:t>
            </a:r>
            <a:r>
              <a:rPr b="0" lang="en-US" sz="1400" spc="-1" strike="noStrike">
                <a:solidFill>
                  <a:schemeClr val="dk1">
                    <a:lumMod val="75000"/>
                    <a:lumOff val="25000"/>
                  </a:schemeClr>
                </a:solidFill>
                <a:latin typeface="Calibri"/>
              </a:rPr>
              <a:t> for neighbor intersection with linear complexity (d(u) + d(v)). Each thread still processes one edge, and all edges are handled in a </a:t>
            </a:r>
            <a:r>
              <a:rPr b="1" lang="en-US" sz="1400" spc="-1" strike="noStrike">
                <a:solidFill>
                  <a:schemeClr val="dk1">
                    <a:lumMod val="75000"/>
                    <a:lumOff val="25000"/>
                  </a:schemeClr>
                </a:solidFill>
                <a:latin typeface="Calibri"/>
              </a:rPr>
              <a:t>single kernel launch</a:t>
            </a:r>
            <a:r>
              <a:rPr b="0" lang="en-US" sz="1400" spc="-1" strike="noStrike">
                <a:solidFill>
                  <a:schemeClr val="dk1">
                    <a:lumMod val="75000"/>
                    <a:lumOff val="25000"/>
                  </a:schemeClr>
                </a:solidFill>
                <a:latin typeface="Calibri"/>
              </a:rPr>
              <a:t>, which greatly improves efficiency, especially for high-degree nodes.</a:t>
            </a:r>
            <a:endParaRPr b="0" lang="en-US" sz="14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endParaRPr b="0" lang="en-US" sz="20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tabLst>
                <a:tab algn="l" pos="0"/>
              </a:tabLst>
            </a:pPr>
            <a:endParaRPr b="0" lang="en-US" sz="2000" spc="-1" strike="noStrike">
              <a:solidFill>
                <a:schemeClr val="dk1">
                  <a:lumMod val="75000"/>
                  <a:lumOff val="25000"/>
                </a:schemeClr>
              </a:solidFill>
              <a:latin typeface="Calibri"/>
            </a:endParaRPr>
          </a:p>
        </p:txBody>
      </p:sp>
      <p:pic>
        <p:nvPicPr>
          <p:cNvPr id="216" name="Picture 3" descr=""/>
          <p:cNvPicPr/>
          <p:nvPr/>
        </p:nvPicPr>
        <p:blipFill>
          <a:blip r:embed="rId1"/>
          <a:stretch/>
        </p:blipFill>
        <p:spPr>
          <a:xfrm>
            <a:off x="87480" y="88920"/>
            <a:ext cx="4980600" cy="3176280"/>
          </a:xfrm>
          <a:prstGeom prst="rect">
            <a:avLst/>
          </a:prstGeom>
          <a:ln w="0">
            <a:noFill/>
          </a:ln>
        </p:spPr>
      </p:pic>
      <p:sp>
        <p:nvSpPr>
          <p:cNvPr id="217" name="TextBox 5"/>
          <p:cNvSpPr/>
          <p:nvPr/>
        </p:nvSpPr>
        <p:spPr>
          <a:xfrm>
            <a:off x="418320" y="3592440"/>
            <a:ext cx="4625280" cy="179748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400" spc="-1" strike="noStrike">
                <a:solidFill>
                  <a:schemeClr val="dk1"/>
                </a:solidFill>
                <a:latin typeface="Calibri"/>
              </a:rPr>
              <a:t>The </a:t>
            </a:r>
            <a:r>
              <a:rPr b="1" lang="en-US" sz="1400" spc="-1" strike="noStrike">
                <a:solidFill>
                  <a:schemeClr val="dk1"/>
                </a:solidFill>
                <a:latin typeface="Calibri"/>
              </a:rPr>
              <a:t>V2_1 CUDA Edge Iterator</a:t>
            </a:r>
            <a:r>
              <a:rPr b="0" lang="en-US" sz="1400" spc="-1" strike="noStrike">
                <a:solidFill>
                  <a:schemeClr val="dk1"/>
                </a:solidFill>
                <a:latin typeface="Calibri"/>
              </a:rPr>
              <a:t> extends V2 by adding a </a:t>
            </a:r>
            <a:r>
              <a:rPr b="1" lang="en-US" sz="1400" spc="-1" strike="noStrike">
                <a:solidFill>
                  <a:schemeClr val="dk1"/>
                </a:solidFill>
                <a:latin typeface="Calibri"/>
              </a:rPr>
              <a:t>shared memory optimization</a:t>
            </a:r>
            <a:r>
              <a:rPr b="0" lang="en-US" sz="1400" spc="-1" strike="noStrike">
                <a:solidFill>
                  <a:schemeClr val="dk1"/>
                </a:solidFill>
                <a:latin typeface="Calibri"/>
              </a:rPr>
              <a:t>. Instead of one thread per edge, </a:t>
            </a:r>
            <a:r>
              <a:rPr b="1" lang="en-US" sz="1400" spc="-1" strike="noStrike">
                <a:solidFill>
                  <a:schemeClr val="dk1"/>
                </a:solidFill>
                <a:latin typeface="Calibri"/>
              </a:rPr>
              <a:t>each block manages a single edge</a:t>
            </a:r>
            <a:r>
              <a:rPr b="0" lang="en-US" sz="1400" spc="-1" strike="noStrike">
                <a:solidFill>
                  <a:schemeClr val="dk1"/>
                </a:solidFill>
                <a:latin typeface="Calibri"/>
              </a:rPr>
              <a:t>. Threads cooperatively load the adjacency lists of the edge’s endpoints into </a:t>
            </a:r>
            <a:r>
              <a:rPr b="1" lang="en-US" sz="1400" spc="-1" strike="noStrike">
                <a:solidFill>
                  <a:schemeClr val="dk1"/>
                </a:solidFill>
                <a:latin typeface="Calibri"/>
              </a:rPr>
              <a:t>shared memory</a:t>
            </a:r>
            <a:r>
              <a:rPr b="0" lang="en-US" sz="1400" spc="-1" strike="noStrike">
                <a:solidFill>
                  <a:schemeClr val="dk1"/>
                </a:solidFill>
                <a:latin typeface="Calibri"/>
              </a:rPr>
              <a:t>, synchronize, and then a single thread performs the </a:t>
            </a:r>
            <a:r>
              <a:rPr b="1" lang="en-US" sz="1400" spc="-1" strike="noStrike">
                <a:solidFill>
                  <a:schemeClr val="dk1"/>
                </a:solidFill>
                <a:latin typeface="Calibri"/>
              </a:rPr>
              <a:t>two-pointer merge-like intersection</a:t>
            </a:r>
            <a:r>
              <a:rPr b="0" lang="en-US" sz="1400" spc="-1" strike="noStrike">
                <a:solidFill>
                  <a:schemeClr val="dk1"/>
                </a:solidFill>
                <a:latin typeface="Calibri"/>
              </a:rPr>
              <a:t> on this faster local data. This reduces global memory latency when neighbor lists fit in shared memory.</a:t>
            </a:r>
            <a:endParaRPr b="0" lang="en-US" sz="1400" spc="-1" strike="noStrike">
              <a:solidFill>
                <a:srgbClr val="000000"/>
              </a:solidFill>
              <a:latin typeface="Arial"/>
            </a:endParaRPr>
          </a:p>
        </p:txBody>
      </p:sp>
      <p:pic>
        <p:nvPicPr>
          <p:cNvPr id="218" name="Picture 6" descr=""/>
          <p:cNvPicPr/>
          <p:nvPr/>
        </p:nvPicPr>
        <p:blipFill>
          <a:blip r:embed="rId2"/>
          <a:stretch/>
        </p:blipFill>
        <p:spPr>
          <a:xfrm>
            <a:off x="5547240" y="2759400"/>
            <a:ext cx="5719680" cy="349992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49640" y="286560"/>
            <a:ext cx="6205680" cy="1450440"/>
          </a:xfrm>
          <a:prstGeom prst="rect">
            <a:avLst/>
          </a:prstGeom>
          <a:noFill/>
          <a:ln w="0">
            <a:noFill/>
          </a:ln>
        </p:spPr>
        <p:txBody>
          <a:bodyPr lIns="91440" rIns="91440" tIns="45720" bIns="45720" anchor="b">
            <a:noAutofit/>
          </a:bodyPr>
          <a:p>
            <a:pPr indent="0" defTabSz="914400">
              <a:lnSpc>
                <a:spcPct val="85000"/>
              </a:lnSpc>
              <a:buNone/>
            </a:pPr>
            <a:r>
              <a:rPr b="0" lang="en-US" sz="4800" spc="-52" strike="noStrike">
                <a:solidFill>
                  <a:schemeClr val="dk1">
                    <a:lumMod val="75000"/>
                    <a:lumOff val="25000"/>
                  </a:schemeClr>
                </a:solidFill>
                <a:latin typeface="Calibri Light"/>
              </a:rPr>
              <a:t>CUDA Parallel Forward Edge Iterator V2_2</a:t>
            </a:r>
            <a:endParaRPr b="0" lang="en-US" sz="4800" spc="-1" strike="noStrike">
              <a:solidFill>
                <a:schemeClr val="dk1"/>
              </a:solidFill>
              <a:latin typeface="Calibri"/>
            </a:endParaRPr>
          </a:p>
        </p:txBody>
      </p:sp>
      <p:sp>
        <p:nvSpPr>
          <p:cNvPr id="220" name="PlaceHolder 2"/>
          <p:cNvSpPr>
            <a:spLocks noGrp="1"/>
          </p:cNvSpPr>
          <p:nvPr>
            <p:ph/>
          </p:nvPr>
        </p:nvSpPr>
        <p:spPr>
          <a:xfrm>
            <a:off x="4949640" y="1845720"/>
            <a:ext cx="6205680" cy="1582920"/>
          </a:xfrm>
          <a:prstGeom prst="rect">
            <a:avLst/>
          </a:prstGeom>
          <a:noFill/>
          <a:ln w="0">
            <a:noFill/>
          </a:ln>
        </p:spPr>
        <p:txBody>
          <a:bodyPr lIns="0" rIns="0" tIns="45720" bIns="45720" anchor="t">
            <a:normAutofit/>
          </a:bodyPr>
          <a:p>
            <a:pPr marL="91440" indent="-91440" defTabSz="914400">
              <a:lnSpc>
                <a:spcPct val="90000"/>
              </a:lnSpc>
              <a:spcBef>
                <a:spcPts val="1199"/>
              </a:spcBef>
              <a:spcAft>
                <a:spcPts val="201"/>
              </a:spcAft>
              <a:buClr>
                <a:srgbClr val="e48312"/>
              </a:buClr>
              <a:buFont typeface="Calibri"/>
              <a:buChar char=" "/>
            </a:pPr>
            <a:r>
              <a:rPr b="0" lang="en-US" sz="1400" spc="-1" strike="noStrike">
                <a:solidFill>
                  <a:schemeClr val="dk1">
                    <a:lumMod val="75000"/>
                    <a:lumOff val="25000"/>
                  </a:schemeClr>
                </a:solidFill>
                <a:latin typeface="Calibri"/>
              </a:rPr>
              <a:t>The </a:t>
            </a:r>
            <a:r>
              <a:rPr b="1" lang="en-US" sz="1400" spc="-1" strike="noStrike">
                <a:solidFill>
                  <a:schemeClr val="dk1">
                    <a:lumMod val="75000"/>
                    <a:lumOff val="25000"/>
                  </a:schemeClr>
                </a:solidFill>
                <a:latin typeface="Calibri"/>
              </a:rPr>
              <a:t>V2_2 CUDA Edge Iterator</a:t>
            </a:r>
            <a:r>
              <a:rPr b="0" lang="en-US" sz="1400" spc="-1" strike="noStrike">
                <a:solidFill>
                  <a:schemeClr val="dk1">
                    <a:lumMod val="75000"/>
                    <a:lumOff val="25000"/>
                  </a:schemeClr>
                </a:solidFill>
                <a:latin typeface="Calibri"/>
              </a:rPr>
              <a:t> keeps the </a:t>
            </a:r>
            <a:r>
              <a:rPr b="1" lang="en-US" sz="1400" spc="-1" strike="noStrike">
                <a:solidFill>
                  <a:schemeClr val="dk1">
                    <a:lumMod val="75000"/>
                    <a:lumOff val="25000"/>
                  </a:schemeClr>
                </a:solidFill>
                <a:latin typeface="Calibri"/>
              </a:rPr>
              <a:t>two-pointer merge-like algorithm</a:t>
            </a:r>
            <a:r>
              <a:rPr b="0" lang="en-US" sz="1400" spc="-1" strike="noStrike">
                <a:solidFill>
                  <a:schemeClr val="dk1">
                    <a:lumMod val="75000"/>
                    <a:lumOff val="25000"/>
                  </a:schemeClr>
                </a:solidFill>
                <a:latin typeface="Calibri"/>
              </a:rPr>
              <a:t> and also uses </a:t>
            </a:r>
            <a:r>
              <a:rPr b="1" lang="en-US" sz="1400" spc="-1" strike="noStrike">
                <a:solidFill>
                  <a:schemeClr val="dk1">
                    <a:lumMod val="75000"/>
                    <a:lumOff val="25000"/>
                  </a:schemeClr>
                </a:solidFill>
                <a:latin typeface="Calibri"/>
              </a:rPr>
              <a:t>shared memory</a:t>
            </a:r>
            <a:r>
              <a:rPr b="0" lang="en-US" sz="1400" spc="-1" strike="noStrike">
                <a:solidFill>
                  <a:schemeClr val="dk1">
                    <a:lumMod val="75000"/>
                    <a:lumOff val="25000"/>
                  </a:schemeClr>
                </a:solidFill>
                <a:latin typeface="Calibri"/>
              </a:rPr>
              <a:t>, but with a different mapping than V2_1. Here, </a:t>
            </a:r>
            <a:r>
              <a:rPr b="1" lang="en-US" sz="1400" spc="-1" strike="noStrike">
                <a:solidFill>
                  <a:schemeClr val="dk1">
                    <a:lumMod val="75000"/>
                    <a:lumOff val="25000"/>
                  </a:schemeClr>
                </a:solidFill>
                <a:latin typeface="Calibri"/>
              </a:rPr>
              <a:t>one thread manages one edge</a:t>
            </a:r>
            <a:r>
              <a:rPr b="0" lang="en-US" sz="1400" spc="-1" strike="noStrike">
                <a:solidFill>
                  <a:schemeClr val="dk1">
                    <a:lumMod val="75000"/>
                    <a:lumOff val="25000"/>
                  </a:schemeClr>
                </a:solidFill>
                <a:latin typeface="Calibri"/>
              </a:rPr>
              <a:t> (like V2), but each thread tries to load its edge’s adjacency lists into a </a:t>
            </a:r>
            <a:r>
              <a:rPr b="1" lang="en-US" sz="1400" spc="-1" strike="noStrike">
                <a:solidFill>
                  <a:schemeClr val="dk1">
                    <a:lumMod val="75000"/>
                    <a:lumOff val="25000"/>
                  </a:schemeClr>
                </a:solidFill>
                <a:latin typeface="Calibri"/>
              </a:rPr>
              <a:t>dynamically allocated portion of shared memory</a:t>
            </a:r>
            <a:r>
              <a:rPr b="0" lang="en-US" sz="1400" spc="-1" strike="noStrike">
                <a:solidFill>
                  <a:schemeClr val="dk1">
                    <a:lumMod val="75000"/>
                    <a:lumOff val="25000"/>
                  </a:schemeClr>
                </a:solidFill>
                <a:latin typeface="Calibri"/>
              </a:rPr>
              <a:t> before performing the intersection. This allows multiple edges to be processed in parallel within a block, each gaining faster access if their lists fit in memory.</a:t>
            </a:r>
            <a:endParaRPr b="0" lang="en-US" sz="14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pPr>
            <a:endParaRPr b="0" lang="en-US" sz="1400" spc="-1" strike="noStrike">
              <a:solidFill>
                <a:schemeClr val="dk1">
                  <a:lumMod val="75000"/>
                  <a:lumOff val="25000"/>
                </a:schemeClr>
              </a:solidFill>
              <a:latin typeface="Calibri"/>
            </a:endParaRPr>
          </a:p>
        </p:txBody>
      </p:sp>
      <p:pic>
        <p:nvPicPr>
          <p:cNvPr id="221" name="Picture 3" descr=""/>
          <p:cNvPicPr/>
          <p:nvPr/>
        </p:nvPicPr>
        <p:blipFill>
          <a:blip r:embed="rId1"/>
          <a:stretch/>
        </p:blipFill>
        <p:spPr>
          <a:xfrm>
            <a:off x="246960" y="1605240"/>
            <a:ext cx="4701960" cy="286236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760640" y="286560"/>
            <a:ext cx="6394680" cy="1450440"/>
          </a:xfrm>
          <a:prstGeom prst="rect">
            <a:avLst/>
          </a:prstGeom>
          <a:noFill/>
          <a:ln w="0">
            <a:noFill/>
          </a:ln>
        </p:spPr>
        <p:txBody>
          <a:bodyPr lIns="91440" rIns="91440" tIns="45720" bIns="45720" anchor="b">
            <a:noAutofit/>
          </a:bodyPr>
          <a:p>
            <a:pPr indent="0" defTabSz="914400">
              <a:lnSpc>
                <a:spcPct val="85000"/>
              </a:lnSpc>
              <a:buNone/>
            </a:pPr>
            <a:r>
              <a:rPr b="0" lang="en-US" sz="4800" spc="-52" strike="noStrike">
                <a:solidFill>
                  <a:schemeClr val="dk1">
                    <a:lumMod val="75000"/>
                    <a:lumOff val="25000"/>
                  </a:schemeClr>
                </a:solidFill>
                <a:latin typeface="Calibri Light"/>
              </a:rPr>
              <a:t>CUDA Parallel Forward Edge Iterator V3</a:t>
            </a:r>
            <a:endParaRPr b="0" lang="en-US" sz="4800" spc="-1" strike="noStrike">
              <a:solidFill>
                <a:schemeClr val="dk1"/>
              </a:solidFill>
              <a:latin typeface="Calibri"/>
            </a:endParaRPr>
          </a:p>
        </p:txBody>
      </p:sp>
      <p:sp>
        <p:nvSpPr>
          <p:cNvPr id="223" name="PlaceHolder 2"/>
          <p:cNvSpPr>
            <a:spLocks noGrp="1"/>
          </p:cNvSpPr>
          <p:nvPr>
            <p:ph/>
          </p:nvPr>
        </p:nvSpPr>
        <p:spPr>
          <a:xfrm>
            <a:off x="4760640" y="1845720"/>
            <a:ext cx="6394680" cy="4023000"/>
          </a:xfrm>
          <a:prstGeom prst="rect">
            <a:avLst/>
          </a:prstGeom>
          <a:noFill/>
          <a:ln w="0">
            <a:noFill/>
          </a:ln>
        </p:spPr>
        <p:txBody>
          <a:bodyPr lIns="0" rIns="0" tIns="45720" bIns="45720" anchor="t">
            <a:normAutofit/>
          </a:bodyPr>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The </a:t>
            </a:r>
            <a:r>
              <a:rPr b="1" lang="en-US" sz="2000" spc="-1" strike="noStrike">
                <a:solidFill>
                  <a:schemeClr val="dk1">
                    <a:lumMod val="75000"/>
                    <a:lumOff val="25000"/>
                  </a:schemeClr>
                </a:solidFill>
                <a:latin typeface="Calibri"/>
              </a:rPr>
              <a:t>V3 CUDA Edge Iterator</a:t>
            </a:r>
            <a:r>
              <a:rPr b="0" lang="en-US" sz="2000" spc="-1" strike="noStrike">
                <a:solidFill>
                  <a:schemeClr val="dk1">
                    <a:lumMod val="75000"/>
                    <a:lumOff val="25000"/>
                  </a:schemeClr>
                </a:solidFill>
                <a:latin typeface="Calibri"/>
              </a:rPr>
              <a:t> addresses the </a:t>
            </a:r>
            <a:r>
              <a:rPr b="1" lang="en-US" sz="2000" spc="-1" strike="noStrike">
                <a:solidFill>
                  <a:schemeClr val="dk1">
                    <a:lumMod val="75000"/>
                    <a:lumOff val="25000"/>
                  </a:schemeClr>
                </a:solidFill>
                <a:latin typeface="Calibri"/>
              </a:rPr>
              <a:t>scalability issues</a:t>
            </a:r>
            <a:r>
              <a:rPr b="0" lang="en-US" sz="2000" spc="-1" strike="noStrike">
                <a:solidFill>
                  <a:schemeClr val="dk1">
                    <a:lumMod val="75000"/>
                    <a:lumOff val="25000"/>
                  </a:schemeClr>
                </a:solidFill>
                <a:latin typeface="Calibri"/>
              </a:rPr>
              <a:t> of previous versions, where larger block sizes caused performance degradation. V3 introduces a </a:t>
            </a:r>
            <a:r>
              <a:rPr b="1" lang="en-US" sz="2000" spc="-1" strike="noStrike">
                <a:solidFill>
                  <a:schemeClr val="dk1">
                    <a:lumMod val="75000"/>
                    <a:lumOff val="25000"/>
                  </a:schemeClr>
                </a:solidFill>
                <a:latin typeface="Calibri"/>
              </a:rPr>
              <a:t>dynamic work queue</a:t>
            </a:r>
            <a:r>
              <a:rPr b="0" lang="en-US" sz="2000" spc="-1" strike="noStrike">
                <a:solidFill>
                  <a:schemeClr val="dk1">
                    <a:lumMod val="75000"/>
                    <a:lumOff val="25000"/>
                  </a:schemeClr>
                </a:solidFill>
                <a:latin typeface="Calibri"/>
              </a:rPr>
              <a:t> for edge iteration: threads fetch new edges from a global queue as they finish previous work. This improves </a:t>
            </a:r>
            <a:r>
              <a:rPr b="1" lang="en-US" sz="2000" spc="-1" strike="noStrike">
                <a:solidFill>
                  <a:schemeClr val="dk1">
                    <a:lumMod val="75000"/>
                    <a:lumOff val="25000"/>
                  </a:schemeClr>
                </a:solidFill>
                <a:latin typeface="Calibri"/>
              </a:rPr>
              <a:t>load balancing</a:t>
            </a:r>
            <a:r>
              <a:rPr b="0" lang="en-US" sz="2000" spc="-1" strike="noStrike">
                <a:solidFill>
                  <a:schemeClr val="dk1">
                    <a:lumMod val="75000"/>
                    <a:lumOff val="25000"/>
                  </a:schemeClr>
                </a:solidFill>
                <a:latin typeface="Calibri"/>
              </a:rPr>
              <a:t>, since threads handling lighter edges can continue working instead of remaining idle, leading to better resource utilization.</a:t>
            </a:r>
            <a:endParaRPr b="0" lang="en-US" sz="2000" spc="-1" strike="noStrike">
              <a:solidFill>
                <a:schemeClr val="dk1">
                  <a:lumMod val="75000"/>
                  <a:lumOff val="25000"/>
                </a:schemeClr>
              </a:solidFill>
              <a:latin typeface="Calibri"/>
            </a:endParaRPr>
          </a:p>
          <a:p>
            <a:pPr marL="91440" indent="-91440" defTabSz="914400">
              <a:lnSpc>
                <a:spcPct val="90000"/>
              </a:lnSpc>
              <a:spcBef>
                <a:spcPts val="1199"/>
              </a:spcBef>
              <a:spcAft>
                <a:spcPts val="201"/>
              </a:spcAft>
              <a:buClr>
                <a:srgbClr val="e48312"/>
              </a:buClr>
              <a:buFont typeface="Calibri"/>
              <a:buChar char=" "/>
            </a:pPr>
            <a:r>
              <a:rPr b="0" lang="en-US" sz="2000" spc="-1" strike="noStrike">
                <a:solidFill>
                  <a:schemeClr val="dk1">
                    <a:lumMod val="75000"/>
                    <a:lumOff val="25000"/>
                  </a:schemeClr>
                </a:solidFill>
                <a:latin typeface="Calibri"/>
              </a:rPr>
              <a:t>A hybrid variant (</a:t>
            </a:r>
            <a:r>
              <a:rPr b="1" lang="en-US" sz="2000" spc="-1" strike="noStrike">
                <a:solidFill>
                  <a:schemeClr val="dk1">
                    <a:lumMod val="75000"/>
                    <a:lumOff val="25000"/>
                  </a:schemeClr>
                </a:solidFill>
                <a:latin typeface="Calibri"/>
              </a:rPr>
              <a:t>V3_1</a:t>
            </a:r>
            <a:r>
              <a:rPr b="0" lang="en-US" sz="2000" spc="-1" strike="noStrike">
                <a:solidFill>
                  <a:schemeClr val="dk1">
                    <a:lumMod val="75000"/>
                    <a:lumOff val="25000"/>
                  </a:schemeClr>
                </a:solidFill>
                <a:latin typeface="Calibri"/>
              </a:rPr>
              <a:t>) combines static block assignment with dynamic scheduling inside each block using </a:t>
            </a:r>
            <a:r>
              <a:rPr b="1" lang="en-US" sz="2000" spc="-1" strike="noStrike">
                <a:solidFill>
                  <a:schemeClr val="dk1">
                    <a:lumMod val="75000"/>
                    <a:lumOff val="25000"/>
                  </a:schemeClr>
                </a:solidFill>
                <a:latin typeface="Calibri"/>
              </a:rPr>
              <a:t>shared memory</a:t>
            </a:r>
            <a:r>
              <a:rPr b="0" lang="en-US" sz="2000" spc="-1" strike="noStrike">
                <a:solidFill>
                  <a:schemeClr val="dk1">
                    <a:lumMod val="75000"/>
                    <a:lumOff val="25000"/>
                  </a:schemeClr>
                </a:solidFill>
                <a:latin typeface="Calibri"/>
              </a:rPr>
              <a:t>, reducing execution time by ~</a:t>
            </a:r>
            <a:r>
              <a:rPr b="1" lang="en-US" sz="2000" spc="-1" strike="noStrike">
                <a:solidFill>
                  <a:schemeClr val="dk1">
                    <a:lumMod val="75000"/>
                    <a:lumOff val="25000"/>
                  </a:schemeClr>
                </a:solidFill>
                <a:latin typeface="Calibri"/>
              </a:rPr>
              <a:t>15%</a:t>
            </a:r>
            <a:r>
              <a:rPr b="0" lang="en-US" sz="2000" spc="-1" strike="noStrike">
                <a:solidFill>
                  <a:schemeClr val="dk1">
                    <a:lumMod val="75000"/>
                    <a:lumOff val="25000"/>
                  </a:schemeClr>
                </a:solidFill>
                <a:latin typeface="Calibri"/>
              </a:rPr>
              <a:t> (from 35 ms to 30 ms at BLOCK_SIZE = 8).</a:t>
            </a:r>
            <a:endParaRPr b="0" lang="en-US" sz="2000" spc="-1" strike="noStrike">
              <a:solidFill>
                <a:schemeClr val="dk1">
                  <a:lumMod val="75000"/>
                  <a:lumOff val="25000"/>
                </a:schemeClr>
              </a:solidFill>
              <a:latin typeface="Calibri"/>
            </a:endParaRPr>
          </a:p>
          <a:p>
            <a:pPr indent="0" defTabSz="914400">
              <a:lnSpc>
                <a:spcPct val="90000"/>
              </a:lnSpc>
              <a:spcBef>
                <a:spcPts val="1199"/>
              </a:spcBef>
              <a:spcAft>
                <a:spcPts val="201"/>
              </a:spcAft>
              <a:buNone/>
            </a:pPr>
            <a:endParaRPr b="0" lang="en-US" sz="2000" spc="-1" strike="noStrike">
              <a:solidFill>
                <a:schemeClr val="dk1">
                  <a:lumMod val="75000"/>
                  <a:lumOff val="25000"/>
                </a:schemeClr>
              </a:solidFill>
              <a:latin typeface="Calibri"/>
            </a:endParaRPr>
          </a:p>
        </p:txBody>
      </p:sp>
      <p:pic>
        <p:nvPicPr>
          <p:cNvPr id="224" name="Picture 3" descr=""/>
          <p:cNvPicPr/>
          <p:nvPr/>
        </p:nvPicPr>
        <p:blipFill>
          <a:blip r:embed="rId1"/>
          <a:stretch/>
        </p:blipFill>
        <p:spPr>
          <a:xfrm>
            <a:off x="326880" y="485280"/>
            <a:ext cx="4300200" cy="2720520"/>
          </a:xfrm>
          <a:prstGeom prst="rect">
            <a:avLst/>
          </a:prstGeom>
          <a:ln w="0">
            <a:noFill/>
          </a:ln>
        </p:spPr>
      </p:pic>
      <p:pic>
        <p:nvPicPr>
          <p:cNvPr id="225" name="Picture 4" descr=""/>
          <p:cNvPicPr/>
          <p:nvPr/>
        </p:nvPicPr>
        <p:blipFill>
          <a:blip r:embed="rId2"/>
          <a:stretch/>
        </p:blipFill>
        <p:spPr>
          <a:xfrm>
            <a:off x="238320" y="3229560"/>
            <a:ext cx="4406760" cy="2775600"/>
          </a:xfrm>
          <a:prstGeom prst="rect">
            <a:avLst/>
          </a:prstGeom>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26"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
        <p:nvSpPr>
          <p:cNvPr id="227"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t">
            <a:noAutofit/>
          </a:bodyPr>
          <a:p>
            <a:pPr defTabSz="457200">
              <a:lnSpc>
                <a:spcPct val="100000"/>
              </a:lnSpc>
            </a:pPr>
            <a:endParaRPr b="0" lang="it-IT" sz="1800" spc="-1" strike="noStrike">
              <a:solidFill>
                <a:schemeClr val="lt1"/>
              </a:solidFill>
              <a:latin typeface="Calibri"/>
            </a:endParaRPr>
          </a:p>
        </p:txBody>
      </p:sp>
      <p:cxnSp>
        <p:nvCxnSpPr>
          <p:cNvPr id="228"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29"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0" name="PlaceHolder 1"/>
          <p:cNvSpPr>
            <a:spLocks noGrp="1"/>
          </p:cNvSpPr>
          <p:nvPr>
            <p:ph type="title"/>
          </p:nvPr>
        </p:nvSpPr>
        <p:spPr>
          <a:xfrm>
            <a:off x="633960" y="4550400"/>
            <a:ext cx="10908720" cy="1057320"/>
          </a:xfrm>
          <a:prstGeom prst="rect">
            <a:avLst/>
          </a:prstGeom>
          <a:noFill/>
          <a:ln w="0">
            <a:noFill/>
          </a:ln>
        </p:spPr>
        <p:txBody>
          <a:bodyPr lIns="91440" rIns="91440" tIns="45720" bIns="45720" anchor="b">
            <a:normAutofit fontScale="90434" lnSpcReduction="20000"/>
          </a:bodyPr>
          <a:p>
            <a:pPr indent="0" defTabSz="914400">
              <a:lnSpc>
                <a:spcPct val="85000"/>
              </a:lnSpc>
              <a:buNone/>
            </a:pPr>
            <a:r>
              <a:rPr b="0" lang="en-US" sz="5100" spc="-52" strike="noStrike">
                <a:solidFill>
                  <a:schemeClr val="dk1">
                    <a:lumMod val="85000"/>
                    <a:lumOff val="15000"/>
                  </a:schemeClr>
                </a:solidFill>
                <a:latin typeface="Calibri Light"/>
              </a:rPr>
              <a:t>CUDA Parallel Edge V3: final comparison</a:t>
            </a:r>
            <a:endParaRPr b="0" lang="en-US" sz="5100" spc="-1" strike="noStrike">
              <a:solidFill>
                <a:schemeClr val="dk1"/>
              </a:solidFill>
              <a:latin typeface="Calibri"/>
            </a:endParaRPr>
          </a:p>
        </p:txBody>
      </p:sp>
      <p:pic>
        <p:nvPicPr>
          <p:cNvPr id="231" name="Content Placeholder 4" descr=""/>
          <p:cNvPicPr/>
          <p:nvPr/>
        </p:nvPicPr>
        <p:blipFill>
          <a:blip r:embed="rId1"/>
          <a:stretch/>
        </p:blipFill>
        <p:spPr>
          <a:xfrm>
            <a:off x="635400" y="953280"/>
            <a:ext cx="5131440" cy="2976120"/>
          </a:xfrm>
          <a:prstGeom prst="rect">
            <a:avLst/>
          </a:prstGeom>
          <a:ln w="0">
            <a:noFill/>
          </a:ln>
        </p:spPr>
      </p:pic>
      <p:sp>
        <p:nvSpPr>
          <p:cNvPr id="232"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233" name="Picture 6" descr=""/>
          <p:cNvPicPr/>
          <p:nvPr/>
        </p:nvPicPr>
        <p:blipFill>
          <a:blip r:embed="rId2"/>
          <a:stretch/>
        </p:blipFill>
        <p:spPr>
          <a:xfrm>
            <a:off x="6424920" y="867600"/>
            <a:ext cx="5117760" cy="3147480"/>
          </a:xfrm>
          <a:prstGeom prst="rect">
            <a:avLst/>
          </a:prstGeom>
          <a:ln w="0">
            <a:noFill/>
          </a:ln>
        </p:spPr>
      </p:pic>
      <p:cxnSp>
        <p:nvCxnSpPr>
          <p:cNvPr id="234"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35"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236"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237"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8" name="PlaceHolder 1"/>
          <p:cNvSpPr>
            <a:spLocks noGrp="1"/>
          </p:cNvSpPr>
          <p:nvPr>
            <p:ph type="title"/>
          </p:nvPr>
        </p:nvSpPr>
        <p:spPr>
          <a:xfrm>
            <a:off x="5144760" y="635040"/>
            <a:ext cx="6404760" cy="1450440"/>
          </a:xfrm>
          <a:prstGeom prst="rect">
            <a:avLst/>
          </a:prstGeom>
          <a:noFill/>
          <a:ln w="0">
            <a:noFill/>
          </a:ln>
        </p:spPr>
        <p:txBody>
          <a:bodyPr lIns="91440" rIns="91440" tIns="45720" bIns="45720" anchor="b">
            <a:normAutofit fontScale="91893"/>
          </a:bodyPr>
          <a:p>
            <a:pPr indent="0" defTabSz="914400">
              <a:lnSpc>
                <a:spcPct val="85000"/>
              </a:lnSpc>
              <a:buNone/>
            </a:pPr>
            <a:r>
              <a:rPr b="0" lang="it-IT" sz="4800" spc="-52" strike="noStrike">
                <a:solidFill>
                  <a:schemeClr val="dk1">
                    <a:lumMod val="75000"/>
                    <a:lumOff val="25000"/>
                  </a:schemeClr>
                </a:solidFill>
                <a:latin typeface="Calibri Light"/>
              </a:rPr>
              <a:t>Parallel (C++) Matrix Multiplication Algorithm</a:t>
            </a:r>
            <a:endParaRPr b="0" lang="en-US" sz="4800" spc="-1" strike="noStrike">
              <a:solidFill>
                <a:schemeClr val="dk1"/>
              </a:solidFill>
              <a:latin typeface="Calibri"/>
            </a:endParaRPr>
          </a:p>
        </p:txBody>
      </p:sp>
      <p:pic>
        <p:nvPicPr>
          <p:cNvPr id="239" name="Picture 3" descr=""/>
          <p:cNvPicPr/>
          <p:nvPr/>
        </p:nvPicPr>
        <p:blipFill>
          <a:blip r:embed="rId1"/>
          <a:stretch/>
        </p:blipFill>
        <p:spPr>
          <a:xfrm>
            <a:off x="655200" y="581040"/>
            <a:ext cx="3977280" cy="2475720"/>
          </a:xfrm>
          <a:prstGeom prst="rect">
            <a:avLst/>
          </a:prstGeom>
          <a:ln w="0">
            <a:noFill/>
          </a:ln>
        </p:spPr>
      </p:pic>
      <p:cxnSp>
        <p:nvCxnSpPr>
          <p:cNvPr id="240" name="Straight Connector 11">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241" name="Picture 4" descr=""/>
          <p:cNvPicPr/>
          <p:nvPr/>
        </p:nvPicPr>
        <p:blipFill>
          <a:blip r:embed="rId2"/>
          <a:stretch/>
        </p:blipFill>
        <p:spPr>
          <a:xfrm>
            <a:off x="663120" y="3218040"/>
            <a:ext cx="3961440" cy="2475720"/>
          </a:xfrm>
          <a:prstGeom prst="rect">
            <a:avLst/>
          </a:prstGeom>
          <a:ln w="0">
            <a:noFill/>
          </a:ln>
        </p:spPr>
      </p:pic>
      <p:sp>
        <p:nvSpPr>
          <p:cNvPr id="242" name="PlaceHolder 2"/>
          <p:cNvSpPr>
            <a:spLocks noGrp="1"/>
          </p:cNvSpPr>
          <p:nvPr>
            <p:ph/>
          </p:nvPr>
        </p:nvSpPr>
        <p:spPr>
          <a:xfrm>
            <a:off x="5144760" y="2198880"/>
            <a:ext cx="6404760" cy="3669840"/>
          </a:xfrm>
          <a:prstGeom prst="rect">
            <a:avLst/>
          </a:prstGeom>
          <a:blipFill rotWithShape="0">
            <a:blip r:embed="rId3"/>
            <a:stretch/>
          </a:blip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it-IT" sz="2000" spc="-1" strike="noStrike">
                <a:solidFill>
                  <a:srgbClr val="ffffff">
                    <a:alpha val="1000"/>
                  </a:srgbClr>
                </a:solidFill>
                <a:latin typeface="Calibri"/>
              </a:rPr>
              <a:t> </a:t>
            </a:r>
            <a:endParaRPr b="0" lang="en-US" sz="2000" spc="-1" strike="noStrike">
              <a:solidFill>
                <a:schemeClr val="dk1">
                  <a:lumMod val="75000"/>
                  <a:lumOff val="25000"/>
                </a:schemeClr>
              </a:solidFill>
              <a:latin typeface="Calibri"/>
            </a:endParaRPr>
          </a:p>
        </p:txBody>
      </p:sp>
      <p:sp>
        <p:nvSpPr>
          <p:cNvPr id="243"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21600" bIns="21600" anchor="t">
            <a:noAutofit/>
          </a:bodyPr>
          <a:p>
            <a:pPr defTabSz="457200">
              <a:lnSpc>
                <a:spcPct val="100000"/>
              </a:lnSpc>
            </a:pPr>
            <a:endParaRPr b="0" lang="it-IT" sz="1800" spc="-1" strike="noStrike">
              <a:solidFill>
                <a:schemeClr val="lt1"/>
              </a:solidFill>
              <a:latin typeface="Calibri"/>
            </a:endParaRPr>
          </a:p>
        </p:txBody>
      </p:sp>
      <p:sp>
        <p:nvSpPr>
          <p:cNvPr id="244"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defTabSz="457200">
              <a:lnSpc>
                <a:spcPct val="100000"/>
              </a:lnSpc>
            </a:pPr>
            <a:endParaRPr b="0" lang="it-IT"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45" name="PlaceHolder 1"/>
          <p:cNvSpPr>
            <a:spLocks noGrp="1"/>
          </p:cNvSpPr>
          <p:nvPr>
            <p:ph type="title"/>
          </p:nvPr>
        </p:nvSpPr>
        <p:spPr>
          <a:xfrm>
            <a:off x="1097280" y="286560"/>
            <a:ext cx="10058040" cy="1450440"/>
          </a:xfrm>
          <a:prstGeom prst="rect">
            <a:avLst/>
          </a:prstGeom>
          <a:noFill/>
          <a:ln w="0">
            <a:noFill/>
          </a:ln>
        </p:spPr>
        <p:txBody>
          <a:bodyPr lIns="91440" rIns="91440" tIns="45720" bIns="45720" anchor="b">
            <a:normAutofit/>
          </a:bodyPr>
          <a:p>
            <a:pPr indent="0" defTabSz="914400">
              <a:lnSpc>
                <a:spcPct val="85000"/>
              </a:lnSpc>
              <a:buNone/>
            </a:pPr>
            <a:r>
              <a:rPr b="0" lang="it-IT" sz="4800" spc="-52" strike="noStrike">
                <a:solidFill>
                  <a:schemeClr val="dk1">
                    <a:lumMod val="75000"/>
                    <a:lumOff val="25000"/>
                  </a:schemeClr>
                </a:solidFill>
                <a:latin typeface="Calibri Light"/>
              </a:rPr>
              <a:t>CUDA Parallel Matrix Multiplication V1, V2</a:t>
            </a:r>
            <a:endParaRPr b="0" lang="en-US" sz="4800" spc="-1" strike="noStrike">
              <a:solidFill>
                <a:schemeClr val="dk1"/>
              </a:solidFill>
              <a:latin typeface="Calibri"/>
            </a:endParaRPr>
          </a:p>
        </p:txBody>
      </p:sp>
      <p:pic>
        <p:nvPicPr>
          <p:cNvPr id="246" name="Picture 3" descr="A graph with a line&#10;&#10;AI-generated content may be incorrect."/>
          <p:cNvPicPr/>
          <p:nvPr/>
        </p:nvPicPr>
        <p:blipFill>
          <a:blip r:embed="rId1"/>
          <a:srcRect l="12427" t="0" r="0" b="0"/>
          <a:stretch/>
        </p:blipFill>
        <p:spPr>
          <a:xfrm>
            <a:off x="261000" y="1666080"/>
            <a:ext cx="2977920" cy="2074320"/>
          </a:xfrm>
          <a:prstGeom prst="rect">
            <a:avLst/>
          </a:prstGeom>
          <a:ln w="0">
            <a:noFill/>
          </a:ln>
        </p:spPr>
      </p:pic>
      <p:pic>
        <p:nvPicPr>
          <p:cNvPr id="247" name="Picture 4" descr="A graph with a red line&#10;&#10;AI-generated content may be incorrect."/>
          <p:cNvPicPr/>
          <p:nvPr/>
        </p:nvPicPr>
        <p:blipFill>
          <a:blip r:embed="rId2"/>
          <a:srcRect l="7224" t="0" r="1974" b="0"/>
          <a:stretch/>
        </p:blipFill>
        <p:spPr>
          <a:xfrm>
            <a:off x="3295800" y="1683360"/>
            <a:ext cx="3055320" cy="2128320"/>
          </a:xfrm>
          <a:prstGeom prst="rect">
            <a:avLst/>
          </a:prstGeom>
          <a:ln w="0">
            <a:noFill/>
          </a:ln>
        </p:spPr>
      </p:pic>
      <p:pic>
        <p:nvPicPr>
          <p:cNvPr id="248" name="Picture 5" descr="A graph with a red line&#10;&#10;AI-generated content may be incorrect."/>
          <p:cNvPicPr/>
          <p:nvPr/>
        </p:nvPicPr>
        <p:blipFill>
          <a:blip r:embed="rId3"/>
          <a:srcRect l="9198" t="0" r="4" b="0"/>
          <a:stretch/>
        </p:blipFill>
        <p:spPr>
          <a:xfrm>
            <a:off x="5383440" y="3920400"/>
            <a:ext cx="3284280" cy="2287440"/>
          </a:xfrm>
          <a:prstGeom prst="rect">
            <a:avLst/>
          </a:prstGeom>
          <a:ln w="0">
            <a:noFill/>
          </a:ln>
        </p:spPr>
      </p:pic>
      <p:pic>
        <p:nvPicPr>
          <p:cNvPr id="249" name="Picture 6" descr="A graph with lines and numbers&#10;&#10;AI-generated content may be incorrect."/>
          <p:cNvPicPr/>
          <p:nvPr/>
        </p:nvPicPr>
        <p:blipFill>
          <a:blip r:embed="rId4"/>
          <a:srcRect l="8837" t="0" r="0" b="0"/>
          <a:stretch/>
        </p:blipFill>
        <p:spPr>
          <a:xfrm>
            <a:off x="8667720" y="3812040"/>
            <a:ext cx="3524040" cy="2454840"/>
          </a:xfrm>
          <a:prstGeom prst="rect">
            <a:avLst/>
          </a:prstGeom>
          <a:ln w="0">
            <a:noFill/>
          </a:ln>
        </p:spPr>
      </p:pic>
      <p:sp>
        <p:nvSpPr>
          <p:cNvPr id="250" name="PlaceHolder 2"/>
          <p:cNvSpPr>
            <a:spLocks noGrp="1"/>
          </p:cNvSpPr>
          <p:nvPr>
            <p:ph/>
          </p:nvPr>
        </p:nvSpPr>
        <p:spPr>
          <a:xfrm>
            <a:off x="6351480" y="1845720"/>
            <a:ext cx="5484240" cy="744840"/>
          </a:xfrm>
          <a:prstGeom prst="rect">
            <a:avLst/>
          </a:prstGeom>
          <a:noFill/>
          <a:ln w="0">
            <a:noFill/>
          </a:ln>
        </p:spPr>
        <p:txBody>
          <a:bodyPr lIns="0" rIns="0" tIns="45720" bIns="45720" anchor="t">
            <a:noAutofit/>
          </a:bodyPr>
          <a:p>
            <a:pPr marL="91440" indent="-91440" defTabSz="914400">
              <a:lnSpc>
                <a:spcPct val="90000"/>
              </a:lnSpc>
              <a:spcBef>
                <a:spcPts val="1199"/>
              </a:spcBef>
              <a:spcAft>
                <a:spcPts val="201"/>
              </a:spcAft>
              <a:buClr>
                <a:srgbClr val="e48312"/>
              </a:buClr>
              <a:buFont typeface="Calibri"/>
              <a:buChar char=" "/>
            </a:pPr>
            <a:r>
              <a:rPr b="0" lang="en-US" sz="1600" spc="-1" strike="noStrike">
                <a:solidFill>
                  <a:schemeClr val="dk1">
                    <a:lumMod val="75000"/>
                    <a:lumOff val="25000"/>
                  </a:schemeClr>
                </a:solidFill>
                <a:latin typeface="Calibri"/>
              </a:rPr>
              <a:t>In the V1 version, the algorithm assigns each GPU thread to compute one output matrix element via a dot product. Its primary performance bottleneck is </a:t>
            </a:r>
            <a:r>
              <a:rPr b="1" lang="en-US" sz="1600" spc="-1" strike="noStrike">
                <a:solidFill>
                  <a:schemeClr val="dk1">
                    <a:lumMod val="75000"/>
                    <a:lumOff val="25000"/>
                  </a:schemeClr>
                </a:solidFill>
                <a:latin typeface="Calibri"/>
              </a:rPr>
              <a:t>inefficient memory access</a:t>
            </a:r>
            <a:r>
              <a:rPr b="0" lang="en-US" sz="1600" spc="-1" strike="noStrike">
                <a:solidFill>
                  <a:schemeClr val="dk1">
                    <a:lumMod val="75000"/>
                    <a:lumOff val="25000"/>
                  </a:schemeClr>
                </a:solidFill>
                <a:latin typeface="Calibri"/>
              </a:rPr>
              <a:t>. Specifically, </a:t>
            </a:r>
            <a:r>
              <a:rPr b="1" lang="en-US" sz="1600" spc="-1" strike="noStrike">
                <a:solidFill>
                  <a:schemeClr val="dk1">
                    <a:lumMod val="75000"/>
                    <a:lumOff val="25000"/>
                  </a:schemeClr>
                </a:solidFill>
                <a:latin typeface="Calibri"/>
              </a:rPr>
              <a:t>uncoalesced global memory reads</a:t>
            </a:r>
            <a:r>
              <a:rPr b="0" lang="en-US" sz="1600" spc="-1" strike="noStrike">
                <a:solidFill>
                  <a:schemeClr val="dk1">
                    <a:lumMod val="75000"/>
                    <a:lumOff val="25000"/>
                  </a:schemeClr>
                </a:solidFill>
                <a:latin typeface="Calibri"/>
              </a:rPr>
              <a:t> from the second input matrix severely limit memory bandwidth.</a:t>
            </a:r>
            <a:endParaRPr b="0" lang="en-US" sz="1600" spc="-1" strike="noStrike">
              <a:solidFill>
                <a:schemeClr val="dk1">
                  <a:lumMod val="75000"/>
                  <a:lumOff val="25000"/>
                </a:schemeClr>
              </a:solidFill>
              <a:latin typeface="Calibri"/>
            </a:endParaRPr>
          </a:p>
        </p:txBody>
      </p:sp>
      <p:sp>
        <p:nvSpPr>
          <p:cNvPr id="251" name="TextBox 8"/>
          <p:cNvSpPr/>
          <p:nvPr/>
        </p:nvSpPr>
        <p:spPr>
          <a:xfrm>
            <a:off x="261000" y="3740400"/>
            <a:ext cx="4991400" cy="265140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400" spc="-1" strike="noStrike">
                <a:solidFill>
                  <a:schemeClr val="dk1"/>
                </a:solidFill>
                <a:latin typeface="Calibri"/>
              </a:rPr>
              <a:t>The V2 algorithm dramatically improves performance by using a </a:t>
            </a:r>
            <a:r>
              <a:rPr b="1" lang="en-US" sz="1400" spc="-1" strike="noStrike">
                <a:solidFill>
                  <a:schemeClr val="dk1"/>
                </a:solidFill>
                <a:latin typeface="Calibri"/>
              </a:rPr>
              <a:t>tiled strategy</a:t>
            </a:r>
            <a:r>
              <a:rPr b="0" lang="en-US" sz="1400" spc="-1" strike="noStrike">
                <a:solidFill>
                  <a:schemeClr val="dk1"/>
                </a:solidFill>
                <a:latin typeface="Calibri"/>
              </a:rPr>
              <a:t> that leverages the GPU's fast </a:t>
            </a:r>
            <a:r>
              <a:rPr b="1" lang="en-US" sz="1400" spc="-1" strike="noStrike">
                <a:solidFill>
                  <a:schemeClr val="dk1"/>
                </a:solidFill>
                <a:latin typeface="Calibri"/>
              </a:rPr>
              <a:t>shared memory</a:t>
            </a:r>
            <a:r>
              <a:rPr b="0" lang="en-US" sz="1400" spc="-1" strike="noStrike">
                <a:solidFill>
                  <a:schemeClr val="dk1"/>
                </a:solidFill>
                <a:latin typeface="Calibri"/>
              </a:rPr>
              <a:t>. Instead of numerous slow global memory reads, each thread block first </a:t>
            </a:r>
            <a:r>
              <a:rPr b="1" lang="en-US" sz="1400" spc="-1" strike="noStrike">
                <a:solidFill>
                  <a:schemeClr val="dk1"/>
                </a:solidFill>
                <a:latin typeface="Calibri"/>
              </a:rPr>
              <a:t>cooperatively loads sub-matrices (tiles)</a:t>
            </a:r>
            <a:r>
              <a:rPr b="0" lang="en-US" sz="1400" spc="-1" strike="noStrike">
                <a:solidFill>
                  <a:schemeClr val="dk1"/>
                </a:solidFill>
                <a:latin typeface="Calibri"/>
              </a:rPr>
              <a:t> into this on-chip shared memory. After synchronizing, all threads perform their calculations using this much faster local data. </a:t>
            </a:r>
            <a:endParaRPr b="0" lang="en-US" sz="1400" spc="-1" strike="noStrike">
              <a:solidFill>
                <a:srgbClr val="000000"/>
              </a:solidFill>
              <a:latin typeface="Arial"/>
            </a:endParaRPr>
          </a:p>
          <a:p>
            <a:pPr algn="just" defTabSz="457200">
              <a:lnSpc>
                <a:spcPct val="100000"/>
              </a:lnSpc>
            </a:pPr>
            <a:r>
              <a:rPr b="0" lang="en-US" sz="1400" spc="-1" strike="noStrike">
                <a:solidFill>
                  <a:schemeClr val="dk1"/>
                </a:solidFill>
                <a:latin typeface="Calibri"/>
              </a:rPr>
              <a:t>This approach is highly efficient because it dramatically </a:t>
            </a:r>
            <a:r>
              <a:rPr b="1" lang="en-US" sz="1400" spc="-1" strike="noStrike">
                <a:solidFill>
                  <a:schemeClr val="dk1"/>
                </a:solidFill>
                <a:latin typeface="Calibri"/>
              </a:rPr>
              <a:t>reduces global memory traffic and maximizes data reuse</a:t>
            </a:r>
            <a:r>
              <a:rPr b="0" lang="en-US" sz="1400" spc="-1" strike="noStrike">
                <a:solidFill>
                  <a:schemeClr val="dk1"/>
                </a:solidFill>
                <a:latin typeface="Calibri"/>
              </a:rPr>
              <a:t> from the fast shared memory. Overcomes the primary performance bottleneck found in the V1 algorithm. The TILE_SIZE is the crucial tuning parameter, as it defines both the tile dimensions and the thread block size for the operation</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l="0" t="0" r="0" b="0"/>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l="0" t="0" r="0" b="0"/>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Retrospect</Template>
  <TotalTime>480</TotalTime>
  <Application>LibreOffice/24.2.7.2$Linux_X86_64 LibreOffice_project/420$Build-2</Application>
  <AppVersion>15.0000</AppVersion>
  <Words>2639</Words>
  <Paragraphs>72</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2025-09-02T16:39:16Z</dcterms:created>
  <dc:creator>Revalor, Riccardo</dc:creator>
  <dc:description/>
  <dc:language>en-US</dc:language>
  <cp:lastModifiedBy/>
  <dcterms:modified xsi:type="dcterms:W3CDTF">2025-09-07T08:17:00Z</dcterms:modified>
  <cp:revision>70</cp:revision>
  <dc:subject/>
  <dc:title>Parallel Triangle Counting Algorithms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23</vt:i4>
  </property>
</Properties>
</file>