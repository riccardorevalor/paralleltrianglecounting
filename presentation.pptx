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256" r:id="rId2"/>
    <p:sldId id="257" r:id="rId3"/>
    <p:sldId id="258" r:id="rId4"/>
    <p:sldId id="259" r:id="rId5"/>
    <p:sldId id="260" r:id="rId6"/>
    <p:sldId id="261" r:id="rId7"/>
    <p:sldId id="278" r:id="rId8"/>
    <p:sldId id="262" r:id="rId9"/>
    <p:sldId id="263" r:id="rId10"/>
    <p:sldId id="264" r:id="rId11"/>
    <p:sldId id="279" r:id="rId12"/>
    <p:sldId id="265" r:id="rId13"/>
    <p:sldId id="266" r:id="rId14"/>
    <p:sldId id="267" r:id="rId15"/>
    <p:sldId id="280" r:id="rId16"/>
    <p:sldId id="268" r:id="rId17"/>
    <p:sldId id="269" r:id="rId18"/>
    <p:sldId id="270" r:id="rId19"/>
    <p:sldId id="272" r:id="rId20"/>
    <p:sldId id="273" r:id="rId21"/>
    <p:sldId id="281" r:id="rId22"/>
    <p:sldId id="274" r:id="rId23"/>
    <p:sldId id="276" r:id="rId24"/>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75" d="100"/>
          <a:sy n="75" d="100"/>
        </p:scale>
        <p:origin x="874" y="4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viewProps" Target="view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heme" Target="theme/them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097280" y="758952"/>
            <a:ext cx="10058400" cy="3566160"/>
          </a:xfrm>
        </p:spPr>
        <p:txBody>
          <a:bodyPr anchor="b">
            <a:normAutofit/>
          </a:bodyPr>
          <a:lstStyle>
            <a:lvl1pPr algn="l">
              <a:lnSpc>
                <a:spcPct val="85000"/>
              </a:lnSpc>
              <a:defRPr sz="8000" spc="-50" baseline="0">
                <a:solidFill>
                  <a:schemeClr val="tx1">
                    <a:lumMod val="85000"/>
                    <a:lumOff val="15000"/>
                  </a:schemeClr>
                </a:solidFill>
              </a:defRPr>
            </a:lvl1pPr>
          </a:lstStyle>
          <a:p>
            <a:r>
              <a:rPr lang="en-US"/>
              <a:t>Click to edit Master title style</a:t>
            </a:r>
            <a:endParaRPr lang="en-US" dirty="0"/>
          </a:p>
        </p:txBody>
      </p:sp>
      <p:sp>
        <p:nvSpPr>
          <p:cNvPr id="3" name="Subtitle 2"/>
          <p:cNvSpPr>
            <a:spLocks noGrp="1"/>
          </p:cNvSpPr>
          <p:nvPr>
            <p:ph type="subTitle" idx="1"/>
          </p:nvPr>
        </p:nvSpPr>
        <p:spPr>
          <a:xfrm>
            <a:off x="1100051" y="4455620"/>
            <a:ext cx="10058400" cy="1143000"/>
          </a:xfrm>
        </p:spPr>
        <p:txBody>
          <a:bodyPr lIns="91440" rIns="91440">
            <a:normAutofit/>
          </a:bodyPr>
          <a:lstStyle>
            <a:lvl1pPr marL="0" indent="0" algn="l">
              <a:buNone/>
              <a:defRPr sz="2400" cap="all" spc="200" baseline="0">
                <a:solidFill>
                  <a:schemeClr val="tx2"/>
                </a:solidFill>
                <a:latin typeface="+mj-lt"/>
              </a:defRPr>
            </a:lvl1pPr>
            <a:lvl2pPr marL="457200" indent="0" algn="ctr">
              <a:buNone/>
              <a:defRPr sz="2400"/>
            </a:lvl2pPr>
            <a:lvl3pPr marL="914400" indent="0" algn="ctr">
              <a:buNone/>
              <a:defRPr sz="24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05/09/2025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1061000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marL="0">
              <a:defRPr/>
            </a:lvl1p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05/09/2025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5457132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type="secHead" preserve="1">
  <p:cSld name="Section Header">
    <p:bg>
      <p:bgPr>
        <a:solidFill>
          <a:schemeClr val="bg1"/>
        </a:solidFill>
        <a:effectLst/>
      </p:bgPr>
    </p:bg>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758952"/>
            <a:ext cx="10058400" cy="3566160"/>
          </a:xfrm>
        </p:spPr>
        <p:txBody>
          <a:bodyPr anchor="b" anchorCtr="0">
            <a:normAutofit/>
          </a:bodyPr>
          <a:lstStyle>
            <a:lvl1pPr>
              <a:lnSpc>
                <a:spcPct val="85000"/>
              </a:lnSpc>
              <a:defRPr sz="8000" b="0">
                <a:solidFill>
                  <a:schemeClr val="tx1">
                    <a:lumMod val="85000"/>
                    <a:lumOff val="15000"/>
                  </a:schemeClr>
                </a:solidFill>
              </a:defRPr>
            </a:lvl1pPr>
          </a:lstStyle>
          <a:p>
            <a:r>
              <a:rPr lang="en-US"/>
              <a:t>Click to edit Master title style</a:t>
            </a:r>
            <a:endParaRPr lang="en-US" dirty="0"/>
          </a:p>
        </p:txBody>
      </p:sp>
      <p:sp>
        <p:nvSpPr>
          <p:cNvPr id="3" name="Text Placeholder 2"/>
          <p:cNvSpPr>
            <a:spLocks noGrp="1"/>
          </p:cNvSpPr>
          <p:nvPr>
            <p:ph type="body" idx="1"/>
          </p:nvPr>
        </p:nvSpPr>
        <p:spPr>
          <a:xfrm>
            <a:off x="1097280" y="4453128"/>
            <a:ext cx="10058400" cy="1143000"/>
          </a:xfrm>
        </p:spPr>
        <p:txBody>
          <a:bodyPr lIns="91440" rIns="91440" anchor="t" anchorCtr="0">
            <a:normAutofit/>
          </a:bodyPr>
          <a:lstStyle>
            <a:lvl1pPr marL="0" indent="0">
              <a:buNone/>
              <a:defRPr sz="2400" cap="all" spc="200" baseline="0">
                <a:solidFill>
                  <a:schemeClr val="tx2"/>
                </a:solidFill>
                <a:latin typeface="+mj-lt"/>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CDE5452-170D-44D1-B161-4C3EAA4B8855}" type="datetimeFigureOut">
              <a:rPr lang="it-IT" smtClean="0"/>
              <a:t>05/09/2025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cxnSp>
        <p:nvCxnSpPr>
          <p:cNvPr id="9" name="Straight Connector 8"/>
          <p:cNvCxnSpPr/>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42248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Content Placeholder 2"/>
          <p:cNvSpPr>
            <a:spLocks noGrp="1"/>
          </p:cNvSpPr>
          <p:nvPr>
            <p:ph sz="half" idx="1"/>
          </p:nvPr>
        </p:nvSpPr>
        <p:spPr>
          <a:xfrm>
            <a:off x="1097279" y="1845734"/>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217920" y="1845735"/>
            <a:ext cx="4937760" cy="40233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1CDE5452-170D-44D1-B161-4C3EAA4B8855}" type="datetimeFigureOut">
              <a:rPr lang="it-IT" smtClean="0"/>
              <a:t>05/09/2025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39106956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a:xfrm>
            <a:off x="1097280" y="286603"/>
            <a:ext cx="10058400" cy="1450757"/>
          </a:xfrm>
        </p:spPr>
        <p:txBody>
          <a:bodyPr/>
          <a:lstStyle/>
          <a:p>
            <a:r>
              <a:rPr lang="en-US"/>
              <a:t>Click to edit Master title style</a:t>
            </a:r>
            <a:endParaRPr lang="en-US" dirty="0"/>
          </a:p>
        </p:txBody>
      </p:sp>
      <p:sp>
        <p:nvSpPr>
          <p:cNvPr id="3" name="Text Placeholder 2"/>
          <p:cNvSpPr>
            <a:spLocks noGrp="1"/>
          </p:cNvSpPr>
          <p:nvPr>
            <p:ph type="body" idx="1"/>
          </p:nvPr>
        </p:nvSpPr>
        <p:spPr>
          <a:xfrm>
            <a:off x="109728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09728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217920" y="1846052"/>
            <a:ext cx="4937760" cy="736282"/>
          </a:xfrm>
        </p:spPr>
        <p:txBody>
          <a:bodyPr lIns="91440" rIns="91440" anchor="ctr">
            <a:normAutofit/>
          </a:bodyPr>
          <a:lstStyle>
            <a:lvl1pPr marL="0" indent="0">
              <a:buNone/>
              <a:defRPr sz="2000" b="0" cap="all" baseline="0">
                <a:solidFill>
                  <a:schemeClr val="tx2"/>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217920" y="2582334"/>
            <a:ext cx="4937760" cy="33782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1CDE5452-170D-44D1-B161-4C3EAA4B8855}" type="datetimeFigureOut">
              <a:rPr lang="it-IT" smtClean="0"/>
              <a:t>05/09/2025</a:t>
            </a:fld>
            <a:endParaRPr lang="it-IT"/>
          </a:p>
        </p:txBody>
      </p:sp>
      <p:sp>
        <p:nvSpPr>
          <p:cNvPr id="8" name="Footer Placeholder 7"/>
          <p:cNvSpPr>
            <a:spLocks noGrp="1"/>
          </p:cNvSpPr>
          <p:nvPr>
            <p:ph type="ftr" sz="quarter" idx="11"/>
          </p:nvPr>
        </p:nvSpPr>
        <p:spPr/>
        <p:txBody>
          <a:body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024440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1CDE5452-170D-44D1-B161-4C3EAA4B8855}" type="datetimeFigureOut">
              <a:rPr lang="it-IT" smtClean="0"/>
              <a:t>05/09/2025</a:t>
            </a:fld>
            <a:endParaRPr lang="it-IT"/>
          </a:p>
        </p:txBody>
      </p:sp>
      <p:sp>
        <p:nvSpPr>
          <p:cNvPr id="4" name="Footer Placeholder 3"/>
          <p:cNvSpPr>
            <a:spLocks noGrp="1"/>
          </p:cNvSpPr>
          <p:nvPr>
            <p:ph type="ftr" sz="quarter" idx="11"/>
          </p:nvPr>
        </p:nvSpPr>
        <p:spPr/>
        <p:txBody>
          <a:bodyPr/>
          <a:lstStyle/>
          <a:p>
            <a:endParaRPr lang="it-IT"/>
          </a:p>
        </p:txBody>
      </p:sp>
      <p:sp>
        <p:nvSpPr>
          <p:cNvPr id="5" name="Slide Number Placeholder 4"/>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41006918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type="blank" preserve="1">
  <p:cSld name="Blank">
    <p:spTree>
      <p:nvGrpSpPr>
        <p:cNvPr id="1" name=""/>
        <p:cNvGrpSpPr/>
        <p:nvPr/>
      </p:nvGrpSpPr>
      <p:grpSpPr>
        <a:xfrm>
          <a:off x="0" y="0"/>
          <a:ext cx="0" cy="0"/>
          <a:chOff x="0" y="0"/>
          <a:chExt cx="0" cy="0"/>
        </a:xfrm>
      </p:grpSpPr>
      <p:sp>
        <p:nvSpPr>
          <p:cNvPr id="5" name="Rectangle 4"/>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6" name="Rectangle 5"/>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7" name="Date Placeholder 6"/>
          <p:cNvSpPr>
            <a:spLocks noGrp="1"/>
          </p:cNvSpPr>
          <p:nvPr>
            <p:ph type="dt" sz="half" idx="10"/>
          </p:nvPr>
        </p:nvSpPr>
        <p:spPr/>
        <p:txBody>
          <a:bodyPr/>
          <a:lstStyle/>
          <a:p>
            <a:fld id="{1CDE5452-170D-44D1-B161-4C3EAA4B8855}" type="datetimeFigureOut">
              <a:rPr lang="it-IT" smtClean="0"/>
              <a:t>05/09/2025</a:t>
            </a:fld>
            <a:endParaRPr lang="it-IT"/>
          </a:p>
        </p:txBody>
      </p:sp>
      <p:sp>
        <p:nvSpPr>
          <p:cNvPr id="8" name="Footer Placeholder 7"/>
          <p:cNvSpPr>
            <a:spLocks noGrp="1"/>
          </p:cNvSpPr>
          <p:nvPr>
            <p:ph type="ftr" sz="quarter" idx="11"/>
          </p:nvPr>
        </p:nvSpPr>
        <p:spPr/>
        <p:txBody>
          <a:bodyPr/>
          <a:lstStyle>
            <a:lvl1pPr>
              <a:defRPr>
                <a:solidFill>
                  <a:srgbClr val="FFFFFF"/>
                </a:solidFill>
              </a:defRPr>
            </a:lvl1pPr>
          </a:lstStyle>
          <a:p>
            <a:endParaRPr lang="it-IT"/>
          </a:p>
        </p:txBody>
      </p:sp>
      <p:sp>
        <p:nvSpPr>
          <p:cNvPr id="9" name="Slide Number Placeholder 8"/>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9795115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type="objTx" preserve="1">
  <p:cSld name="Content with Caption">
    <p:spTree>
      <p:nvGrpSpPr>
        <p:cNvPr id="1" name=""/>
        <p:cNvGrpSpPr/>
        <p:nvPr/>
      </p:nvGrpSpPr>
      <p:grpSpPr>
        <a:xfrm>
          <a:off x="0" y="0"/>
          <a:ext cx="0" cy="0"/>
          <a:chOff x="0" y="0"/>
          <a:chExt cx="0" cy="0"/>
        </a:xfrm>
      </p:grpSpPr>
      <p:sp>
        <p:nvSpPr>
          <p:cNvPr id="8" name="Rectangle 7"/>
          <p:cNvSpPr/>
          <p:nvPr/>
        </p:nvSpPr>
        <p:spPr>
          <a:xfrm>
            <a:off x="16" y="0"/>
            <a:ext cx="4050791"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4040071" y="0"/>
            <a:ext cx="64008" cy="6858000"/>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457200" y="594359"/>
            <a:ext cx="3200400" cy="2286000"/>
          </a:xfrm>
        </p:spPr>
        <p:txBody>
          <a:bodyPr anchor="b">
            <a:normAutofit/>
          </a:bodyPr>
          <a:lstStyle>
            <a:lvl1pPr>
              <a:defRPr sz="3600" b="0">
                <a:solidFill>
                  <a:srgbClr val="FFFFFF"/>
                </a:solidFill>
              </a:defRPr>
            </a:lvl1pPr>
          </a:lstStyle>
          <a:p>
            <a:r>
              <a:rPr lang="en-US"/>
              <a:t>Click to edit Master title style</a:t>
            </a:r>
            <a:endParaRPr lang="en-US" dirty="0"/>
          </a:p>
        </p:txBody>
      </p:sp>
      <p:sp>
        <p:nvSpPr>
          <p:cNvPr id="3" name="Content Placeholder 2"/>
          <p:cNvSpPr>
            <a:spLocks noGrp="1"/>
          </p:cNvSpPr>
          <p:nvPr>
            <p:ph idx="1"/>
          </p:nvPr>
        </p:nvSpPr>
        <p:spPr>
          <a:xfrm>
            <a:off x="4800600" y="731520"/>
            <a:ext cx="6492240" cy="5257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457200" y="2926080"/>
            <a:ext cx="3200400" cy="3379124"/>
          </a:xfrm>
        </p:spPr>
        <p:txBody>
          <a:bodyPr lIns="91440" rIns="91440">
            <a:normAutofit/>
          </a:bodyPr>
          <a:lstStyle>
            <a:lvl1pPr marL="0" indent="0">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a:xfrm>
            <a:off x="465512" y="6459785"/>
            <a:ext cx="2618510" cy="365125"/>
          </a:xfrm>
        </p:spPr>
        <p:txBody>
          <a:bodyPr/>
          <a:lstStyle>
            <a:lvl1pPr algn="l">
              <a:defRPr/>
            </a:lvl1pPr>
          </a:lstStyle>
          <a:p>
            <a:fld id="{1CDE5452-170D-44D1-B161-4C3EAA4B8855}" type="datetimeFigureOut">
              <a:rPr lang="it-IT" smtClean="0"/>
              <a:t>05/09/2025</a:t>
            </a:fld>
            <a:endParaRPr lang="it-IT"/>
          </a:p>
        </p:txBody>
      </p:sp>
      <p:sp>
        <p:nvSpPr>
          <p:cNvPr id="6" name="Footer Placeholder 5"/>
          <p:cNvSpPr>
            <a:spLocks noGrp="1"/>
          </p:cNvSpPr>
          <p:nvPr>
            <p:ph type="ftr" sz="quarter" idx="11"/>
          </p:nvPr>
        </p:nvSpPr>
        <p:spPr>
          <a:xfrm>
            <a:off x="4800600" y="6459785"/>
            <a:ext cx="4648200" cy="365125"/>
          </a:xfrm>
        </p:spPr>
        <p:txBody>
          <a:bodyPr/>
          <a:lstStyle>
            <a:lvl1pPr algn="l">
              <a:defRPr>
                <a:solidFill>
                  <a:schemeClr val="tx2"/>
                </a:solidFill>
              </a:defRPr>
            </a:lvl1pPr>
          </a:lstStyle>
          <a:p>
            <a:endParaRPr lang="it-IT"/>
          </a:p>
        </p:txBody>
      </p:sp>
      <p:sp>
        <p:nvSpPr>
          <p:cNvPr id="7" name="Slide Number Placeholder 6"/>
          <p:cNvSpPr>
            <a:spLocks noGrp="1"/>
          </p:cNvSpPr>
          <p:nvPr>
            <p:ph type="sldNum" sz="quarter" idx="12"/>
          </p:nvPr>
        </p:nvSpPr>
        <p:spPr/>
        <p:txBody>
          <a:bodyPr/>
          <a:lstStyle>
            <a:lvl1pPr>
              <a:defRPr>
                <a:solidFill>
                  <a:schemeClr val="tx2"/>
                </a:solidFill>
              </a:defRPr>
            </a:lvl1pPr>
          </a:lstStyle>
          <a:p>
            <a:fld id="{84075D77-ABEB-4C37-93FA-4FC1C04AA79B}" type="slidenum">
              <a:rPr lang="it-IT" smtClean="0"/>
              <a:t>‹#›</a:t>
            </a:fld>
            <a:endParaRPr lang="it-IT"/>
          </a:p>
        </p:txBody>
      </p:sp>
    </p:spTree>
    <p:extLst>
      <p:ext uri="{BB962C8B-B14F-4D97-AF65-F5344CB8AC3E}">
        <p14:creationId xmlns:p14="http://schemas.microsoft.com/office/powerpoint/2010/main" val="38138199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type="picTx" preserve="1">
  <p:cSld name="Picture with Caption">
    <p:spTree>
      <p:nvGrpSpPr>
        <p:cNvPr id="1" name=""/>
        <p:cNvGrpSpPr/>
        <p:nvPr/>
      </p:nvGrpSpPr>
      <p:grpSpPr>
        <a:xfrm>
          <a:off x="0" y="0"/>
          <a:ext cx="0" cy="0"/>
          <a:chOff x="0" y="0"/>
          <a:chExt cx="0" cy="0"/>
        </a:xfrm>
      </p:grpSpPr>
      <p:sp>
        <p:nvSpPr>
          <p:cNvPr id="8" name="Rectangle 7"/>
          <p:cNvSpPr/>
          <p:nvPr/>
        </p:nvSpPr>
        <p:spPr>
          <a:xfrm>
            <a:off x="0" y="4953000"/>
            <a:ext cx="12188825"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15" y="491507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a:xfrm>
            <a:off x="1097280" y="5074920"/>
            <a:ext cx="10113264" cy="822960"/>
          </a:xfrm>
        </p:spPr>
        <p:txBody>
          <a:bodyPr lIns="91440" tIns="0" rIns="91440" bIns="0" anchor="b">
            <a:noAutofit/>
          </a:bodyPr>
          <a:lstStyle>
            <a:lvl1pPr>
              <a:defRPr sz="3600" b="0">
                <a:solidFill>
                  <a:srgbClr val="FFFFFF"/>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15" y="0"/>
            <a:ext cx="12191985" cy="4915076"/>
          </a:xfrm>
          <a:blipFill>
            <a:blip r:embed="rId2"/>
            <a:stretch>
              <a:fillRect/>
            </a:stretch>
          </a:blipFill>
        </p:spPr>
        <p:txBody>
          <a:bodyPr lIns="457200" tIns="457200" anchor="t"/>
          <a:lstStyle>
            <a:lvl1pPr marL="0" indent="0">
              <a:buNone/>
              <a:defRPr sz="3200">
                <a:solidFill>
                  <a:schemeClr val="bg1"/>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097280" y="5907023"/>
            <a:ext cx="10113264" cy="594360"/>
          </a:xfrm>
        </p:spPr>
        <p:txBody>
          <a:bodyPr lIns="91440" tIns="0" rIns="91440" bIns="0">
            <a:normAutofit/>
          </a:bodyPr>
          <a:lstStyle>
            <a:lvl1pPr marL="0" indent="0">
              <a:spcBef>
                <a:spcPts val="0"/>
              </a:spcBef>
              <a:spcAft>
                <a:spcPts val="600"/>
              </a:spcAft>
              <a:buNone/>
              <a:defRPr sz="1500">
                <a:solidFill>
                  <a:srgbClr val="FFFFFF"/>
                </a:solidFill>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CDE5452-170D-44D1-B161-4C3EAA4B8855}" type="datetimeFigureOut">
              <a:rPr lang="it-IT" smtClean="0"/>
              <a:t>05/09/2025</a:t>
            </a:fld>
            <a:endParaRPr lang="it-IT"/>
          </a:p>
        </p:txBody>
      </p:sp>
      <p:sp>
        <p:nvSpPr>
          <p:cNvPr id="6" name="Footer Placeholder 5"/>
          <p:cNvSpPr>
            <a:spLocks noGrp="1"/>
          </p:cNvSpPr>
          <p:nvPr>
            <p:ph type="ftr" sz="quarter" idx="11"/>
          </p:nvPr>
        </p:nvSpPr>
        <p:spPr/>
        <p:txBody>
          <a:bodyPr/>
          <a:lstStyle/>
          <a:p>
            <a:endParaRPr lang="it-IT"/>
          </a:p>
        </p:txBody>
      </p:sp>
      <p:sp>
        <p:nvSpPr>
          <p:cNvPr id="7" name="Slide Number Placeholder 6"/>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0648984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05/09/2025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213870479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type="vertTitleAndTx" preserve="1">
  <p:cSld name="Vertical Title and Text">
    <p:spTree>
      <p:nvGrpSpPr>
        <p:cNvPr id="1" name=""/>
        <p:cNvGrpSpPr/>
        <p:nvPr/>
      </p:nvGrpSpPr>
      <p:grpSpPr>
        <a:xfrm>
          <a:off x="0" y="0"/>
          <a:ext cx="0" cy="0"/>
          <a:chOff x="0" y="0"/>
          <a:chExt cx="0" cy="0"/>
        </a:xfrm>
      </p:grpSpPr>
      <p:sp>
        <p:nvSpPr>
          <p:cNvPr id="7" name="Rectangle 6"/>
          <p:cNvSpPr/>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8" name="Rectangle 7"/>
          <p:cNvSpPr/>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Vertical Title 1"/>
          <p:cNvSpPr>
            <a:spLocks noGrp="1"/>
          </p:cNvSpPr>
          <p:nvPr>
            <p:ph type="title" orient="vert"/>
          </p:nvPr>
        </p:nvSpPr>
        <p:spPr>
          <a:xfrm>
            <a:off x="8724900" y="414778"/>
            <a:ext cx="2628900" cy="575742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838200" y="414778"/>
            <a:ext cx="7734300" cy="5757422"/>
          </a:xfrm>
        </p:spPr>
        <p:txBody>
          <a:bodyPr vert="eaVert" lIns="45720" tIns="0" rIns="45720" b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1CDE5452-170D-44D1-B161-4C3EAA4B8855}" type="datetimeFigureOut">
              <a:rPr lang="it-IT" smtClean="0"/>
              <a:t>05/09/2025</a:t>
            </a:fld>
            <a:endParaRPr lang="it-IT"/>
          </a:p>
        </p:txBody>
      </p:sp>
      <p:sp>
        <p:nvSpPr>
          <p:cNvPr id="5" name="Footer Placeholder 4"/>
          <p:cNvSpPr>
            <a:spLocks noGrp="1"/>
          </p:cNvSpPr>
          <p:nvPr>
            <p:ph type="ftr" sz="quarter" idx="11"/>
          </p:nvPr>
        </p:nvSpPr>
        <p:spPr/>
        <p:txBody>
          <a:bodyPr/>
          <a:lstStyle/>
          <a:p>
            <a:endParaRPr lang="it-IT"/>
          </a:p>
        </p:txBody>
      </p:sp>
      <p:sp>
        <p:nvSpPr>
          <p:cNvPr id="6" name="Slide Number Placeholder 5"/>
          <p:cNvSpPr>
            <a:spLocks noGrp="1"/>
          </p:cNvSpPr>
          <p:nvPr>
            <p:ph type="sldNum" sz="quarter" idx="12"/>
          </p:nvPr>
        </p:nvSpPr>
        <p:spPr/>
        <p:txBody>
          <a:bodyPr/>
          <a:lstStyle/>
          <a:p>
            <a:fld id="{84075D77-ABEB-4C37-93FA-4FC1C04AA79B}" type="slidenum">
              <a:rPr lang="it-IT" smtClean="0"/>
              <a:t>‹#›</a:t>
            </a:fld>
            <a:endParaRPr lang="it-IT"/>
          </a:p>
        </p:txBody>
      </p:sp>
    </p:spTree>
    <p:extLst>
      <p:ext uri="{BB962C8B-B14F-4D97-AF65-F5344CB8AC3E}">
        <p14:creationId xmlns:p14="http://schemas.microsoft.com/office/powerpoint/2010/main" val="14802152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Rectangle 6"/>
          <p:cNvSpPr/>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9" name="Rectangle 8"/>
          <p:cNvSpPr/>
          <p:nvPr/>
        </p:nvSpPr>
        <p:spPr>
          <a:xfrm>
            <a:off x="0" y="6334316"/>
            <a:ext cx="12192001" cy="6599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097280" y="286603"/>
            <a:ext cx="10058400" cy="1450757"/>
          </a:xfrm>
          <a:prstGeom prst="rect">
            <a:avLst/>
          </a:prstGeom>
        </p:spPr>
        <p:txBody>
          <a:bodyPr vert="horz" lIns="91440" tIns="45720" rIns="91440" bIns="45720" rtlCol="0" anchor="b">
            <a:normAutofit/>
          </a:bodyPr>
          <a:lstStyle/>
          <a:p>
            <a:r>
              <a:rPr lang="en-US"/>
              <a:t>Click to edit Master title style</a:t>
            </a:r>
            <a:endParaRPr lang="en-US" dirty="0"/>
          </a:p>
        </p:txBody>
      </p:sp>
      <p:sp>
        <p:nvSpPr>
          <p:cNvPr id="3" name="Text Placeholder 2"/>
          <p:cNvSpPr>
            <a:spLocks noGrp="1"/>
          </p:cNvSpPr>
          <p:nvPr>
            <p:ph type="body" idx="1"/>
          </p:nvPr>
        </p:nvSpPr>
        <p:spPr>
          <a:xfrm>
            <a:off x="1097280" y="1845734"/>
            <a:ext cx="10058400" cy="4023360"/>
          </a:xfrm>
          <a:prstGeom prst="rect">
            <a:avLst/>
          </a:prstGeom>
        </p:spPr>
        <p:txBody>
          <a:bodyPr vert="horz" lIns="0" tIns="45720" rIns="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1097280" y="6459785"/>
            <a:ext cx="2472271" cy="365125"/>
          </a:xfrm>
          <a:prstGeom prst="rect">
            <a:avLst/>
          </a:prstGeom>
        </p:spPr>
        <p:txBody>
          <a:bodyPr vert="horz" lIns="91440" tIns="45720" rIns="91440" bIns="45720" rtlCol="0" anchor="ctr"/>
          <a:lstStyle>
            <a:lvl1pPr algn="l">
              <a:defRPr sz="900">
                <a:solidFill>
                  <a:srgbClr val="FFFFFF"/>
                </a:solidFill>
              </a:defRPr>
            </a:lvl1pPr>
          </a:lstStyle>
          <a:p>
            <a:fld id="{1CDE5452-170D-44D1-B161-4C3EAA4B8855}" type="datetimeFigureOut">
              <a:rPr lang="it-IT" smtClean="0"/>
              <a:t>05/09/2025</a:t>
            </a:fld>
            <a:endParaRPr lang="it-IT"/>
          </a:p>
        </p:txBody>
      </p:sp>
      <p:sp>
        <p:nvSpPr>
          <p:cNvPr id="5" name="Footer Placeholder 4"/>
          <p:cNvSpPr>
            <a:spLocks noGrp="1"/>
          </p:cNvSpPr>
          <p:nvPr>
            <p:ph type="ftr" sz="quarter" idx="3"/>
          </p:nvPr>
        </p:nvSpPr>
        <p:spPr>
          <a:xfrm>
            <a:off x="3686185" y="6459785"/>
            <a:ext cx="4822804" cy="365125"/>
          </a:xfrm>
          <a:prstGeom prst="rect">
            <a:avLst/>
          </a:prstGeom>
        </p:spPr>
        <p:txBody>
          <a:bodyPr vert="horz" lIns="91440" tIns="45720" rIns="91440" bIns="45720" rtlCol="0" anchor="ctr"/>
          <a:lstStyle>
            <a:lvl1pPr algn="ctr">
              <a:defRPr sz="900" cap="all" baseline="0">
                <a:solidFill>
                  <a:srgbClr val="FFFFFF"/>
                </a:solidFill>
              </a:defRPr>
            </a:lvl1pPr>
          </a:lstStyle>
          <a:p>
            <a:endParaRPr lang="it-IT"/>
          </a:p>
        </p:txBody>
      </p:sp>
      <p:sp>
        <p:nvSpPr>
          <p:cNvPr id="6" name="Slide Number Placeholder 5"/>
          <p:cNvSpPr>
            <a:spLocks noGrp="1"/>
          </p:cNvSpPr>
          <p:nvPr>
            <p:ph type="sldNum" sz="quarter" idx="4"/>
          </p:nvPr>
        </p:nvSpPr>
        <p:spPr>
          <a:xfrm>
            <a:off x="9900458" y="6459785"/>
            <a:ext cx="1312025" cy="365125"/>
          </a:xfrm>
          <a:prstGeom prst="rect">
            <a:avLst/>
          </a:prstGeom>
        </p:spPr>
        <p:txBody>
          <a:bodyPr vert="horz" lIns="91440" tIns="45720" rIns="91440" bIns="45720" rtlCol="0" anchor="ctr"/>
          <a:lstStyle>
            <a:lvl1pPr algn="r">
              <a:defRPr sz="1050">
                <a:solidFill>
                  <a:srgbClr val="FFFFFF"/>
                </a:solidFill>
              </a:defRPr>
            </a:lvl1pPr>
          </a:lstStyle>
          <a:p>
            <a:fld id="{84075D77-ABEB-4C37-93FA-4FC1C04AA79B}" type="slidenum">
              <a:rPr lang="it-IT" smtClean="0"/>
              <a:t>‹#›</a:t>
            </a:fld>
            <a:endParaRPr lang="it-IT"/>
          </a:p>
        </p:txBody>
      </p:sp>
      <p:cxnSp>
        <p:nvCxnSpPr>
          <p:cNvPr id="10" name="Straight Connector 9"/>
          <p:cNvCxnSpPr/>
          <p:nvPr/>
        </p:nvCxnSpPr>
        <p:spPr>
          <a:xfrm>
            <a:off x="1193532" y="1737845"/>
            <a:ext cx="996696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185325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85000"/>
        </a:lnSpc>
        <a:spcBef>
          <a:spcPct val="0"/>
        </a:spcBef>
        <a:buNone/>
        <a:defRPr sz="4800" kern="1200" spc="-50" baseline="0">
          <a:solidFill>
            <a:schemeClr val="tx1">
              <a:lumMod val="75000"/>
              <a:lumOff val="25000"/>
            </a:schemeClr>
          </a:solidFill>
          <a:latin typeface="+mj-lt"/>
          <a:ea typeface="+mj-ea"/>
          <a:cs typeface="+mj-cs"/>
        </a:defRPr>
      </a:lvl1pPr>
    </p:titleStyle>
    <p:bodyStyle>
      <a:lvl1pPr marL="91440" indent="-91440" algn="l" defTabSz="914400" rtl="0" eaLnBrk="1" latinLnBrk="0" hangingPunct="1">
        <a:lnSpc>
          <a:spcPct val="90000"/>
        </a:lnSpc>
        <a:spcBef>
          <a:spcPts val="1200"/>
        </a:spcBef>
        <a:spcAft>
          <a:spcPts val="200"/>
        </a:spcAft>
        <a:buClr>
          <a:schemeClr val="accent1"/>
        </a:buClr>
        <a:buSzPct val="100000"/>
        <a:buFont typeface="Calibri" panose="020F0502020204030204" pitchFamily="34" charset="0"/>
        <a:buChar char=" "/>
        <a:defRPr sz="2000" kern="1200">
          <a:solidFill>
            <a:schemeClr val="tx1">
              <a:lumMod val="75000"/>
              <a:lumOff val="25000"/>
            </a:schemeClr>
          </a:solidFill>
          <a:latin typeface="+mn-lt"/>
          <a:ea typeface="+mn-ea"/>
          <a:cs typeface="+mn-cs"/>
        </a:defRPr>
      </a:lvl1pPr>
      <a:lvl2pPr marL="384048" indent="-182880" algn="l" defTabSz="914400" rtl="0" eaLnBrk="1" latinLnBrk="0" hangingPunct="1">
        <a:lnSpc>
          <a:spcPct val="90000"/>
        </a:lnSpc>
        <a:spcBef>
          <a:spcPts val="200"/>
        </a:spcBef>
        <a:spcAft>
          <a:spcPts val="400"/>
        </a:spcAft>
        <a:buClr>
          <a:schemeClr val="accent1"/>
        </a:buClr>
        <a:buFont typeface="Calibri" pitchFamily="34" charset="0"/>
        <a:buChar char="◦"/>
        <a:defRPr sz="1800" kern="1200">
          <a:solidFill>
            <a:schemeClr val="tx1">
              <a:lumMod val="75000"/>
              <a:lumOff val="25000"/>
            </a:schemeClr>
          </a:solidFill>
          <a:latin typeface="+mn-lt"/>
          <a:ea typeface="+mn-ea"/>
          <a:cs typeface="+mn-cs"/>
        </a:defRPr>
      </a:lvl2pPr>
      <a:lvl3pPr marL="56692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3pPr>
      <a:lvl4pPr marL="74980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4pPr>
      <a:lvl5pPr marL="932688" indent="-18288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5pPr>
      <a:lvl6pPr marL="11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6pPr>
      <a:lvl7pPr marL="13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7pPr>
      <a:lvl8pPr marL="15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8pPr>
      <a:lvl9pPr marL="1700000" indent="-228600" algn="l" defTabSz="914400" rtl="0" eaLnBrk="1" latinLnBrk="0" hangingPunct="1">
        <a:lnSpc>
          <a:spcPct val="90000"/>
        </a:lnSpc>
        <a:spcBef>
          <a:spcPts val="200"/>
        </a:spcBef>
        <a:spcAft>
          <a:spcPts val="400"/>
        </a:spcAft>
        <a:buClr>
          <a:schemeClr val="accent1"/>
        </a:buClr>
        <a:buFont typeface="Calibri" pitchFamily="34" charset="0"/>
        <a:buChar char="◦"/>
        <a:defRPr sz="1400" kern="1200">
          <a:solidFill>
            <a:schemeClr val="tx1">
              <a:lumMod val="75000"/>
              <a:lumOff val="25000"/>
            </a:schemeClr>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5" Type="http://schemas.openxmlformats.org/officeDocument/2006/relationships/image" Target="../media/image10.png"/><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4.png"/><Relationship Id="rId1" Type="http://schemas.openxmlformats.org/officeDocument/2006/relationships/slideLayout" Target="../slideLayouts/slideLayout2.xml"/><Relationship Id="rId4" Type="http://schemas.openxmlformats.org/officeDocument/2006/relationships/image" Target="../media/image18.png"/></Relationships>
</file>

<file path=ppt/slides/_rels/slide1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 Id="rId5" Type="http://schemas.openxmlformats.org/officeDocument/2006/relationships/image" Target="../media/image36.png"/><Relationship Id="rId4" Type="http://schemas.openxmlformats.org/officeDocument/2006/relationships/image" Target="../media/image3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5945FD-6728-E2C5-DE92-C8F76A162F1C}"/>
              </a:ext>
            </a:extLst>
          </p:cNvPr>
          <p:cNvSpPr>
            <a:spLocks noGrp="1"/>
          </p:cNvSpPr>
          <p:nvPr>
            <p:ph type="ctrTitle"/>
          </p:nvPr>
        </p:nvSpPr>
        <p:spPr/>
        <p:txBody>
          <a:bodyPr/>
          <a:lstStyle/>
          <a:p>
            <a:r>
              <a:rPr lang="it-IT" dirty="0" err="1"/>
              <a:t>Parallel</a:t>
            </a:r>
            <a:r>
              <a:rPr lang="it-IT" dirty="0"/>
              <a:t> </a:t>
            </a:r>
            <a:r>
              <a:rPr lang="it-IT" dirty="0" err="1"/>
              <a:t>Triangle</a:t>
            </a:r>
            <a:r>
              <a:rPr lang="it-IT" dirty="0"/>
              <a:t> </a:t>
            </a:r>
            <a:r>
              <a:rPr lang="it-IT" dirty="0" err="1"/>
              <a:t>Counting</a:t>
            </a:r>
            <a:r>
              <a:rPr lang="it-IT" dirty="0"/>
              <a:t> </a:t>
            </a:r>
            <a:r>
              <a:rPr lang="it-IT" dirty="0" err="1"/>
              <a:t>Algorithms</a:t>
            </a:r>
            <a:endParaRPr lang="it-IT" dirty="0"/>
          </a:p>
        </p:txBody>
      </p:sp>
      <p:sp>
        <p:nvSpPr>
          <p:cNvPr id="3" name="Subtitle 2">
            <a:extLst>
              <a:ext uri="{FF2B5EF4-FFF2-40B4-BE49-F238E27FC236}">
                <a16:creationId xmlns:a16="http://schemas.microsoft.com/office/drawing/2014/main" id="{909DAFDD-E17F-66AD-7B0D-C87D99A61713}"/>
              </a:ext>
            </a:extLst>
          </p:cNvPr>
          <p:cNvSpPr>
            <a:spLocks noGrp="1"/>
          </p:cNvSpPr>
          <p:nvPr>
            <p:ph type="subTitle" idx="1"/>
          </p:nvPr>
        </p:nvSpPr>
        <p:spPr/>
        <p:txBody>
          <a:bodyPr/>
          <a:lstStyle/>
          <a:p>
            <a:r>
              <a:rPr lang="it-IT" dirty="0"/>
              <a:t>Michele </a:t>
            </a:r>
            <a:r>
              <a:rPr lang="it-IT" dirty="0" err="1"/>
              <a:t>carloni</a:t>
            </a:r>
            <a:r>
              <a:rPr lang="it-IT" dirty="0"/>
              <a:t> - s338856</a:t>
            </a:r>
          </a:p>
          <a:p>
            <a:r>
              <a:rPr lang="it-IT" dirty="0"/>
              <a:t>Riccardo </a:t>
            </a:r>
            <a:r>
              <a:rPr lang="it-IT" dirty="0" err="1"/>
              <a:t>revalor</a:t>
            </a:r>
            <a:r>
              <a:rPr lang="it-IT" dirty="0"/>
              <a:t> – s339423</a:t>
            </a:r>
          </a:p>
        </p:txBody>
      </p:sp>
    </p:spTree>
    <p:extLst>
      <p:ext uri="{BB962C8B-B14F-4D97-AF65-F5344CB8AC3E}">
        <p14:creationId xmlns:p14="http://schemas.microsoft.com/office/powerpoint/2010/main" val="395909761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67AA46-C63B-4CA3-9054-F844CBEB4D18}"/>
              </a:ext>
            </a:extLst>
          </p:cNvPr>
          <p:cNvSpPr>
            <a:spLocks noGrp="1"/>
          </p:cNvSpPr>
          <p:nvPr>
            <p:ph type="title"/>
          </p:nvPr>
        </p:nvSpPr>
        <p:spPr/>
        <p:txBody>
          <a:bodyPr/>
          <a:lstStyle/>
          <a:p>
            <a:r>
              <a:rPr lang="it-IT" dirty="0"/>
              <a:t>Abstract</a:t>
            </a:r>
          </a:p>
        </p:txBody>
      </p:sp>
      <p:sp>
        <p:nvSpPr>
          <p:cNvPr id="3" name="Content Placeholder 2">
            <a:extLst>
              <a:ext uri="{FF2B5EF4-FFF2-40B4-BE49-F238E27FC236}">
                <a16:creationId xmlns:a16="http://schemas.microsoft.com/office/drawing/2014/main" id="{85918A25-CF23-E40C-3C6D-5A56F53540FC}"/>
              </a:ext>
            </a:extLst>
          </p:cNvPr>
          <p:cNvSpPr>
            <a:spLocks noGrp="1"/>
          </p:cNvSpPr>
          <p:nvPr>
            <p:ph idx="1"/>
          </p:nvPr>
        </p:nvSpPr>
        <p:spPr/>
        <p:txBody>
          <a:bodyPr/>
          <a:lstStyle/>
          <a:p>
            <a:r>
              <a:rPr lang="it-IT" dirty="0"/>
              <a:t>In </a:t>
            </a:r>
            <a:r>
              <a:rPr lang="it-IT" dirty="0" err="1"/>
              <a:t>our</a:t>
            </a:r>
            <a:r>
              <a:rPr lang="it-IT" dirty="0"/>
              <a:t> </a:t>
            </a:r>
            <a:r>
              <a:rPr lang="it-IT" dirty="0" err="1"/>
              <a:t>research</a:t>
            </a:r>
            <a:r>
              <a:rPr lang="it-IT" dirty="0"/>
              <a:t> </a:t>
            </a:r>
            <a:r>
              <a:rPr lang="it-IT" dirty="0" err="1"/>
              <a:t>we</a:t>
            </a:r>
            <a:r>
              <a:rPr lang="it-IT" dirty="0"/>
              <a:t> </a:t>
            </a:r>
            <a:r>
              <a:rPr lang="it-IT" dirty="0" err="1"/>
              <a:t>conducted</a:t>
            </a:r>
            <a:r>
              <a:rPr lang="it-IT" dirty="0"/>
              <a:t> a </a:t>
            </a:r>
            <a:r>
              <a:rPr lang="en-US" dirty="0"/>
              <a:t>comprehensive analysis of various algorithms for triangle counting in graphs. </a:t>
            </a:r>
          </a:p>
          <a:p>
            <a:r>
              <a:rPr lang="en-US" dirty="0"/>
              <a:t>We’ve investigated the </a:t>
            </a:r>
            <a:r>
              <a:rPr lang="en-US" b="1" dirty="0"/>
              <a:t>Forward algorithm</a:t>
            </a:r>
            <a:r>
              <a:rPr lang="en-US" dirty="0"/>
              <a:t>, implemented with both node-centric and edge-centric iteration strategies. For each of these, we test two distinct data </a:t>
            </a:r>
            <a:r>
              <a:rPr lang="en-US" dirty="0" err="1"/>
              <a:t>repre-sentations</a:t>
            </a:r>
            <a:r>
              <a:rPr lang="en-US" dirty="0"/>
              <a:t>: an adjacency list and an adjacency vector. All Forward algorithm variants are evaluated across </a:t>
            </a:r>
            <a:r>
              <a:rPr lang="en-US" b="1" dirty="0"/>
              <a:t>sequential</a:t>
            </a:r>
            <a:r>
              <a:rPr lang="en-US" dirty="0"/>
              <a:t>, </a:t>
            </a:r>
            <a:r>
              <a:rPr lang="en-US" b="1" dirty="0"/>
              <a:t>parallel C++ </a:t>
            </a:r>
            <a:r>
              <a:rPr lang="en-US" dirty="0"/>
              <a:t>(CPU threads), and </a:t>
            </a:r>
            <a:r>
              <a:rPr lang="en-US" b="1" dirty="0"/>
              <a:t>parallel CUDA </a:t>
            </a:r>
            <a:r>
              <a:rPr lang="en-US" dirty="0"/>
              <a:t>(GPU threads) implementations.</a:t>
            </a:r>
          </a:p>
          <a:p>
            <a:r>
              <a:rPr lang="en-US" dirty="0"/>
              <a:t>Furthermore, we explore a third algorithm based on </a:t>
            </a:r>
            <a:r>
              <a:rPr lang="en-US" b="1" dirty="0"/>
              <a:t>matrix multiplication</a:t>
            </a:r>
            <a:r>
              <a:rPr lang="en-US" dirty="0"/>
              <a:t>, which is also implemented and benchmarked using both parallel C++ and parallel CUDA approaches. This work provides insights into the performance characteristics and scalability of these diverse methodologies for triangle enumeration.</a:t>
            </a:r>
            <a:endParaRPr lang="it-IT" dirty="0"/>
          </a:p>
        </p:txBody>
      </p:sp>
    </p:spTree>
    <p:extLst>
      <p:ext uri="{BB962C8B-B14F-4D97-AF65-F5344CB8AC3E}">
        <p14:creationId xmlns:p14="http://schemas.microsoft.com/office/powerpoint/2010/main" val="8283553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D68BE9-F1B5-8A20-41E3-3B3C0DF7BA9D}"/>
              </a:ext>
            </a:extLst>
          </p:cNvPr>
          <p:cNvSpPr>
            <a:spLocks noGrp="1"/>
          </p:cNvSpPr>
          <p:nvPr>
            <p:ph type="title"/>
          </p:nvPr>
        </p:nvSpPr>
        <p:spPr>
          <a:xfrm>
            <a:off x="6411685" y="634946"/>
            <a:ext cx="5127171" cy="1450757"/>
          </a:xfrm>
        </p:spPr>
        <p:txBody>
          <a:bodyPr>
            <a:normAutofit/>
          </a:bodyPr>
          <a:lstStyle/>
          <a:p>
            <a:r>
              <a:rPr lang="it-IT" dirty="0"/>
              <a:t>The Basics</a:t>
            </a:r>
          </a:p>
        </p:txBody>
      </p:sp>
      <p:pic>
        <p:nvPicPr>
          <p:cNvPr id="1026" name="Picture 2" descr="Graph definition - Math Insight">
            <a:extLst>
              <a:ext uri="{FF2B5EF4-FFF2-40B4-BE49-F238E27FC236}">
                <a16:creationId xmlns:a16="http://schemas.microsoft.com/office/drawing/2014/main" id="{EB89D33A-40FC-490D-DB61-886320DA8AD6}"/>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43192" y="815748"/>
            <a:ext cx="5451627" cy="4906463"/>
          </a:xfrm>
          <a:prstGeom prst="rect">
            <a:avLst/>
          </a:prstGeom>
          <a:noFill/>
          <a:extLst>
            <a:ext uri="{909E8E84-426E-40DD-AFC4-6F175D3DCCD1}">
              <a14:hiddenFill xmlns:a14="http://schemas.microsoft.com/office/drawing/2010/main">
                <a:solidFill>
                  <a:srgbClr val="FFFFFF"/>
                </a:solidFill>
              </a14:hiddenFill>
            </a:ext>
          </a:extLst>
        </p:spPr>
      </p:pic>
      <p:cxnSp>
        <p:nvCxnSpPr>
          <p:cNvPr id="1033" name="Straight Connector 1032">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7AF9A8C0-F72A-C0FC-D63B-CB37C5B7709C}"/>
              </a:ext>
            </a:extLst>
          </p:cNvPr>
          <p:cNvSpPr>
            <a:spLocks noGrp="1"/>
          </p:cNvSpPr>
          <p:nvPr>
            <p:ph idx="1"/>
          </p:nvPr>
        </p:nvSpPr>
        <p:spPr>
          <a:xfrm>
            <a:off x="6411684" y="2198914"/>
            <a:ext cx="5127172" cy="3670180"/>
          </a:xfrm>
        </p:spPr>
        <p:txBody>
          <a:bodyPr>
            <a:normAutofit/>
          </a:bodyPr>
          <a:lstStyle/>
          <a:p>
            <a:r>
              <a:rPr lang="en-US" dirty="0"/>
              <a:t>Suppose that we have at our disposal a given graph </a:t>
            </a:r>
            <a:r>
              <a:rPr lang="en-US" b="1" dirty="0"/>
              <a:t>G = (V, E )</a:t>
            </a:r>
            <a:r>
              <a:rPr lang="en-US" dirty="0"/>
              <a:t>,</a:t>
            </a:r>
            <a:r>
              <a:rPr lang="en-US" b="1" dirty="0"/>
              <a:t> </a:t>
            </a:r>
            <a:r>
              <a:rPr lang="en-US" dirty="0"/>
              <a:t>where G is the graph itself, V denotes the set of all vertices (also called nodes), and E represents the set of edges (also called links or arcs). An edge connects two nodes between them. </a:t>
            </a:r>
          </a:p>
          <a:p>
            <a:r>
              <a:rPr lang="en-US" dirty="0"/>
              <a:t>The primary goal is to detect and count the number of triangles that can be formed inside the graph. More specifically, a triangle in graph G = (V, E ) is a set of three distinct vertices </a:t>
            </a:r>
            <a:r>
              <a:rPr lang="en-US" b="1" dirty="0"/>
              <a:t>{u, v, w} ⊆ V</a:t>
            </a:r>
            <a:r>
              <a:rPr lang="en-US" dirty="0"/>
              <a:t> such that the edges (u, v), (v, w), and (w, u) all exist in the set of edges E . </a:t>
            </a:r>
            <a:endParaRPr lang="it-IT" dirty="0"/>
          </a:p>
        </p:txBody>
      </p:sp>
      <p:sp>
        <p:nvSpPr>
          <p:cNvPr id="1035" name="Rectangle 1034">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037" name="Rectangle 1036">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43934020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8960EC-E57E-6DCE-2A4E-82CBC9897FDA}"/>
              </a:ext>
            </a:extLst>
          </p:cNvPr>
          <p:cNvSpPr>
            <a:spLocks noGrp="1"/>
          </p:cNvSpPr>
          <p:nvPr>
            <p:ph type="title"/>
          </p:nvPr>
        </p:nvSpPr>
        <p:spPr/>
        <p:txBody>
          <a:bodyPr/>
          <a:lstStyle/>
          <a:p>
            <a:r>
              <a:rPr lang="it-IT" dirty="0" err="1"/>
              <a:t>Node</a:t>
            </a:r>
            <a:r>
              <a:rPr lang="it-IT" dirty="0"/>
              <a:t> Iterator/</a:t>
            </a:r>
            <a:r>
              <a:rPr lang="it-IT" dirty="0" err="1"/>
              <a:t>Forward</a:t>
            </a:r>
            <a:r>
              <a:rPr lang="it-IT" dirty="0"/>
              <a:t> </a:t>
            </a:r>
            <a:r>
              <a:rPr lang="it-IT" dirty="0" err="1"/>
              <a:t>Node</a:t>
            </a:r>
            <a:r>
              <a:rPr lang="it-IT" dirty="0"/>
              <a:t> </a:t>
            </a:r>
            <a:r>
              <a:rPr lang="it-IT" dirty="0" err="1"/>
              <a:t>Iteator</a:t>
            </a:r>
            <a:endParaRPr lang="it-IT" dirty="0"/>
          </a:p>
        </p:txBody>
      </p:sp>
      <p:sp>
        <p:nvSpPr>
          <p:cNvPr id="3" name="Content Placeholder 2">
            <a:extLst>
              <a:ext uri="{FF2B5EF4-FFF2-40B4-BE49-F238E27FC236}">
                <a16:creationId xmlns:a16="http://schemas.microsoft.com/office/drawing/2014/main" id="{6287399B-6122-ABCE-6843-F80D405ADB93}"/>
              </a:ext>
            </a:extLst>
          </p:cNvPr>
          <p:cNvSpPr>
            <a:spLocks noGrp="1"/>
          </p:cNvSpPr>
          <p:nvPr>
            <p:ph idx="1"/>
          </p:nvPr>
        </p:nvSpPr>
        <p:spPr/>
        <p:txBody>
          <a:bodyPr>
            <a:normAutofit lnSpcReduction="10000"/>
          </a:bodyPr>
          <a:lstStyle/>
          <a:p>
            <a:r>
              <a:rPr lang="en-US" dirty="0"/>
              <a:t>The simplest and most naive version of the Node Iterator Algorithm iterates over all nodes in the graph and for each pair of neighbors of each node, checks whether they are connected by an edge and they share a common neighbor. </a:t>
            </a:r>
          </a:p>
          <a:p>
            <a:r>
              <a:rPr lang="en-US" dirty="0"/>
              <a:t>We implemented the Forward Algorithm (in various versions: sequential, parallel, CUDA) using these following strategies:</a:t>
            </a:r>
          </a:p>
          <a:p>
            <a:r>
              <a:rPr lang="en-US" dirty="0"/>
              <a:t>1) Graph Representation: </a:t>
            </a:r>
            <a:r>
              <a:rPr lang="en-US" b="1" dirty="0"/>
              <a:t>adjacency matrices </a:t>
            </a:r>
            <a:r>
              <a:rPr lang="en-US" dirty="0"/>
              <a:t>(implemented as std::vector&lt;std::vector&lt;int») and </a:t>
            </a:r>
            <a:r>
              <a:rPr lang="en-US" b="1" dirty="0"/>
              <a:t>adjacency lists </a:t>
            </a:r>
            <a:r>
              <a:rPr lang="en-US" dirty="0"/>
              <a:t>(implemented as std::map&lt;</a:t>
            </a:r>
            <a:r>
              <a:rPr lang="en-US" dirty="0" err="1"/>
              <a:t>int,std</a:t>
            </a:r>
            <a:r>
              <a:rPr lang="en-US" dirty="0"/>
              <a:t>::vector&lt;int» to handle potentially sparse or non-contiguous node IDs).</a:t>
            </a:r>
          </a:p>
          <a:p>
            <a:r>
              <a:rPr lang="en-US" dirty="0"/>
              <a:t>2) Auxiliary Sets: used to store a specific subset of neighbors for each node (std::vector&lt;std::set&lt;int»). Intersected to </a:t>
            </a:r>
            <a:r>
              <a:rPr lang="en-US" b="1" dirty="0"/>
              <a:t>identify the third vertex </a:t>
            </a:r>
            <a:r>
              <a:rPr lang="en-US" dirty="0"/>
              <a:t>composing each triangle.</a:t>
            </a:r>
          </a:p>
          <a:p>
            <a:r>
              <a:rPr lang="en-US" dirty="0"/>
              <a:t>3) Ordering/Rank: crucial for </a:t>
            </a:r>
            <a:r>
              <a:rPr lang="en-US" b="1" dirty="0"/>
              <a:t>pruning</a:t>
            </a:r>
            <a:r>
              <a:rPr lang="en-US" dirty="0"/>
              <a:t> and to guarantee that each triangle is </a:t>
            </a:r>
            <a:r>
              <a:rPr lang="en-US" b="1" dirty="0"/>
              <a:t>counted exactly once</a:t>
            </a:r>
            <a:endParaRPr lang="it-IT" b="1" dirty="0"/>
          </a:p>
        </p:txBody>
      </p:sp>
    </p:spTree>
    <p:extLst>
      <p:ext uri="{BB962C8B-B14F-4D97-AF65-F5344CB8AC3E}">
        <p14:creationId xmlns:p14="http://schemas.microsoft.com/office/powerpoint/2010/main" val="26556998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914BA-ED00-CA01-C357-71913C967E2C}"/>
              </a:ext>
            </a:extLst>
          </p:cNvPr>
          <p:cNvSpPr>
            <a:spLocks noGrp="1"/>
          </p:cNvSpPr>
          <p:nvPr>
            <p:ph type="title"/>
          </p:nvPr>
        </p:nvSpPr>
        <p:spPr/>
        <p:txBody>
          <a:bodyPr/>
          <a:lstStyle/>
          <a:p>
            <a:r>
              <a:rPr lang="it-IT" dirty="0" err="1"/>
              <a:t>Parallel</a:t>
            </a:r>
            <a:r>
              <a:rPr lang="it-IT" dirty="0"/>
              <a:t> (C++) </a:t>
            </a:r>
            <a:r>
              <a:rPr lang="it-IT" dirty="0" err="1"/>
              <a:t>Forward</a:t>
            </a:r>
            <a:r>
              <a:rPr lang="it-IT" dirty="0"/>
              <a:t> </a:t>
            </a:r>
            <a:r>
              <a:rPr lang="it-IT" dirty="0" err="1"/>
              <a:t>Node</a:t>
            </a:r>
            <a:r>
              <a:rPr lang="it-IT" dirty="0"/>
              <a:t> </a:t>
            </a:r>
            <a:r>
              <a:rPr lang="it-IT" dirty="0" err="1"/>
              <a:t>Iteator</a:t>
            </a:r>
            <a:r>
              <a:rPr lang="it-IT" dirty="0"/>
              <a:t> </a:t>
            </a:r>
            <a:r>
              <a:rPr lang="it-IT" dirty="0" err="1"/>
              <a:t>Algorithm</a:t>
            </a:r>
            <a:r>
              <a:rPr lang="it-IT" dirty="0"/>
              <a:t>, V1 </a:t>
            </a:r>
          </a:p>
        </p:txBody>
      </p:sp>
      <p:sp>
        <p:nvSpPr>
          <p:cNvPr id="9" name="TextBox 8">
            <a:extLst>
              <a:ext uri="{FF2B5EF4-FFF2-40B4-BE49-F238E27FC236}">
                <a16:creationId xmlns:a16="http://schemas.microsoft.com/office/drawing/2014/main" id="{D423A440-85F6-8044-AE8E-B609EF2295F1}"/>
              </a:ext>
            </a:extLst>
          </p:cNvPr>
          <p:cNvSpPr txBox="1"/>
          <p:nvPr/>
        </p:nvSpPr>
        <p:spPr>
          <a:xfrm>
            <a:off x="1097280" y="1871065"/>
            <a:ext cx="10058400" cy="1477328"/>
          </a:xfrm>
          <a:prstGeom prst="rect">
            <a:avLst/>
          </a:prstGeom>
          <a:noFill/>
        </p:spPr>
        <p:txBody>
          <a:bodyPr wrap="square">
            <a:spAutoFit/>
          </a:bodyPr>
          <a:lstStyle/>
          <a:p>
            <a:pPr marL="285750" indent="-285750" algn="just">
              <a:buFont typeface="Arial" panose="020B0604020202020204" pitchFamily="34" charset="0"/>
              <a:buChar char="•"/>
            </a:pPr>
            <a:r>
              <a:rPr lang="it-IT" dirty="0"/>
              <a:t>In the </a:t>
            </a:r>
            <a:r>
              <a:rPr lang="it-IT" b="1" dirty="0"/>
              <a:t>first </a:t>
            </a:r>
            <a:r>
              <a:rPr lang="it-IT" b="1" dirty="0" err="1"/>
              <a:t>version</a:t>
            </a:r>
            <a:r>
              <a:rPr lang="it-IT" b="1" dirty="0"/>
              <a:t> </a:t>
            </a:r>
            <a:r>
              <a:rPr lang="it-IT" dirty="0"/>
              <a:t>of the </a:t>
            </a:r>
            <a:r>
              <a:rPr lang="it-IT" dirty="0" err="1"/>
              <a:t>algorithm</a:t>
            </a:r>
            <a:r>
              <a:rPr lang="it-IT" dirty="0"/>
              <a:t>, more </a:t>
            </a:r>
            <a:r>
              <a:rPr lang="it-IT" dirty="0" err="1"/>
              <a:t>naive</a:t>
            </a:r>
            <a:r>
              <a:rPr lang="it-IT" dirty="0"/>
              <a:t> and </a:t>
            </a:r>
            <a:r>
              <a:rPr lang="it-IT" dirty="0" err="1"/>
              <a:t>simple</a:t>
            </a:r>
            <a:r>
              <a:rPr lang="it-IT" dirty="0"/>
              <a:t> case, the part </a:t>
            </a:r>
            <a:r>
              <a:rPr lang="it-IT" dirty="0" err="1"/>
              <a:t>that</a:t>
            </a:r>
            <a:r>
              <a:rPr lang="it-IT" dirty="0"/>
              <a:t> </a:t>
            </a:r>
            <a:r>
              <a:rPr lang="it-IT" dirty="0" err="1"/>
              <a:t>gets</a:t>
            </a:r>
            <a:r>
              <a:rPr lang="it-IT" dirty="0"/>
              <a:t> </a:t>
            </a:r>
            <a:r>
              <a:rPr lang="it-IT" dirty="0" err="1"/>
              <a:t>parallelized</a:t>
            </a:r>
            <a:r>
              <a:rPr lang="it-IT" dirty="0"/>
              <a:t> </a:t>
            </a:r>
            <a:r>
              <a:rPr lang="it-IT" dirty="0" err="1"/>
              <a:t>is</a:t>
            </a:r>
            <a:r>
              <a:rPr lang="it-IT" dirty="0"/>
              <a:t> the For-</a:t>
            </a:r>
            <a:r>
              <a:rPr lang="it-IT" dirty="0" err="1"/>
              <a:t>ward</a:t>
            </a:r>
            <a:r>
              <a:rPr lang="it-IT" dirty="0"/>
              <a:t> </a:t>
            </a:r>
            <a:r>
              <a:rPr lang="it-IT" dirty="0" err="1"/>
              <a:t>algorithm</a:t>
            </a:r>
            <a:r>
              <a:rPr lang="it-IT" dirty="0"/>
              <a:t> </a:t>
            </a:r>
            <a:r>
              <a:rPr lang="it-IT" dirty="0" err="1"/>
              <a:t>function</a:t>
            </a:r>
            <a:r>
              <a:rPr lang="it-IT" dirty="0"/>
              <a:t>. More in </a:t>
            </a:r>
            <a:r>
              <a:rPr lang="it-IT" dirty="0" err="1"/>
              <a:t>detail</a:t>
            </a:r>
            <a:r>
              <a:rPr lang="it-IT" dirty="0"/>
              <a:t>, the </a:t>
            </a:r>
            <a:r>
              <a:rPr lang="it-IT" dirty="0" err="1"/>
              <a:t>outer</a:t>
            </a:r>
            <a:r>
              <a:rPr lang="it-IT" dirty="0"/>
              <a:t> </a:t>
            </a:r>
            <a:r>
              <a:rPr lang="it-IT" dirty="0" err="1"/>
              <a:t>loopthat</a:t>
            </a:r>
            <a:r>
              <a:rPr lang="it-IT" dirty="0"/>
              <a:t> </a:t>
            </a:r>
            <a:r>
              <a:rPr lang="it-IT" dirty="0" err="1"/>
              <a:t>iterates</a:t>
            </a:r>
            <a:r>
              <a:rPr lang="it-IT" dirty="0"/>
              <a:t> </a:t>
            </a:r>
            <a:r>
              <a:rPr lang="it-IT" dirty="0" err="1"/>
              <a:t>through</a:t>
            </a:r>
            <a:r>
              <a:rPr lang="it-IT" dirty="0"/>
              <a:t> the </a:t>
            </a:r>
            <a:r>
              <a:rPr lang="it-IT" dirty="0" err="1"/>
              <a:t>nodes</a:t>
            </a:r>
            <a:r>
              <a:rPr lang="it-IT" dirty="0"/>
              <a:t> in the </a:t>
            </a:r>
            <a:r>
              <a:rPr lang="it-IT" dirty="0" err="1"/>
              <a:t>ordered</a:t>
            </a:r>
            <a:r>
              <a:rPr lang="it-IT" dirty="0"/>
              <a:t> list </a:t>
            </a:r>
            <a:r>
              <a:rPr lang="it-IT" dirty="0" err="1"/>
              <a:t>is</a:t>
            </a:r>
            <a:r>
              <a:rPr lang="it-IT" dirty="0"/>
              <a:t> </a:t>
            </a:r>
            <a:r>
              <a:rPr lang="it-IT" dirty="0" err="1"/>
              <a:t>still</a:t>
            </a:r>
            <a:r>
              <a:rPr lang="it-IT" dirty="0"/>
              <a:t> </a:t>
            </a:r>
            <a:r>
              <a:rPr lang="it-IT" dirty="0" err="1"/>
              <a:t>sequential</a:t>
            </a:r>
            <a:r>
              <a:rPr lang="it-IT" dirty="0"/>
              <a:t>, running N times, </a:t>
            </a:r>
            <a:r>
              <a:rPr lang="it-IT" dirty="0" err="1"/>
              <a:t>but</a:t>
            </a:r>
            <a:r>
              <a:rPr lang="it-IT" dirty="0"/>
              <a:t> the </a:t>
            </a:r>
            <a:r>
              <a:rPr lang="it-IT" dirty="0" err="1"/>
              <a:t>iteration</a:t>
            </a:r>
            <a:r>
              <a:rPr lang="it-IT" dirty="0"/>
              <a:t> </a:t>
            </a:r>
            <a:r>
              <a:rPr lang="it-IT" dirty="0" err="1"/>
              <a:t>overeach</a:t>
            </a:r>
            <a:r>
              <a:rPr lang="it-IT" dirty="0"/>
              <a:t> </a:t>
            </a:r>
            <a:r>
              <a:rPr lang="it-IT" dirty="0" err="1"/>
              <a:t>node</a:t>
            </a:r>
            <a:r>
              <a:rPr lang="it-IT" dirty="0"/>
              <a:t> </a:t>
            </a:r>
            <a:r>
              <a:rPr lang="it-IT" dirty="0" err="1"/>
              <a:t>neighbors</a:t>
            </a:r>
            <a:r>
              <a:rPr lang="it-IT" dirty="0"/>
              <a:t> t </a:t>
            </a:r>
            <a:r>
              <a:rPr lang="it-IT" dirty="0" err="1"/>
              <a:t>is</a:t>
            </a:r>
            <a:r>
              <a:rPr lang="it-IT" dirty="0"/>
              <a:t> </a:t>
            </a:r>
            <a:r>
              <a:rPr lang="it-IT" dirty="0" err="1"/>
              <a:t>parallelized</a:t>
            </a:r>
            <a:r>
              <a:rPr lang="it-IT" dirty="0"/>
              <a:t>: </a:t>
            </a:r>
            <a:r>
              <a:rPr lang="it-IT" dirty="0" err="1"/>
              <a:t>this</a:t>
            </a:r>
            <a:r>
              <a:rPr lang="it-IT" dirty="0"/>
              <a:t> </a:t>
            </a:r>
            <a:r>
              <a:rPr lang="it-IT" dirty="0" err="1"/>
              <a:t>is</a:t>
            </a:r>
            <a:r>
              <a:rPr lang="it-IT" dirty="0"/>
              <a:t> </a:t>
            </a:r>
            <a:r>
              <a:rPr lang="it-IT" dirty="0" err="1"/>
              <a:t>achievedby</a:t>
            </a:r>
            <a:r>
              <a:rPr lang="it-IT" dirty="0"/>
              <a:t> </a:t>
            </a:r>
            <a:r>
              <a:rPr lang="it-IT" dirty="0" err="1"/>
              <a:t>dividing</a:t>
            </a:r>
            <a:r>
              <a:rPr lang="it-IT" dirty="0"/>
              <a:t> the </a:t>
            </a:r>
            <a:r>
              <a:rPr lang="it-IT" dirty="0" err="1"/>
              <a:t>neighbors</a:t>
            </a:r>
            <a:r>
              <a:rPr lang="it-IT" dirty="0"/>
              <a:t> of s </a:t>
            </a:r>
            <a:r>
              <a:rPr lang="it-IT" dirty="0" err="1"/>
              <a:t>into</a:t>
            </a:r>
            <a:r>
              <a:rPr lang="it-IT" dirty="0"/>
              <a:t> </a:t>
            </a:r>
            <a:r>
              <a:rPr lang="it-IT" dirty="0" err="1"/>
              <a:t>chunks</a:t>
            </a:r>
            <a:r>
              <a:rPr lang="it-IT" dirty="0"/>
              <a:t>, with </a:t>
            </a:r>
            <a:r>
              <a:rPr lang="it-IT" dirty="0" err="1"/>
              <a:t>eachchunk</a:t>
            </a:r>
            <a:r>
              <a:rPr lang="it-IT" dirty="0"/>
              <a:t> </a:t>
            </a:r>
            <a:r>
              <a:rPr lang="it-IT" dirty="0" err="1"/>
              <a:t>processed</a:t>
            </a:r>
            <a:r>
              <a:rPr lang="it-IT" dirty="0"/>
              <a:t> by a separate worker </a:t>
            </a:r>
            <a:r>
              <a:rPr lang="it-IT" dirty="0" err="1"/>
              <a:t>thread</a:t>
            </a:r>
            <a:r>
              <a:rPr lang="it-IT" dirty="0"/>
              <a:t> </a:t>
            </a:r>
            <a:r>
              <a:rPr lang="it-IT" dirty="0" err="1"/>
              <a:t>usingstd</a:t>
            </a:r>
            <a:r>
              <a:rPr lang="it-IT" dirty="0"/>
              <a:t>::</a:t>
            </a:r>
            <a:r>
              <a:rPr lang="it-IT" dirty="0" err="1"/>
              <a:t>async</a:t>
            </a:r>
            <a:r>
              <a:rPr lang="it-IT" dirty="0"/>
              <a:t>.</a:t>
            </a:r>
          </a:p>
        </p:txBody>
      </p:sp>
      <p:pic>
        <p:nvPicPr>
          <p:cNvPr id="11" name="Picture 10" descr="A graph with a red line&#10;&#10;AI-generated content may be incorrect.">
            <a:extLst>
              <a:ext uri="{FF2B5EF4-FFF2-40B4-BE49-F238E27FC236}">
                <a16:creationId xmlns:a16="http://schemas.microsoft.com/office/drawing/2014/main" id="{98F45AF1-7912-F0C6-6274-6F37E95F746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58697" y="3056934"/>
            <a:ext cx="5552638" cy="3331583"/>
          </a:xfrm>
          <a:prstGeom prst="rect">
            <a:avLst/>
          </a:prstGeom>
        </p:spPr>
      </p:pic>
      <p:sp>
        <p:nvSpPr>
          <p:cNvPr id="13" name="TextBox 12">
            <a:extLst>
              <a:ext uri="{FF2B5EF4-FFF2-40B4-BE49-F238E27FC236}">
                <a16:creationId xmlns:a16="http://schemas.microsoft.com/office/drawing/2014/main" id="{CAB8F91C-5989-43B7-00E6-413A7520DC4E}"/>
              </a:ext>
            </a:extLst>
          </p:cNvPr>
          <p:cNvSpPr txBox="1"/>
          <p:nvPr/>
        </p:nvSpPr>
        <p:spPr>
          <a:xfrm>
            <a:off x="5547360" y="3701479"/>
            <a:ext cx="6096000" cy="1754326"/>
          </a:xfrm>
          <a:prstGeom prst="rect">
            <a:avLst/>
          </a:prstGeom>
          <a:noFill/>
        </p:spPr>
        <p:txBody>
          <a:bodyPr wrap="square">
            <a:spAutoFit/>
          </a:bodyPr>
          <a:lstStyle/>
          <a:p>
            <a:r>
              <a:rPr lang="en-US" dirty="0"/>
              <a:t>Using multiple threads with mutexes to operate on shared data is often counterproductive. The </a:t>
            </a:r>
            <a:r>
              <a:rPr lang="en-US" b="1" dirty="0"/>
              <a:t>mutexes</a:t>
            </a:r>
            <a:r>
              <a:rPr lang="en-US" dirty="0"/>
              <a:t> force the operations to run </a:t>
            </a:r>
            <a:r>
              <a:rPr lang="en-US" b="1" dirty="0"/>
              <a:t>one after another</a:t>
            </a:r>
            <a:r>
              <a:rPr lang="en-US" dirty="0"/>
              <a:t> (serially), which eliminates the speed advantage of using parallel threads. Also, the process of creating and managing the threads adds its own </a:t>
            </a:r>
            <a:r>
              <a:rPr lang="en-US" b="1" dirty="0"/>
              <a:t>computational overhead</a:t>
            </a:r>
            <a:r>
              <a:rPr lang="en-US" dirty="0"/>
              <a:t>, further slowing down the entire process.</a:t>
            </a:r>
            <a:endParaRPr lang="it-IT" dirty="0"/>
          </a:p>
        </p:txBody>
      </p:sp>
    </p:spTree>
    <p:extLst>
      <p:ext uri="{BB962C8B-B14F-4D97-AF65-F5344CB8AC3E}">
        <p14:creationId xmlns:p14="http://schemas.microsoft.com/office/powerpoint/2010/main" val="17680315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565E70C-B632-71E3-2389-9DADAF2FC581}"/>
              </a:ext>
            </a:extLst>
          </p:cNvPr>
          <p:cNvSpPr>
            <a:spLocks noGrp="1"/>
          </p:cNvSpPr>
          <p:nvPr>
            <p:ph type="title"/>
          </p:nvPr>
        </p:nvSpPr>
        <p:spPr>
          <a:xfrm>
            <a:off x="4703577" y="634946"/>
            <a:ext cx="6846166" cy="1450757"/>
          </a:xfrm>
        </p:spPr>
        <p:txBody>
          <a:bodyPr vert="horz" lIns="91440" tIns="45720" rIns="91440" bIns="45720" rtlCol="0" anchor="b">
            <a:normAutofit/>
          </a:bodyPr>
          <a:lstStyle/>
          <a:p>
            <a:r>
              <a:rPr lang="en-US" sz="3700"/>
              <a:t>Parallel (C++) Forward Node Iteator Algorithm, V3 (Final Version) </a:t>
            </a:r>
          </a:p>
        </p:txBody>
      </p:sp>
      <p:pic>
        <p:nvPicPr>
          <p:cNvPr id="7" name="Picture 6" descr="A graph with red line&#10;&#10;AI-generated content may be incorrect.">
            <a:extLst>
              <a:ext uri="{FF2B5EF4-FFF2-40B4-BE49-F238E27FC236}">
                <a16:creationId xmlns:a16="http://schemas.microsoft.com/office/drawing/2014/main" id="{EA625617-54C3-AE89-CC78-657C003937C1}"/>
              </a:ext>
            </a:extLst>
          </p:cNvPr>
          <p:cNvPicPr>
            <a:picLocks noChangeAspect="1"/>
          </p:cNvPicPr>
          <p:nvPr/>
        </p:nvPicPr>
        <p:blipFill>
          <a:blip r:embed="rId2">
            <a:extLst>
              <a:ext uri="{28A0092B-C50C-407E-A947-70E740481C1C}">
                <a14:useLocalDpi xmlns:a14="http://schemas.microsoft.com/office/drawing/2010/main" val="0"/>
              </a:ext>
            </a:extLst>
          </a:blip>
          <a:srcRect r="2581" b="-2"/>
          <a:stretch>
            <a:fillRect/>
          </a:stretch>
        </p:blipFill>
        <p:spPr>
          <a:xfrm>
            <a:off x="532698" y="-51247"/>
            <a:ext cx="3638181" cy="2240786"/>
          </a:xfrm>
          <a:prstGeom prst="rect">
            <a:avLst/>
          </a:prstGeom>
        </p:spPr>
      </p:pic>
      <p:cxnSp>
        <p:nvCxnSpPr>
          <p:cNvPr id="27" name="Straight Connector 26">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96F2FC64-6EE6-8E72-B99C-23B132A0BB64}"/>
              </a:ext>
            </a:extLst>
          </p:cNvPr>
          <p:cNvPicPr>
            <a:picLocks noChangeAspect="1"/>
          </p:cNvPicPr>
          <p:nvPr/>
        </p:nvPicPr>
        <p:blipFill>
          <a:blip r:embed="rId3">
            <a:extLst>
              <a:ext uri="{28A0092B-C50C-407E-A947-70E740481C1C}">
                <a14:useLocalDpi xmlns:a14="http://schemas.microsoft.com/office/drawing/2010/main" val="0"/>
              </a:ext>
            </a:extLst>
          </a:blip>
          <a:srcRect r="2581" b="-2"/>
          <a:stretch>
            <a:fillRect/>
          </a:stretch>
        </p:blipFill>
        <p:spPr>
          <a:xfrm>
            <a:off x="411709" y="2085703"/>
            <a:ext cx="3811074" cy="2347272"/>
          </a:xfrm>
          <a:prstGeom prst="rect">
            <a:avLst/>
          </a:prstGeom>
        </p:spPr>
      </p:pic>
      <p:pic>
        <p:nvPicPr>
          <p:cNvPr id="11" name="Picture 10">
            <a:extLst>
              <a:ext uri="{FF2B5EF4-FFF2-40B4-BE49-F238E27FC236}">
                <a16:creationId xmlns:a16="http://schemas.microsoft.com/office/drawing/2014/main" id="{277D03B4-6B06-C7F3-D2E9-AB3757A6FE12}"/>
              </a:ext>
            </a:extLst>
          </p:cNvPr>
          <p:cNvPicPr>
            <a:picLocks noChangeAspect="1"/>
          </p:cNvPicPr>
          <p:nvPr/>
        </p:nvPicPr>
        <p:blipFill>
          <a:blip r:embed="rId4"/>
          <a:stretch>
            <a:fillRect/>
          </a:stretch>
        </p:blipFill>
        <p:spPr>
          <a:xfrm>
            <a:off x="467752" y="4329254"/>
            <a:ext cx="3768071" cy="2071546"/>
          </a:xfrm>
          <a:prstGeom prst="rect">
            <a:avLst/>
          </a:prstGeom>
        </p:spPr>
      </p:pic>
      <p:sp>
        <p:nvSpPr>
          <p:cNvPr id="5" name="TextBox 4">
            <a:extLst>
              <a:ext uri="{FF2B5EF4-FFF2-40B4-BE49-F238E27FC236}">
                <a16:creationId xmlns:a16="http://schemas.microsoft.com/office/drawing/2014/main" id="{94F6EBC3-8EBF-AE84-66E9-0CC6673C19DE}"/>
              </a:ext>
            </a:extLst>
          </p:cNvPr>
          <p:cNvSpPr txBox="1"/>
          <p:nvPr/>
        </p:nvSpPr>
        <p:spPr>
          <a:xfrm>
            <a:off x="4701747" y="2198914"/>
            <a:ext cx="6847996"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The final version of our algorithm is the most efficient and scalable. Amdahl’s Law states that the speedup of a program from parallelization is limited by the sequential fraction </a:t>
            </a:r>
            <a:r>
              <a:rPr lang="en-US" sz="1700" dirty="0" err="1">
                <a:solidFill>
                  <a:schemeClr val="tx1">
                    <a:lumMod val="75000"/>
                    <a:lumOff val="25000"/>
                  </a:schemeClr>
                </a:solidFill>
              </a:rPr>
              <a:t>ofthe</a:t>
            </a:r>
            <a:r>
              <a:rPr lang="en-US" sz="1700" dirty="0">
                <a:solidFill>
                  <a:schemeClr val="tx1">
                    <a:lumMod val="75000"/>
                    <a:lumOff val="25000"/>
                  </a:schemeClr>
                </a:solidFill>
              </a:rPr>
              <a:t> program. </a:t>
            </a:r>
            <a:r>
              <a:rPr lang="en-US" sz="1700" b="1" dirty="0">
                <a:solidFill>
                  <a:schemeClr val="tx1">
                    <a:lumMod val="75000"/>
                    <a:lumOff val="25000"/>
                  </a:schemeClr>
                </a:solidFill>
              </a:rPr>
              <a:t>The new algorithm has a much smaller sequential fraction.</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resorted to C++ std::async tasks, and </a:t>
            </a:r>
            <a:r>
              <a:rPr lang="en-US" sz="1700" b="1" dirty="0">
                <a:solidFill>
                  <a:schemeClr val="tx1">
                    <a:lumMod val="75000"/>
                    <a:lumOff val="25000"/>
                  </a:schemeClr>
                </a:solidFill>
              </a:rPr>
              <a:t>thread-local counts</a:t>
            </a:r>
            <a:r>
              <a:rPr lang="en-US" sz="1700" dirty="0">
                <a:solidFill>
                  <a:schemeClr val="tx1">
                    <a:lumMod val="75000"/>
                    <a:lumOff val="25000"/>
                  </a:schemeClr>
                </a:solidFill>
              </a:rPr>
              <a:t> were used to eliminate contention between them (mutexes not needed anymore). The core algorithm was also rewritten using std::</a:t>
            </a:r>
            <a:r>
              <a:rPr lang="en-US" sz="1700" dirty="0" err="1">
                <a:solidFill>
                  <a:schemeClr val="tx1">
                    <a:lumMod val="75000"/>
                    <a:lumOff val="25000"/>
                  </a:schemeClr>
                </a:solidFill>
              </a:rPr>
              <a:t>unordered_set</a:t>
            </a:r>
            <a:r>
              <a:rPr lang="en-US" sz="1700" dirty="0">
                <a:solidFill>
                  <a:schemeClr val="tx1">
                    <a:lumMod val="75000"/>
                    <a:lumOff val="25000"/>
                  </a:schemeClr>
                </a:solidFill>
              </a:rPr>
              <a:t>, which dramatically improved data lookup speeds from O(</a:t>
            </a:r>
            <a:r>
              <a:rPr lang="en-US" sz="1700" dirty="0" err="1">
                <a:solidFill>
                  <a:schemeClr val="tx1">
                    <a:lumMod val="75000"/>
                    <a:lumOff val="25000"/>
                  </a:schemeClr>
                </a:solidFill>
              </a:rPr>
              <a:t>logN</a:t>
            </a:r>
            <a:r>
              <a:rPr lang="en-US" sz="1700" dirty="0">
                <a:solidFill>
                  <a:schemeClr val="tx1">
                    <a:lumMod val="75000"/>
                    <a:lumOff val="25000"/>
                  </a:schemeClr>
                </a:solidFill>
              </a:rPr>
              <a:t>) to an average of </a:t>
            </a:r>
            <a:r>
              <a:rPr lang="en-US" sz="1700" b="1" dirty="0">
                <a:solidFill>
                  <a:schemeClr val="tx1">
                    <a:lumMod val="75000"/>
                    <a:lumOff val="25000"/>
                  </a:schemeClr>
                </a:solidFill>
              </a:rPr>
              <a:t>O(1)</a:t>
            </a:r>
            <a:r>
              <a:rPr lang="en-US" sz="1700" dirty="0">
                <a:solidFill>
                  <a:schemeClr val="tx1">
                    <a:lumMod val="75000"/>
                    <a:lumOff val="25000"/>
                  </a:schemeClr>
                </a:solidFill>
              </a:rPr>
              <a:t> and made memory usage more efficient.</a:t>
            </a:r>
          </a:p>
          <a:p>
            <a:pPr defTabSz="914400">
              <a:lnSpc>
                <a:spcPct val="90000"/>
              </a:lnSpc>
              <a:spcAft>
                <a:spcPts val="600"/>
              </a:spcAft>
              <a:buClr>
                <a:schemeClr val="accent1"/>
              </a:buClr>
              <a:buFont typeface="Calibri" panose="020F0502020204030204" pitchFamily="34" charset="0"/>
            </a:pPr>
            <a:r>
              <a:rPr lang="en-US" sz="1700" dirty="0">
                <a:solidFill>
                  <a:schemeClr val="tx1">
                    <a:lumMod val="75000"/>
                    <a:lumOff val="25000"/>
                  </a:schemeClr>
                </a:solidFill>
              </a:rPr>
              <a:t>We immediately see the scalability issues are solved: if we increase the thread number, the execution time always gets lower. This also represents a substantial performance gain over the V2 version, with a time reduction of approximately </a:t>
            </a:r>
            <a:r>
              <a:rPr lang="en-US" sz="1700" b="1" dirty="0">
                <a:solidFill>
                  <a:schemeClr val="tx1">
                    <a:lumMod val="75000"/>
                    <a:lumOff val="25000"/>
                  </a:schemeClr>
                </a:solidFill>
              </a:rPr>
              <a:t>82-89%</a:t>
            </a:r>
            <a:r>
              <a:rPr lang="en-US" sz="1700" dirty="0">
                <a:solidFill>
                  <a:schemeClr val="tx1">
                    <a:lumMod val="75000"/>
                    <a:lumOff val="25000"/>
                  </a:schemeClr>
                </a:solidFill>
              </a:rPr>
              <a:t> observed across all thread configurations for a 10k node graph.</a:t>
            </a:r>
          </a:p>
        </p:txBody>
      </p:sp>
      <p:sp>
        <p:nvSpPr>
          <p:cNvPr id="29" name="Rectangle 28">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31" name="Rectangle 30">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08713260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0B31046-B6F5-AD94-5CB1-2F89391AAFE4}"/>
              </a:ext>
            </a:extLst>
          </p:cNvPr>
          <p:cNvSpPr>
            <a:spLocks noGrp="1"/>
          </p:cNvSpPr>
          <p:nvPr>
            <p:ph type="title"/>
          </p:nvPr>
        </p:nvSpPr>
        <p:spPr>
          <a:xfrm>
            <a:off x="5144679" y="634946"/>
            <a:ext cx="6405063" cy="1450757"/>
          </a:xfrm>
        </p:spPr>
        <p:txBody>
          <a:bodyPr vert="horz" lIns="91440" tIns="45720" rIns="91440" bIns="45720" rtlCol="0" anchor="b">
            <a:normAutofit/>
          </a:bodyPr>
          <a:lstStyle/>
          <a:p>
            <a:r>
              <a:rPr lang="en-US"/>
              <a:t>Node Iterator Algorithms, final comparison </a:t>
            </a:r>
          </a:p>
        </p:txBody>
      </p:sp>
      <p:pic>
        <p:nvPicPr>
          <p:cNvPr id="10" name="Picture 9">
            <a:extLst>
              <a:ext uri="{FF2B5EF4-FFF2-40B4-BE49-F238E27FC236}">
                <a16:creationId xmlns:a16="http://schemas.microsoft.com/office/drawing/2014/main" id="{D7695FA8-5B10-98D1-08AA-36A29CBC0168}"/>
              </a:ext>
            </a:extLst>
          </p:cNvPr>
          <p:cNvPicPr>
            <a:picLocks noChangeAspect="1"/>
          </p:cNvPicPr>
          <p:nvPr/>
        </p:nvPicPr>
        <p:blipFill>
          <a:blip r:embed="rId2"/>
          <a:stretch>
            <a:fillRect/>
          </a:stretch>
        </p:blipFill>
        <p:spPr>
          <a:xfrm>
            <a:off x="5291015" y="3026184"/>
            <a:ext cx="5632623" cy="3492227"/>
          </a:xfrm>
          <a:prstGeom prst="rect">
            <a:avLst/>
          </a:prstGeom>
        </p:spPr>
      </p:pic>
      <p:cxnSp>
        <p:nvCxnSpPr>
          <p:cNvPr id="24" name="Straight Connector 23">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F5642C5D-2A7C-F1B3-0491-20FAED878251}"/>
              </a:ext>
            </a:extLst>
          </p:cNvPr>
          <p:cNvPicPr>
            <a:picLocks noChangeAspect="1"/>
          </p:cNvPicPr>
          <p:nvPr/>
        </p:nvPicPr>
        <p:blipFill>
          <a:blip r:embed="rId3"/>
          <a:stretch>
            <a:fillRect/>
          </a:stretch>
        </p:blipFill>
        <p:spPr>
          <a:xfrm>
            <a:off x="76620" y="122256"/>
            <a:ext cx="4941947" cy="3101072"/>
          </a:xfrm>
          <a:prstGeom prst="rect">
            <a:avLst/>
          </a:prstGeom>
        </p:spPr>
      </p:pic>
      <p:sp>
        <p:nvSpPr>
          <p:cNvPr id="6" name="TextBox 5">
            <a:extLst>
              <a:ext uri="{FF2B5EF4-FFF2-40B4-BE49-F238E27FC236}">
                <a16:creationId xmlns:a16="http://schemas.microsoft.com/office/drawing/2014/main" id="{CC1062F3-2844-95EF-4146-C08590C99C4A}"/>
              </a:ext>
            </a:extLst>
          </p:cNvPr>
          <p:cNvSpPr txBox="1"/>
          <p:nvPr/>
        </p:nvSpPr>
        <p:spPr>
          <a:xfrm>
            <a:off x="5144679" y="2198914"/>
            <a:ext cx="6405063"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b="1" dirty="0">
                <a:solidFill>
                  <a:schemeClr val="tx1">
                    <a:lumMod val="75000"/>
                    <a:lumOff val="25000"/>
                  </a:schemeClr>
                </a:solidFill>
              </a:rPr>
              <a:t>The final version of the Node Iterator (Forward) algorithm always beats the sequential version, and if we add up more threads, the speedup keeps increasing.</a:t>
            </a:r>
          </a:p>
        </p:txBody>
      </p:sp>
      <p:sp>
        <p:nvSpPr>
          <p:cNvPr id="26" name="Rectangle 25">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8" name="Rectangle 27">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14" name="Picture 13">
            <a:extLst>
              <a:ext uri="{FF2B5EF4-FFF2-40B4-BE49-F238E27FC236}">
                <a16:creationId xmlns:a16="http://schemas.microsoft.com/office/drawing/2014/main" id="{D1008B6B-BD1A-8A63-A795-B3E9883F7FCA}"/>
              </a:ext>
            </a:extLst>
          </p:cNvPr>
          <p:cNvPicPr>
            <a:picLocks noChangeAspect="1"/>
          </p:cNvPicPr>
          <p:nvPr/>
        </p:nvPicPr>
        <p:blipFill>
          <a:blip r:embed="rId4"/>
          <a:stretch>
            <a:fillRect/>
          </a:stretch>
        </p:blipFill>
        <p:spPr>
          <a:xfrm>
            <a:off x="521741" y="3498551"/>
            <a:ext cx="1196444" cy="853514"/>
          </a:xfrm>
          <a:prstGeom prst="rect">
            <a:avLst/>
          </a:prstGeom>
        </p:spPr>
      </p:pic>
      <p:pic>
        <p:nvPicPr>
          <p:cNvPr id="18" name="Picture 17">
            <a:extLst>
              <a:ext uri="{FF2B5EF4-FFF2-40B4-BE49-F238E27FC236}">
                <a16:creationId xmlns:a16="http://schemas.microsoft.com/office/drawing/2014/main" id="{152F1D87-ACAE-E5F8-80EF-7229223B4391}"/>
              </a:ext>
            </a:extLst>
          </p:cNvPr>
          <p:cNvPicPr>
            <a:picLocks noChangeAspect="1"/>
          </p:cNvPicPr>
          <p:nvPr/>
        </p:nvPicPr>
        <p:blipFill>
          <a:blip r:embed="rId5"/>
          <a:stretch>
            <a:fillRect/>
          </a:stretch>
        </p:blipFill>
        <p:spPr>
          <a:xfrm>
            <a:off x="521741" y="4627288"/>
            <a:ext cx="2042337" cy="815411"/>
          </a:xfrm>
          <a:prstGeom prst="rect">
            <a:avLst/>
          </a:prstGeom>
        </p:spPr>
      </p:pic>
      <p:sp>
        <p:nvSpPr>
          <p:cNvPr id="19" name="TextBox 18">
            <a:extLst>
              <a:ext uri="{FF2B5EF4-FFF2-40B4-BE49-F238E27FC236}">
                <a16:creationId xmlns:a16="http://schemas.microsoft.com/office/drawing/2014/main" id="{CA8FE410-7F07-EE56-B428-A7F920CCFB05}"/>
              </a:ext>
            </a:extLst>
          </p:cNvPr>
          <p:cNvSpPr txBox="1"/>
          <p:nvPr/>
        </p:nvSpPr>
        <p:spPr>
          <a:xfrm>
            <a:off x="1849821" y="3925308"/>
            <a:ext cx="1079142" cy="369332"/>
          </a:xfrm>
          <a:prstGeom prst="rect">
            <a:avLst/>
          </a:prstGeom>
          <a:noFill/>
        </p:spPr>
        <p:txBody>
          <a:bodyPr wrap="none" rtlCol="0">
            <a:spAutoFit/>
          </a:bodyPr>
          <a:lstStyle/>
          <a:p>
            <a:r>
              <a:rPr lang="it-IT" dirty="0"/>
              <a:t>Speed-up</a:t>
            </a:r>
          </a:p>
        </p:txBody>
      </p:sp>
      <p:sp>
        <p:nvSpPr>
          <p:cNvPr id="20" name="TextBox 19">
            <a:extLst>
              <a:ext uri="{FF2B5EF4-FFF2-40B4-BE49-F238E27FC236}">
                <a16:creationId xmlns:a16="http://schemas.microsoft.com/office/drawing/2014/main" id="{96B9B216-84A6-B269-7783-761B2470928E}"/>
              </a:ext>
            </a:extLst>
          </p:cNvPr>
          <p:cNvSpPr txBox="1"/>
          <p:nvPr/>
        </p:nvSpPr>
        <p:spPr>
          <a:xfrm>
            <a:off x="2644292" y="4973859"/>
            <a:ext cx="2785058" cy="369332"/>
          </a:xfrm>
          <a:prstGeom prst="rect">
            <a:avLst/>
          </a:prstGeom>
          <a:noFill/>
        </p:spPr>
        <p:txBody>
          <a:bodyPr wrap="none" rtlCol="0">
            <a:spAutoFit/>
          </a:bodyPr>
          <a:lstStyle/>
          <a:p>
            <a:r>
              <a:rPr lang="it-IT" dirty="0" err="1"/>
              <a:t>Efficiency</a:t>
            </a:r>
            <a:r>
              <a:rPr lang="it-IT" dirty="0"/>
              <a:t> (p = </a:t>
            </a:r>
            <a:r>
              <a:rPr lang="it-IT" dirty="0" err="1"/>
              <a:t>numThreads</a:t>
            </a:r>
            <a:r>
              <a:rPr lang="it-IT" dirty="0"/>
              <a:t>)</a:t>
            </a:r>
          </a:p>
        </p:txBody>
      </p:sp>
    </p:spTree>
    <p:extLst>
      <p:ext uri="{BB962C8B-B14F-4D97-AF65-F5344CB8AC3E}">
        <p14:creationId xmlns:p14="http://schemas.microsoft.com/office/powerpoint/2010/main" val="371694752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5FFB68-33E3-C985-5CC2-82626BF76E9A}"/>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V1</a:t>
            </a:r>
          </a:p>
        </p:txBody>
      </p:sp>
      <p:sp>
        <p:nvSpPr>
          <p:cNvPr id="5" name="TextBox 4">
            <a:extLst>
              <a:ext uri="{FF2B5EF4-FFF2-40B4-BE49-F238E27FC236}">
                <a16:creationId xmlns:a16="http://schemas.microsoft.com/office/drawing/2014/main" id="{6CBF71C4-F74A-F164-7D5A-C0BFB1355093}"/>
              </a:ext>
            </a:extLst>
          </p:cNvPr>
          <p:cNvSpPr txBox="1"/>
          <p:nvPr/>
        </p:nvSpPr>
        <p:spPr>
          <a:xfrm>
            <a:off x="1097280" y="1809095"/>
            <a:ext cx="10058400" cy="3416320"/>
          </a:xfrm>
          <a:prstGeom prst="rect">
            <a:avLst/>
          </a:prstGeom>
          <a:noFill/>
        </p:spPr>
        <p:txBody>
          <a:bodyPr wrap="square">
            <a:spAutoFit/>
          </a:bodyPr>
          <a:lstStyle/>
          <a:p>
            <a:pPr algn="just"/>
            <a:r>
              <a:rPr lang="en-US" dirty="0"/>
              <a:t>The Forward Algorithm was adapted to run on GPUs using CUDA, leveraging their </a:t>
            </a:r>
            <a:r>
              <a:rPr lang="en-US" b="1" dirty="0"/>
              <a:t>massive parallelism</a:t>
            </a:r>
            <a:r>
              <a:rPr lang="en-US" dirty="0"/>
              <a:t> to significantly speed up processing for large graphs. To achieve this, the graph's data is converted into a GPU-optimized </a:t>
            </a:r>
            <a:r>
              <a:rPr lang="en-US" b="1" dirty="0"/>
              <a:t>Compressed Row Storage (CRS)</a:t>
            </a:r>
            <a:r>
              <a:rPr lang="en-US" dirty="0"/>
              <a:t> format. This dense storage format is well suited for </a:t>
            </a:r>
            <a:r>
              <a:rPr lang="en-US" b="1" dirty="0"/>
              <a:t>coalesced</a:t>
            </a:r>
            <a:r>
              <a:rPr lang="en-US" dirty="0"/>
              <a:t> memory access. </a:t>
            </a:r>
          </a:p>
          <a:p>
            <a:pPr algn="just"/>
            <a:r>
              <a:rPr lang="en-US" dirty="0"/>
              <a:t>The core of the algorithm is performed inside the </a:t>
            </a:r>
            <a:r>
              <a:rPr lang="en-US" b="1" dirty="0" err="1"/>
              <a:t>ForwardAlgorithmKernel</a:t>
            </a:r>
            <a:r>
              <a:rPr lang="en-US" b="1" dirty="0"/>
              <a:t> kernel function</a:t>
            </a:r>
            <a:r>
              <a:rPr lang="en-US" dirty="0"/>
              <a:t>, where we assign each GPU thread to a graph node. Within the function, the approach to identify a potential triangle formed by vertices (s, t, v) remains the same as with the C++ versions. To handle concurrent updates to the global triangle counter from multiple threads, the </a:t>
            </a:r>
            <a:r>
              <a:rPr lang="en-US" b="1" dirty="0" err="1"/>
              <a:t>atomicAdd</a:t>
            </a:r>
            <a:r>
              <a:rPr lang="en-US" dirty="0"/>
              <a:t> function is used.</a:t>
            </a:r>
          </a:p>
          <a:p>
            <a:pPr algn="just"/>
            <a:r>
              <a:rPr lang="en-US" dirty="0"/>
              <a:t>This strategy is heavily dependent on the configuration of its launch parameters, particularly the </a:t>
            </a:r>
            <a:r>
              <a:rPr lang="en-US" b="1" dirty="0" err="1"/>
              <a:t>blockSize</a:t>
            </a:r>
            <a:r>
              <a:rPr lang="en-US" b="1" dirty="0"/>
              <a:t>, which serves as a critical hyperparameter for performance tuning. </a:t>
            </a:r>
            <a:r>
              <a:rPr lang="en-US" dirty="0"/>
              <a:t>Since, in current architectures, a warp is composed of </a:t>
            </a:r>
            <a:r>
              <a:rPr lang="en-US" b="1" dirty="0"/>
              <a:t>32 threads</a:t>
            </a:r>
            <a:r>
              <a:rPr lang="en-US" dirty="0"/>
              <a:t>, using multiples of 32 can result in the block containing an exact number of full warps, so the GPU can schedule them more efficiently</a:t>
            </a:r>
            <a:endParaRPr lang="it-IT" b="1" dirty="0"/>
          </a:p>
        </p:txBody>
      </p:sp>
    </p:spTree>
    <p:extLst>
      <p:ext uri="{BB962C8B-B14F-4D97-AF65-F5344CB8AC3E}">
        <p14:creationId xmlns:p14="http://schemas.microsoft.com/office/powerpoint/2010/main" val="286986109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 graph with a red line&#10;&#10;AI-generated content may be incorrect.">
            <a:extLst>
              <a:ext uri="{FF2B5EF4-FFF2-40B4-BE49-F238E27FC236}">
                <a16:creationId xmlns:a16="http://schemas.microsoft.com/office/drawing/2014/main" id="{8A49B760-2DAC-A5FB-0F87-B275BC28643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80029" y="47903"/>
            <a:ext cx="5451627" cy="3270975"/>
          </a:xfrm>
          <a:prstGeom prst="rect">
            <a:avLst/>
          </a:prstGeom>
        </p:spPr>
      </p:pic>
      <p:cxnSp>
        <p:nvCxnSpPr>
          <p:cNvPr id="20" name="Straight Connector 19">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137ACD5B-F23A-24BE-64FF-2DCAB8BBFFE6}"/>
              </a:ext>
            </a:extLst>
          </p:cNvPr>
          <p:cNvSpPr txBox="1"/>
          <p:nvPr/>
        </p:nvSpPr>
        <p:spPr>
          <a:xfrm>
            <a:off x="6411684" y="2198914"/>
            <a:ext cx="5127172" cy="3670180"/>
          </a:xfrm>
          <a:prstGeom prst="rect">
            <a:avLst/>
          </a:prstGeom>
        </p:spPr>
        <p:txBody>
          <a:bodyPr vert="horz" lIns="0" tIns="45720" rIns="0" bIns="45720" rtlCol="0">
            <a:normAutofit/>
          </a:bodyPr>
          <a:lstStyle/>
          <a:p>
            <a:pPr defTabSz="914400">
              <a:lnSpc>
                <a:spcPct val="90000"/>
              </a:lnSpc>
              <a:spcAft>
                <a:spcPts val="600"/>
              </a:spcAft>
              <a:buClr>
                <a:schemeClr val="accent1"/>
              </a:buClr>
              <a:buFont typeface="Calibri" panose="020F0502020204030204" pitchFamily="34" charset="0"/>
            </a:pPr>
            <a:r>
              <a:rPr lang="en-US" dirty="0">
                <a:solidFill>
                  <a:schemeClr val="tx1">
                    <a:lumMod val="75000"/>
                    <a:lumOff val="25000"/>
                  </a:schemeClr>
                </a:solidFill>
              </a:rPr>
              <a:t>We can see that the </a:t>
            </a:r>
            <a:r>
              <a:rPr lang="en-US" b="1" dirty="0">
                <a:solidFill>
                  <a:schemeClr val="tx1">
                    <a:lumMod val="75000"/>
                    <a:lumOff val="25000"/>
                  </a:schemeClr>
                </a:solidFill>
              </a:rPr>
              <a:t>best performance is achieved setting </a:t>
            </a:r>
            <a:r>
              <a:rPr lang="en-US" b="1" dirty="0" err="1">
                <a:solidFill>
                  <a:schemeClr val="tx1">
                    <a:lumMod val="75000"/>
                    <a:lumOff val="25000"/>
                  </a:schemeClr>
                </a:solidFill>
              </a:rPr>
              <a:t>blockSize</a:t>
            </a:r>
            <a:r>
              <a:rPr lang="en-US" b="1" dirty="0">
                <a:solidFill>
                  <a:schemeClr val="tx1">
                    <a:lumMod val="75000"/>
                    <a:lumOff val="25000"/>
                  </a:schemeClr>
                </a:solidFill>
              </a:rPr>
              <a:t> to 128</a:t>
            </a:r>
            <a:r>
              <a:rPr lang="en-US" dirty="0">
                <a:solidFill>
                  <a:schemeClr val="tx1">
                    <a:lumMod val="75000"/>
                    <a:lumOff val="25000"/>
                  </a:schemeClr>
                </a:solidFill>
              </a:rPr>
              <a:t>, resulting in approximately 25 </a:t>
            </a:r>
            <a:r>
              <a:rPr lang="en-US" dirty="0" err="1">
                <a:solidFill>
                  <a:schemeClr val="tx1">
                    <a:lumMod val="75000"/>
                    <a:lumOff val="25000"/>
                  </a:schemeClr>
                </a:solidFill>
              </a:rPr>
              <a:t>ms</a:t>
            </a:r>
            <a:r>
              <a:rPr lang="en-US" dirty="0">
                <a:solidFill>
                  <a:schemeClr val="tx1">
                    <a:lumMod val="75000"/>
                    <a:lumOff val="25000"/>
                  </a:schemeClr>
                </a:solidFill>
              </a:rPr>
              <a:t> of execution time (this includes also the time spent copying data using from the Host to the Device using the PCIe buffer). Then, the execution time significantly worsens as the size of a block increases to 256, 512, and 1024. In facts, when </a:t>
            </a:r>
            <a:r>
              <a:rPr lang="en-US" dirty="0" err="1">
                <a:solidFill>
                  <a:schemeClr val="tx1">
                    <a:lumMod val="75000"/>
                    <a:lumOff val="25000"/>
                  </a:schemeClr>
                </a:solidFill>
              </a:rPr>
              <a:t>blockSize</a:t>
            </a:r>
            <a:r>
              <a:rPr lang="en-US" dirty="0">
                <a:solidFill>
                  <a:schemeClr val="tx1">
                    <a:lumMod val="75000"/>
                    <a:lumOff val="25000"/>
                  </a:schemeClr>
                </a:solidFill>
              </a:rPr>
              <a:t> is small to moderate (i.e. 64 or 128) the blocks are "lightweight" and many can be scheduled simultaneously on an SM. This leads to </a:t>
            </a:r>
            <a:r>
              <a:rPr lang="en-US" b="1" dirty="0">
                <a:solidFill>
                  <a:schemeClr val="tx1">
                    <a:lumMod val="75000"/>
                    <a:lumOff val="25000"/>
                  </a:schemeClr>
                </a:solidFill>
              </a:rPr>
              <a:t>high occupancy</a:t>
            </a:r>
            <a:r>
              <a:rPr lang="en-US" dirty="0">
                <a:solidFill>
                  <a:schemeClr val="tx1">
                    <a:lumMod val="75000"/>
                    <a:lumOff val="25000"/>
                  </a:schemeClr>
                </a:solidFill>
              </a:rPr>
              <a:t>. In facts, we </a:t>
            </a:r>
            <a:r>
              <a:rPr lang="en-US" b="1" dirty="0">
                <a:solidFill>
                  <a:schemeClr val="tx1">
                    <a:lumMod val="75000"/>
                    <a:lumOff val="25000"/>
                  </a:schemeClr>
                </a:solidFill>
              </a:rPr>
              <a:t>almost </a:t>
            </a:r>
            <a:r>
              <a:rPr lang="en-US" b="1" dirty="0"/>
              <a:t>saturate the SM </a:t>
            </a:r>
            <a:r>
              <a:rPr lang="en-US" dirty="0"/>
              <a:t>(achieving an excellent occupancy of 82.39%)</a:t>
            </a:r>
            <a:endParaRPr lang="en-US" dirty="0">
              <a:solidFill>
                <a:schemeClr val="tx1">
                  <a:lumMod val="75000"/>
                  <a:lumOff val="25000"/>
                </a:schemeClr>
              </a:solidFill>
            </a:endParaRPr>
          </a:p>
        </p:txBody>
      </p:sp>
      <p:sp>
        <p:nvSpPr>
          <p:cNvPr id="21" name="Rectangle 20">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8" name="Rectangle 17">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pic>
        <p:nvPicPr>
          <p:cNvPr id="9" name="Picture 8">
            <a:extLst>
              <a:ext uri="{FF2B5EF4-FFF2-40B4-BE49-F238E27FC236}">
                <a16:creationId xmlns:a16="http://schemas.microsoft.com/office/drawing/2014/main" id="{0A00897F-695A-6EA1-E19C-A0ADDEA36F9F}"/>
              </a:ext>
            </a:extLst>
          </p:cNvPr>
          <p:cNvPicPr>
            <a:picLocks noChangeAspect="1"/>
          </p:cNvPicPr>
          <p:nvPr/>
        </p:nvPicPr>
        <p:blipFill>
          <a:blip r:embed="rId3"/>
          <a:stretch>
            <a:fillRect/>
          </a:stretch>
        </p:blipFill>
        <p:spPr>
          <a:xfrm>
            <a:off x="753298" y="3366781"/>
            <a:ext cx="4627999" cy="3055379"/>
          </a:xfrm>
          <a:prstGeom prst="rect">
            <a:avLst/>
          </a:prstGeom>
        </p:spPr>
      </p:pic>
    </p:spTree>
    <p:extLst>
      <p:ext uri="{BB962C8B-B14F-4D97-AF65-F5344CB8AC3E}">
        <p14:creationId xmlns:p14="http://schemas.microsoft.com/office/powerpoint/2010/main" val="341365420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439772-C12B-D454-97E4-C2D825F2199E}"/>
              </a:ext>
            </a:extLst>
          </p:cNvPr>
          <p:cNvSpPr>
            <a:spLocks noGrp="1"/>
          </p:cNvSpPr>
          <p:nvPr>
            <p:ph type="title"/>
          </p:nvPr>
        </p:nvSpPr>
        <p:spPr/>
        <p:txBody>
          <a:bodyPr/>
          <a:lstStyle/>
          <a:p>
            <a:r>
              <a:rPr lang="it-IT" dirty="0"/>
              <a:t>CUDA </a:t>
            </a:r>
            <a:r>
              <a:rPr lang="it-IT" dirty="0" err="1"/>
              <a:t>Parallel</a:t>
            </a:r>
            <a:r>
              <a:rPr lang="it-IT" dirty="0"/>
              <a:t> </a:t>
            </a:r>
            <a:r>
              <a:rPr lang="it-IT" dirty="0" err="1"/>
              <a:t>Forward</a:t>
            </a:r>
            <a:r>
              <a:rPr lang="it-IT" dirty="0"/>
              <a:t> </a:t>
            </a:r>
            <a:r>
              <a:rPr lang="it-IT" dirty="0" err="1"/>
              <a:t>Node</a:t>
            </a:r>
            <a:r>
              <a:rPr lang="it-IT" dirty="0"/>
              <a:t> </a:t>
            </a:r>
            <a:r>
              <a:rPr lang="it-IT" dirty="0" err="1"/>
              <a:t>Algorithm</a:t>
            </a:r>
            <a:r>
              <a:rPr lang="it-IT" dirty="0"/>
              <a:t> V2</a:t>
            </a:r>
          </a:p>
        </p:txBody>
      </p:sp>
      <p:sp>
        <p:nvSpPr>
          <p:cNvPr id="3" name="Content Placeholder 2">
            <a:extLst>
              <a:ext uri="{FF2B5EF4-FFF2-40B4-BE49-F238E27FC236}">
                <a16:creationId xmlns:a16="http://schemas.microsoft.com/office/drawing/2014/main" id="{E5DCC95D-78B4-25FD-1F9B-C6DD44825131}"/>
              </a:ext>
            </a:extLst>
          </p:cNvPr>
          <p:cNvSpPr>
            <a:spLocks noGrp="1"/>
          </p:cNvSpPr>
          <p:nvPr>
            <p:ph idx="1"/>
          </p:nvPr>
        </p:nvSpPr>
        <p:spPr/>
        <p:txBody>
          <a:bodyPr/>
          <a:lstStyle/>
          <a:p>
            <a:r>
              <a:rPr lang="en-US" dirty="0"/>
              <a:t>The second version of the algorithm introduces a much faster, </a:t>
            </a:r>
            <a:r>
              <a:rPr lang="en-US" b="1" dirty="0"/>
              <a:t>merge-like</a:t>
            </a:r>
            <a:r>
              <a:rPr lang="en-US" dirty="0"/>
              <a:t> method to find triangles using two pointers. This new approach is a major algorithmic improvement over a simple nested loop, significantly cutting down on computation.</a:t>
            </a:r>
          </a:p>
          <a:p>
            <a:r>
              <a:rPr lang="en-US" dirty="0"/>
              <a:t>However, this method creates a GPU-specific bottleneck called </a:t>
            </a:r>
            <a:r>
              <a:rPr lang="en-US" b="1" dirty="0"/>
              <a:t>warp divergence</a:t>
            </a:r>
            <a:r>
              <a:rPr lang="en-US" dirty="0"/>
              <a:t>. This happens when threads in the same execution group take different if-else paths in the code, forcing the GPU to run them one by one and reducing the benefits of parallelism.</a:t>
            </a:r>
          </a:p>
          <a:p>
            <a:r>
              <a:rPr lang="en-US" dirty="0"/>
              <a:t>Despite this, the new algorithm is a substantial upgrade, even though its full speed is sometimes limited by this divergence.</a:t>
            </a:r>
          </a:p>
          <a:p>
            <a:endParaRPr lang="it-IT" dirty="0"/>
          </a:p>
        </p:txBody>
      </p:sp>
    </p:spTree>
    <p:extLst>
      <p:ext uri="{BB962C8B-B14F-4D97-AF65-F5344CB8AC3E}">
        <p14:creationId xmlns:p14="http://schemas.microsoft.com/office/powerpoint/2010/main" val="78425244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9" name="Rectangle 28">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cxnSp>
        <p:nvCxnSpPr>
          <p:cNvPr id="31" name="Straight Connector 30">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3" name="Rectangle 32">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B87C6D-B357-0255-A51F-3CA55917C622}"/>
              </a:ext>
            </a:extLst>
          </p:cNvPr>
          <p:cNvSpPr>
            <a:spLocks noGrp="1"/>
          </p:cNvSpPr>
          <p:nvPr>
            <p:ph type="title"/>
          </p:nvPr>
        </p:nvSpPr>
        <p:spPr>
          <a:xfrm>
            <a:off x="633999" y="4550229"/>
            <a:ext cx="10909073" cy="1057655"/>
          </a:xfrm>
        </p:spPr>
        <p:txBody>
          <a:bodyPr vert="horz" lIns="91440" tIns="45720" rIns="91440" bIns="45720" rtlCol="0" anchor="b">
            <a:normAutofit/>
          </a:bodyPr>
          <a:lstStyle/>
          <a:p>
            <a:r>
              <a:rPr lang="en-US" sz="5600">
                <a:solidFill>
                  <a:schemeClr val="tx1">
                    <a:lumMod val="85000"/>
                    <a:lumOff val="15000"/>
                  </a:schemeClr>
                </a:solidFill>
              </a:rPr>
              <a:t>CUDA Parallel Node: Final comparison</a:t>
            </a:r>
          </a:p>
        </p:txBody>
      </p:sp>
      <p:pic>
        <p:nvPicPr>
          <p:cNvPr id="5" name="Content Placeholder 4">
            <a:extLst>
              <a:ext uri="{FF2B5EF4-FFF2-40B4-BE49-F238E27FC236}">
                <a16:creationId xmlns:a16="http://schemas.microsoft.com/office/drawing/2014/main" id="{9B48B5DB-7C49-C91B-A9E3-1DB78BB39655}"/>
              </a:ext>
            </a:extLst>
          </p:cNvPr>
          <p:cNvPicPr>
            <a:picLocks noGrp="1" noChangeAspect="1"/>
          </p:cNvPicPr>
          <p:nvPr>
            <p:ph idx="1"/>
          </p:nvPr>
        </p:nvPicPr>
        <p:blipFill>
          <a:blip r:embed="rId2"/>
          <a:stretch>
            <a:fillRect/>
          </a:stretch>
        </p:blipFill>
        <p:spPr>
          <a:xfrm>
            <a:off x="635457" y="953269"/>
            <a:ext cx="5131653" cy="2976357"/>
          </a:xfrm>
          <a:prstGeom prst="rect">
            <a:avLst/>
          </a:prstGeom>
        </p:spPr>
      </p:pic>
      <p:sp>
        <p:nvSpPr>
          <p:cNvPr id="35" name="Rectangle 34">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A283E13A-0B85-F36E-EAB4-099FD489592C}"/>
              </a:ext>
            </a:extLst>
          </p:cNvPr>
          <p:cNvPicPr>
            <a:picLocks noChangeAspect="1"/>
          </p:cNvPicPr>
          <p:nvPr/>
        </p:nvPicPr>
        <p:blipFill>
          <a:blip r:embed="rId3"/>
          <a:stretch>
            <a:fillRect/>
          </a:stretch>
        </p:blipFill>
        <p:spPr>
          <a:xfrm>
            <a:off x="6424891" y="880403"/>
            <a:ext cx="5118182" cy="3122090"/>
          </a:xfrm>
          <a:prstGeom prst="rect">
            <a:avLst/>
          </a:prstGeom>
        </p:spPr>
      </p:pic>
      <p:cxnSp>
        <p:nvCxnSpPr>
          <p:cNvPr id="37" name="Straight Connector 36">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41" name="Rectangle 40">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56791638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52ABB703-2B0E-4C3B-B4A2-F3973548E5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5E09325-060E-D984-EF9C-686A057AD822}"/>
              </a:ext>
            </a:extLst>
          </p:cNvPr>
          <p:cNvSpPr>
            <a:spLocks noGrp="1"/>
          </p:cNvSpPr>
          <p:nvPr>
            <p:ph type="title"/>
          </p:nvPr>
        </p:nvSpPr>
        <p:spPr>
          <a:xfrm>
            <a:off x="6411685" y="634946"/>
            <a:ext cx="5127171" cy="1450757"/>
          </a:xfrm>
        </p:spPr>
        <p:txBody>
          <a:bodyPr>
            <a:normAutofit/>
          </a:bodyPr>
          <a:lstStyle/>
          <a:p>
            <a:r>
              <a:rPr lang="en-US" dirty="0"/>
              <a:t>Parallel Forward Edge Iterator V1</a:t>
            </a:r>
            <a:endParaRPr lang="it-IT" dirty="0"/>
          </a:p>
        </p:txBody>
      </p:sp>
      <p:pic>
        <p:nvPicPr>
          <p:cNvPr id="5" name="Picture 4" descr="A graph with red line&#10;&#10;AI-generated content may be incorrect.">
            <a:extLst>
              <a:ext uri="{FF2B5EF4-FFF2-40B4-BE49-F238E27FC236}">
                <a16:creationId xmlns:a16="http://schemas.microsoft.com/office/drawing/2014/main" id="{12ABAC31-DEB7-1FF9-EC99-A8076CBB56E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43192" y="1633492"/>
            <a:ext cx="5451627" cy="3270975"/>
          </a:xfrm>
          <a:prstGeom prst="rect">
            <a:avLst/>
          </a:prstGeom>
        </p:spPr>
      </p:pic>
      <p:cxnSp>
        <p:nvCxnSpPr>
          <p:cNvPr id="12" name="Straight Connector 11">
            <a:extLst>
              <a:ext uri="{FF2B5EF4-FFF2-40B4-BE49-F238E27FC236}">
                <a16:creationId xmlns:a16="http://schemas.microsoft.com/office/drawing/2014/main" id="{9C21570E-E159-49A6-9891-FA397B7A92D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6411684" y="2086188"/>
            <a:ext cx="4748808"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sp>
        <p:nvSpPr>
          <p:cNvPr id="3" name="Content Placeholder 2">
            <a:extLst>
              <a:ext uri="{FF2B5EF4-FFF2-40B4-BE49-F238E27FC236}">
                <a16:creationId xmlns:a16="http://schemas.microsoft.com/office/drawing/2014/main" id="{06AD68A9-B486-2C91-6983-081E8547D265}"/>
              </a:ext>
            </a:extLst>
          </p:cNvPr>
          <p:cNvSpPr>
            <a:spLocks noGrp="1"/>
          </p:cNvSpPr>
          <p:nvPr>
            <p:ph idx="1"/>
          </p:nvPr>
        </p:nvSpPr>
        <p:spPr>
          <a:xfrm>
            <a:off x="6411684" y="2198914"/>
            <a:ext cx="5127172" cy="3670180"/>
          </a:xfrm>
        </p:spPr>
        <p:txBody>
          <a:bodyPr>
            <a:normAutofit/>
          </a:bodyPr>
          <a:lstStyle/>
          <a:p>
            <a:r>
              <a:rPr lang="en-US" sz="1700" dirty="0"/>
              <a:t>In this more naive version (Parallel Edge V1), we parallelize the outer loop that iterates over each edge. We distribute the edges among threads, and each thread is responsible for processing its assigned chunk. For a given edge (</a:t>
            </a:r>
            <a:r>
              <a:rPr lang="en-US" sz="1700" dirty="0" err="1"/>
              <a:t>s,t</a:t>
            </a:r>
            <a:r>
              <a:rPr lang="en-US" sz="1700" dirty="0"/>
              <a:t>), the thread finds common neighbors by performing a naive nested-loop intersection on the neighbor lists of s and t. This method of finding common neighbors has a worst-case time complexity of O(d(s) · d(t)) per edge, where d(s) and d(t) are the degrees of the vertices. The total count of triangles is managed using an std::atomic, which significantly reduces contention compared to using mutexes. However, as shown in our experimental tests, the effectiveness of this approach is highly dependent on the </a:t>
            </a:r>
            <a:r>
              <a:rPr lang="en-US" sz="1700" b="1" dirty="0"/>
              <a:t>graph size</a:t>
            </a:r>
            <a:r>
              <a:rPr lang="en-US" sz="1700" dirty="0"/>
              <a:t>.</a:t>
            </a:r>
            <a:endParaRPr lang="it-IT" sz="1700" dirty="0"/>
          </a:p>
        </p:txBody>
      </p:sp>
      <p:sp>
        <p:nvSpPr>
          <p:cNvPr id="14" name="Rectangle 13">
            <a:extLst>
              <a:ext uri="{FF2B5EF4-FFF2-40B4-BE49-F238E27FC236}">
                <a16:creationId xmlns:a16="http://schemas.microsoft.com/office/drawing/2014/main" id="{E95DA498-D9A2-4DA9-B9DA-B3776E08CF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6" name="Rectangle 15">
            <a:extLst>
              <a:ext uri="{FF2B5EF4-FFF2-40B4-BE49-F238E27FC236}">
                <a16:creationId xmlns:a16="http://schemas.microsoft.com/office/drawing/2014/main" id="{82A73093-4B9D-420D-B17E-52293703A1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79417619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DD582FB-E379-9712-32D5-288FECE008E6}"/>
              </a:ext>
            </a:extLst>
          </p:cNvPr>
          <p:cNvSpPr>
            <a:spLocks noGrp="1"/>
          </p:cNvSpPr>
          <p:nvPr>
            <p:ph type="title"/>
          </p:nvPr>
        </p:nvSpPr>
        <p:spPr>
          <a:xfrm>
            <a:off x="5144679" y="634946"/>
            <a:ext cx="6405063" cy="1450757"/>
          </a:xfrm>
        </p:spPr>
        <p:txBody>
          <a:bodyPr>
            <a:normAutofit/>
          </a:bodyPr>
          <a:lstStyle/>
          <a:p>
            <a:r>
              <a:rPr lang="en-US" dirty="0"/>
              <a:t>Parallel Forward Edge Iterator V2</a:t>
            </a:r>
            <a:endParaRPr lang="it-IT" dirty="0"/>
          </a:p>
        </p:txBody>
      </p:sp>
      <p:pic>
        <p:nvPicPr>
          <p:cNvPr id="5" name="Picture 4" descr="A graph with red line&#10;&#10;AI-generated content may be incorrect.">
            <a:extLst>
              <a:ext uri="{FF2B5EF4-FFF2-40B4-BE49-F238E27FC236}">
                <a16:creationId xmlns:a16="http://schemas.microsoft.com/office/drawing/2014/main" id="{8714C398-C77E-116F-7394-91022842CCC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9823" y="184561"/>
            <a:ext cx="4987054" cy="2992231"/>
          </a:xfrm>
          <a:prstGeom prst="rect">
            <a:avLst/>
          </a:prstGeom>
        </p:spPr>
      </p:pic>
      <p:cxnSp>
        <p:nvCxnSpPr>
          <p:cNvPr id="23" name="Straight Connector 22">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7" name="Picture 6" descr="A graph with red line&#10;&#10;AI-generated content may be incorrect.">
            <a:extLst>
              <a:ext uri="{FF2B5EF4-FFF2-40B4-BE49-F238E27FC236}">
                <a16:creationId xmlns:a16="http://schemas.microsoft.com/office/drawing/2014/main" id="{92853D59-DE87-318B-9972-9757C69FEC2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9822" y="3176792"/>
            <a:ext cx="4950015" cy="2970008"/>
          </a:xfrm>
          <a:prstGeom prst="rect">
            <a:avLst/>
          </a:prstGeom>
        </p:spPr>
      </p:pic>
      <p:sp>
        <p:nvSpPr>
          <p:cNvPr id="3" name="Content Placeholder 2">
            <a:extLst>
              <a:ext uri="{FF2B5EF4-FFF2-40B4-BE49-F238E27FC236}">
                <a16:creationId xmlns:a16="http://schemas.microsoft.com/office/drawing/2014/main" id="{5E07C57F-9265-87D1-43AF-649248002964}"/>
              </a:ext>
            </a:extLst>
          </p:cNvPr>
          <p:cNvSpPr>
            <a:spLocks noGrp="1"/>
          </p:cNvSpPr>
          <p:nvPr>
            <p:ph idx="1"/>
          </p:nvPr>
        </p:nvSpPr>
        <p:spPr>
          <a:xfrm>
            <a:off x="4795521" y="2198913"/>
            <a:ext cx="7305040" cy="4134908"/>
          </a:xfrm>
        </p:spPr>
        <p:txBody>
          <a:bodyPr>
            <a:noAutofit/>
          </a:bodyPr>
          <a:lstStyle/>
          <a:p>
            <a:pPr marL="0" indent="0">
              <a:buNone/>
            </a:pPr>
            <a:r>
              <a:rPr lang="en-US" sz="1400" dirty="0"/>
              <a:t>This version uses an adjacency list representation and employs a crucial preprocessing step to ensure all neighbor lists are sorted. With sorted lists, each thread can find the common neighbors for its assigned edges using a </a:t>
            </a:r>
            <a:r>
              <a:rPr lang="en-US" sz="1400" b="1" dirty="0"/>
              <a:t>two-pointer merge-like algorithm</a:t>
            </a:r>
            <a:r>
              <a:rPr lang="en-US" sz="1400" dirty="0"/>
              <a:t>, which has a linear time complexity of </a:t>
            </a:r>
            <a:r>
              <a:rPr lang="en-US" sz="1400" b="1" dirty="0"/>
              <a:t>O(d(s) + d(t)). </a:t>
            </a:r>
            <a:r>
              <a:rPr lang="en-US" sz="1400" dirty="0"/>
              <a:t>This significant improvement in the intersection process allows the algorithm to achieve a speedup proportional to the number of threads used, P, with very low synchronization overhead from the std::atomic variable.</a:t>
            </a:r>
          </a:p>
          <a:p>
            <a:pPr marL="0" indent="0">
              <a:buNone/>
            </a:pPr>
            <a:r>
              <a:rPr lang="en-US" sz="1400" dirty="0"/>
              <a:t>On a 10k-node graph, </a:t>
            </a:r>
            <a:r>
              <a:rPr lang="en-US" sz="1400" b="1" dirty="0"/>
              <a:t>we observe a dramatic and consistent drop in execution time as the number of threads increases</a:t>
            </a:r>
            <a:r>
              <a:rPr lang="en-US" sz="1400" dirty="0"/>
              <a:t>, with an optimal point around 8 threads. The performance is </a:t>
            </a:r>
            <a:r>
              <a:rPr lang="en-US" sz="1400" b="1" dirty="0"/>
              <a:t>consistently better than the V1 version on the same graph</a:t>
            </a:r>
            <a:r>
              <a:rPr lang="en-US" sz="1400" dirty="0"/>
              <a:t>, demonstrating that the linear-time intersection is far superior to the naive nested-loop approach.</a:t>
            </a:r>
          </a:p>
          <a:p>
            <a:pPr marL="0" indent="0">
              <a:buNone/>
            </a:pPr>
            <a:r>
              <a:rPr lang="en-US" sz="1400" dirty="0"/>
              <a:t>The scaling benefits of the V2 algorithm become even more apparent on extremely large graphs. For a graph with 1 million nodes, the performance curve shows a near-linear decrease as the number of threads increases up to 8. </a:t>
            </a:r>
            <a:r>
              <a:rPr lang="en-US" sz="1400" b="1" dirty="0"/>
              <a:t>This indicates a near-perfect parallel speedup </a:t>
            </a:r>
            <a:r>
              <a:rPr lang="en-US" sz="1400" dirty="0"/>
              <a:t>where the workload is large enough that the benefits of parallelization far outweigh the overhead.</a:t>
            </a:r>
            <a:endParaRPr lang="it-IT" sz="1400" dirty="0"/>
          </a:p>
        </p:txBody>
      </p:sp>
      <p:sp>
        <p:nvSpPr>
          <p:cNvPr id="25" name="Rectangle 24">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20481418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699373FF-C78A-430B-A246-6048999CE9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0572CD8-ACB1-8B57-B1F8-888041DDA7EC}"/>
              </a:ext>
            </a:extLst>
          </p:cNvPr>
          <p:cNvSpPr>
            <a:spLocks noGrp="1"/>
          </p:cNvSpPr>
          <p:nvPr>
            <p:ph type="title"/>
          </p:nvPr>
        </p:nvSpPr>
        <p:spPr>
          <a:xfrm>
            <a:off x="4703577" y="634946"/>
            <a:ext cx="6846166" cy="1450757"/>
          </a:xfrm>
        </p:spPr>
        <p:txBody>
          <a:bodyPr>
            <a:normAutofit/>
          </a:bodyPr>
          <a:lstStyle/>
          <a:p>
            <a:r>
              <a:rPr lang="en-US" dirty="0"/>
              <a:t>Parallel Forward Edge Iterator V3</a:t>
            </a:r>
            <a:endParaRPr lang="it-IT" dirty="0"/>
          </a:p>
        </p:txBody>
      </p:sp>
      <p:pic>
        <p:nvPicPr>
          <p:cNvPr id="7" name="Picture 6" descr="A graph with red line&#10;&#10;AI-generated content may be incorrect.">
            <a:extLst>
              <a:ext uri="{FF2B5EF4-FFF2-40B4-BE49-F238E27FC236}">
                <a16:creationId xmlns:a16="http://schemas.microsoft.com/office/drawing/2014/main" id="{4A3BC75B-3430-0244-CB41-C4EF5F189F6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4762" y="-17698"/>
            <a:ext cx="4101973" cy="2461184"/>
          </a:xfrm>
          <a:prstGeom prst="rect">
            <a:avLst/>
          </a:prstGeom>
        </p:spPr>
      </p:pic>
      <p:cxnSp>
        <p:nvCxnSpPr>
          <p:cNvPr id="23" name="Straight Connector 22">
            <a:extLst>
              <a:ext uri="{FF2B5EF4-FFF2-40B4-BE49-F238E27FC236}">
                <a16:creationId xmlns:a16="http://schemas.microsoft.com/office/drawing/2014/main" id="{03EBB925-FEC3-4CD5-9271-3D75EBB5326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4809772"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9" name="Picture 8" descr="A graph with red line&#10;&#10;AI-generated content may be incorrect.">
            <a:extLst>
              <a:ext uri="{FF2B5EF4-FFF2-40B4-BE49-F238E27FC236}">
                <a16:creationId xmlns:a16="http://schemas.microsoft.com/office/drawing/2014/main" id="{20482C44-DF3F-9E6C-0FA6-5ADBF10777D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14762" y="2198914"/>
            <a:ext cx="4101973" cy="2461184"/>
          </a:xfrm>
          <a:prstGeom prst="rect">
            <a:avLst/>
          </a:prstGeom>
        </p:spPr>
      </p:pic>
      <p:pic>
        <p:nvPicPr>
          <p:cNvPr id="5" name="Picture 4">
            <a:extLst>
              <a:ext uri="{FF2B5EF4-FFF2-40B4-BE49-F238E27FC236}">
                <a16:creationId xmlns:a16="http://schemas.microsoft.com/office/drawing/2014/main" id="{C6A37598-569A-E241-7D74-1DA27E813734}"/>
              </a:ext>
            </a:extLst>
          </p:cNvPr>
          <p:cNvPicPr>
            <a:picLocks noChangeAspect="1"/>
          </p:cNvPicPr>
          <p:nvPr/>
        </p:nvPicPr>
        <p:blipFill>
          <a:blip r:embed="rId4"/>
          <a:stretch>
            <a:fillRect/>
          </a:stretch>
        </p:blipFill>
        <p:spPr>
          <a:xfrm>
            <a:off x="296872" y="4539243"/>
            <a:ext cx="3634851" cy="1861557"/>
          </a:xfrm>
          <a:prstGeom prst="rect">
            <a:avLst/>
          </a:prstGeom>
        </p:spPr>
      </p:pic>
      <p:sp>
        <p:nvSpPr>
          <p:cNvPr id="3" name="Content Placeholder 2">
            <a:extLst>
              <a:ext uri="{FF2B5EF4-FFF2-40B4-BE49-F238E27FC236}">
                <a16:creationId xmlns:a16="http://schemas.microsoft.com/office/drawing/2014/main" id="{B02BA261-F6BB-5B21-E1B4-22192CCF2015}"/>
              </a:ext>
            </a:extLst>
          </p:cNvPr>
          <p:cNvSpPr>
            <a:spLocks noGrp="1"/>
          </p:cNvSpPr>
          <p:nvPr>
            <p:ph idx="1"/>
          </p:nvPr>
        </p:nvSpPr>
        <p:spPr>
          <a:xfrm>
            <a:off x="4701747" y="2198914"/>
            <a:ext cx="6847996" cy="3670180"/>
          </a:xfrm>
        </p:spPr>
        <p:txBody>
          <a:bodyPr>
            <a:normAutofit/>
          </a:bodyPr>
          <a:lstStyle/>
          <a:p>
            <a:r>
              <a:rPr lang="en-US" sz="1400"/>
              <a:t>This highly optimized version of the Edge Algorithm incorporates several key enhancements for maximum performance.</a:t>
            </a:r>
          </a:p>
          <a:p>
            <a:r>
              <a:rPr lang="en-US" sz="1400"/>
              <a:t>First, it uses std::</a:t>
            </a:r>
            <a:r>
              <a:rPr lang="en-US" sz="1400" err="1"/>
              <a:t>unordered_map</a:t>
            </a:r>
            <a:r>
              <a:rPr lang="en-US" sz="1400"/>
              <a:t> for data storage, which provides near-instantaneous </a:t>
            </a:r>
            <a:r>
              <a:rPr lang="en-US" sz="1400" b="1"/>
              <a:t>O(1)</a:t>
            </a:r>
            <a:r>
              <a:rPr lang="en-US" sz="1400"/>
              <a:t> average lookup times, a significant improvement over the O(</a:t>
            </a:r>
            <a:r>
              <a:rPr lang="en-US" sz="1400" err="1"/>
              <a:t>logN</a:t>
            </a:r>
            <a:r>
              <a:rPr lang="en-US" sz="1400"/>
              <a:t>) of previous versions. For parallelism, it uses std::async to create tasks managed by the OS. Crucially, each thread uses a </a:t>
            </a:r>
            <a:r>
              <a:rPr lang="en-US" sz="1400" b="1"/>
              <a:t>local triangle counter</a:t>
            </a:r>
            <a:r>
              <a:rPr lang="en-US" sz="1400"/>
              <a:t>, completely eliminating the need for slow synchronization tools like mutexes or atomic operations. ⚡</a:t>
            </a:r>
          </a:p>
          <a:p>
            <a:r>
              <a:rPr lang="en-US" sz="1400"/>
              <a:t>Further optimizations include:</a:t>
            </a:r>
          </a:p>
          <a:p>
            <a:pPr marL="0" indent="0">
              <a:buNone/>
            </a:pPr>
            <a:r>
              <a:rPr lang="en-US" sz="1400"/>
              <a:t>1) A fast </a:t>
            </a:r>
            <a:r>
              <a:rPr lang="en-US" sz="1400" b="1"/>
              <a:t>two-pointer intersection</a:t>
            </a:r>
            <a:r>
              <a:rPr lang="en-US" sz="1400"/>
              <a:t> method to find common neighbors on pre-sorted lists.</a:t>
            </a:r>
          </a:p>
          <a:p>
            <a:pPr marL="0" indent="0">
              <a:buNone/>
            </a:pPr>
            <a:r>
              <a:rPr lang="en-US" sz="1400"/>
              <a:t>2) </a:t>
            </a:r>
            <a:r>
              <a:rPr lang="en-US" sz="1400" b="1"/>
              <a:t>Pre-filtering edges</a:t>
            </a:r>
            <a:r>
              <a:rPr lang="en-US" sz="1400"/>
              <a:t> at the start to remove redundant checks from the main loop.</a:t>
            </a:r>
          </a:p>
          <a:p>
            <a:pPr marL="0" indent="0">
              <a:buNone/>
            </a:pPr>
            <a:r>
              <a:rPr lang="en-US" sz="1400"/>
              <a:t>3) Passing data by </a:t>
            </a:r>
            <a:r>
              <a:rPr lang="en-US" sz="1400" b="1"/>
              <a:t>constant reference</a:t>
            </a:r>
            <a:r>
              <a:rPr lang="en-US" sz="1400"/>
              <a:t> (const &amp;) to avoid expensive data copying between threads.</a:t>
            </a:r>
          </a:p>
          <a:p>
            <a:endParaRPr lang="it-IT" sz="1400"/>
          </a:p>
        </p:txBody>
      </p:sp>
      <p:sp>
        <p:nvSpPr>
          <p:cNvPr id="25" name="Rectangle 24">
            <a:extLst>
              <a:ext uri="{FF2B5EF4-FFF2-40B4-BE49-F238E27FC236}">
                <a16:creationId xmlns:a16="http://schemas.microsoft.com/office/drawing/2014/main" id="{109B2863-A1A5-4050-8DE8-9BC0AD47F4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7" name="Rectangle 26">
            <a:extLst>
              <a:ext uri="{FF2B5EF4-FFF2-40B4-BE49-F238E27FC236}">
                <a16:creationId xmlns:a16="http://schemas.microsoft.com/office/drawing/2014/main" id="{F1F76955-21E0-4116-A6AA-19DB89B503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154757723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2" name="Rectangle 11">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4" name="Rectangle 13">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cxnSp>
        <p:nvCxnSpPr>
          <p:cNvPr id="16" name="Straight Connector 15">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18" name="Rectangle 17">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76C48AE-8D35-CB5A-C5AA-8EAC79603438}"/>
              </a:ext>
            </a:extLst>
          </p:cNvPr>
          <p:cNvSpPr>
            <a:spLocks noGrp="1"/>
          </p:cNvSpPr>
          <p:nvPr>
            <p:ph type="title"/>
          </p:nvPr>
        </p:nvSpPr>
        <p:spPr>
          <a:xfrm>
            <a:off x="633999" y="4550229"/>
            <a:ext cx="10909073" cy="1057655"/>
          </a:xfrm>
        </p:spPr>
        <p:txBody>
          <a:bodyPr vert="horz" lIns="91440" tIns="45720" rIns="91440" bIns="45720" rtlCol="0" anchor="b">
            <a:normAutofit/>
          </a:bodyPr>
          <a:lstStyle/>
          <a:p>
            <a:r>
              <a:rPr lang="en-US" sz="3300" dirty="0">
                <a:solidFill>
                  <a:schemeClr val="tx1">
                    <a:lumMod val="85000"/>
                    <a:lumOff val="15000"/>
                  </a:schemeClr>
                </a:solidFill>
              </a:rPr>
              <a:t>Comparison between Parallel Edge v3 and sequential version</a:t>
            </a:r>
          </a:p>
        </p:txBody>
      </p:sp>
      <p:pic>
        <p:nvPicPr>
          <p:cNvPr id="7" name="Picture 6">
            <a:extLst>
              <a:ext uri="{FF2B5EF4-FFF2-40B4-BE49-F238E27FC236}">
                <a16:creationId xmlns:a16="http://schemas.microsoft.com/office/drawing/2014/main" id="{DC10C1FF-4FC9-2F91-4FAF-2542BD252A1F}"/>
              </a:ext>
            </a:extLst>
          </p:cNvPr>
          <p:cNvPicPr>
            <a:picLocks noChangeAspect="1"/>
          </p:cNvPicPr>
          <p:nvPr/>
        </p:nvPicPr>
        <p:blipFill>
          <a:blip r:embed="rId2"/>
          <a:stretch>
            <a:fillRect/>
          </a:stretch>
        </p:blipFill>
        <p:spPr>
          <a:xfrm>
            <a:off x="635457" y="844221"/>
            <a:ext cx="5131653" cy="3194453"/>
          </a:xfrm>
          <a:prstGeom prst="rect">
            <a:avLst/>
          </a:prstGeom>
        </p:spPr>
      </p:pic>
      <p:sp>
        <p:nvSpPr>
          <p:cNvPr id="20" name="Rectangle 19">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EFA1B7A4-C699-1B94-59E1-03E001B15932}"/>
              </a:ext>
            </a:extLst>
          </p:cNvPr>
          <p:cNvPicPr>
            <a:picLocks noChangeAspect="1"/>
          </p:cNvPicPr>
          <p:nvPr/>
        </p:nvPicPr>
        <p:blipFill>
          <a:blip r:embed="rId3"/>
          <a:stretch>
            <a:fillRect/>
          </a:stretch>
        </p:blipFill>
        <p:spPr>
          <a:xfrm>
            <a:off x="6424891" y="790834"/>
            <a:ext cx="5118182" cy="3301227"/>
          </a:xfrm>
          <a:prstGeom prst="rect">
            <a:avLst/>
          </a:prstGeom>
        </p:spPr>
      </p:pic>
      <p:cxnSp>
        <p:nvCxnSpPr>
          <p:cNvPr id="22" name="Straight Connector 21">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6" name="Rectangle 25">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43293869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50906-B844-4BFE-8647-BDCF17A3AF80}"/>
              </a:ext>
            </a:extLst>
          </p:cNvPr>
          <p:cNvSpPr>
            <a:spLocks noGrp="1"/>
          </p:cNvSpPr>
          <p:nvPr>
            <p:ph type="title"/>
          </p:nvPr>
        </p:nvSpPr>
        <p:spPr>
          <a:xfrm>
            <a:off x="4908262" y="1073683"/>
            <a:ext cx="6247418" cy="663677"/>
          </a:xfrm>
        </p:spPr>
        <p:txBody>
          <a:bodyPr>
            <a:normAutofit fontScale="90000"/>
          </a:bodyPr>
          <a:lstStyle/>
          <a:p>
            <a:r>
              <a:rPr lang="en-US" dirty="0"/>
              <a:t>CUDA Parallel Forward Edge Iterator V1</a:t>
            </a:r>
            <a:endParaRPr lang="it-IT" dirty="0"/>
          </a:p>
        </p:txBody>
      </p:sp>
      <p:sp>
        <p:nvSpPr>
          <p:cNvPr id="3" name="Content Placeholder 2">
            <a:extLst>
              <a:ext uri="{FF2B5EF4-FFF2-40B4-BE49-F238E27FC236}">
                <a16:creationId xmlns:a16="http://schemas.microsoft.com/office/drawing/2014/main" id="{18C7CF8C-4187-4FF0-AADA-8E3647C37F11}"/>
              </a:ext>
            </a:extLst>
          </p:cNvPr>
          <p:cNvSpPr>
            <a:spLocks noGrp="1"/>
          </p:cNvSpPr>
          <p:nvPr>
            <p:ph idx="1"/>
          </p:nvPr>
        </p:nvSpPr>
        <p:spPr>
          <a:xfrm>
            <a:off x="5750560" y="1846498"/>
            <a:ext cx="5405119" cy="4022596"/>
          </a:xfrm>
        </p:spPr>
        <p:txBody>
          <a:bodyPr>
            <a:normAutofit/>
          </a:bodyPr>
          <a:lstStyle/>
          <a:p>
            <a:r>
              <a:rPr lang="en-US" dirty="0"/>
              <a:t>The </a:t>
            </a:r>
            <a:r>
              <a:rPr lang="en-US" b="1" dirty="0"/>
              <a:t>Forward Edge Iterator</a:t>
            </a:r>
            <a:r>
              <a:rPr lang="en-US" dirty="0"/>
              <a:t> has also been implemented in CUDA, similar to the Forward Node Algorithm. It uses the </a:t>
            </a:r>
            <a:r>
              <a:rPr lang="en-US" b="1" dirty="0"/>
              <a:t>CRS (Compressed Row Storage)</a:t>
            </a:r>
            <a:r>
              <a:rPr lang="en-US" dirty="0"/>
              <a:t> format to represent the graph data. The implementation assigns </a:t>
            </a:r>
            <a:r>
              <a:rPr lang="en-US" b="1" dirty="0"/>
              <a:t>one thread to manage one edge</a:t>
            </a:r>
            <a:r>
              <a:rPr lang="en-US" dirty="0"/>
              <a:t>, handled through the function </a:t>
            </a:r>
            <a:r>
              <a:rPr lang="en-US" i="1" dirty="0" err="1"/>
              <a:t>EdgeIteratorAlgorithmKernel</a:t>
            </a:r>
            <a:r>
              <a:rPr lang="en-US" dirty="0"/>
              <a:t>. Since each edge connects two nodes in the graph, the function iterates over the neighbors of both nodes, and whenever two neighbors match, a new triangle is counted.</a:t>
            </a:r>
          </a:p>
          <a:p>
            <a:pPr marL="0" indent="0">
              <a:buNone/>
            </a:pPr>
            <a:endParaRPr lang="it-IT" dirty="0"/>
          </a:p>
        </p:txBody>
      </p:sp>
      <p:pic>
        <p:nvPicPr>
          <p:cNvPr id="4" name="Picture 3">
            <a:extLst>
              <a:ext uri="{FF2B5EF4-FFF2-40B4-BE49-F238E27FC236}">
                <a16:creationId xmlns:a16="http://schemas.microsoft.com/office/drawing/2014/main" id="{C59DFCE3-567F-4B74-8016-E48DD22B303C}"/>
              </a:ext>
            </a:extLst>
          </p:cNvPr>
          <p:cNvPicPr>
            <a:picLocks noChangeAspect="1"/>
          </p:cNvPicPr>
          <p:nvPr/>
        </p:nvPicPr>
        <p:blipFill>
          <a:blip r:embed="rId2"/>
          <a:stretch>
            <a:fillRect/>
          </a:stretch>
        </p:blipFill>
        <p:spPr>
          <a:xfrm>
            <a:off x="155055" y="1737360"/>
            <a:ext cx="5512661" cy="3495040"/>
          </a:xfrm>
          <a:prstGeom prst="rect">
            <a:avLst/>
          </a:prstGeom>
        </p:spPr>
      </p:pic>
    </p:spTree>
    <p:extLst>
      <p:ext uri="{BB962C8B-B14F-4D97-AF65-F5344CB8AC3E}">
        <p14:creationId xmlns:p14="http://schemas.microsoft.com/office/powerpoint/2010/main" val="34218872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737B48-0C32-42E8-821E-4DAB55EF75E4}"/>
              </a:ext>
            </a:extLst>
          </p:cNvPr>
          <p:cNvSpPr>
            <a:spLocks noGrp="1"/>
          </p:cNvSpPr>
          <p:nvPr>
            <p:ph type="title"/>
          </p:nvPr>
        </p:nvSpPr>
        <p:spPr>
          <a:xfrm>
            <a:off x="4943658" y="371659"/>
            <a:ext cx="6212021" cy="1365701"/>
          </a:xfrm>
        </p:spPr>
        <p:txBody>
          <a:bodyPr/>
          <a:lstStyle/>
          <a:p>
            <a:r>
              <a:rPr lang="en-US" dirty="0"/>
              <a:t>CUDA Parallel Forward Edge Iterator V1_1</a:t>
            </a:r>
            <a:endParaRPr lang="it-IT" dirty="0"/>
          </a:p>
        </p:txBody>
      </p:sp>
      <p:sp>
        <p:nvSpPr>
          <p:cNvPr id="3" name="Content Placeholder 2">
            <a:extLst>
              <a:ext uri="{FF2B5EF4-FFF2-40B4-BE49-F238E27FC236}">
                <a16:creationId xmlns:a16="http://schemas.microsoft.com/office/drawing/2014/main" id="{7478F246-FEDA-4B80-B6DD-D2E52B0FB123}"/>
              </a:ext>
            </a:extLst>
          </p:cNvPr>
          <p:cNvSpPr>
            <a:spLocks noGrp="1"/>
          </p:cNvSpPr>
          <p:nvPr>
            <p:ph idx="1"/>
          </p:nvPr>
        </p:nvSpPr>
        <p:spPr>
          <a:xfrm>
            <a:off x="5821680" y="1845734"/>
            <a:ext cx="5333999" cy="4023360"/>
          </a:xfrm>
        </p:spPr>
        <p:txBody>
          <a:bodyPr>
            <a:normAutofit/>
          </a:bodyPr>
          <a:lstStyle/>
          <a:p>
            <a:r>
              <a:rPr lang="en-US" dirty="0"/>
              <a:t>The </a:t>
            </a:r>
            <a:r>
              <a:rPr lang="en-US" b="1" dirty="0"/>
              <a:t>V1_1 version</a:t>
            </a:r>
            <a:r>
              <a:rPr lang="en-US" dirty="0"/>
              <a:t> builds directly on the original CUDA Forward Edge Iterator. The core function (</a:t>
            </a:r>
            <a:r>
              <a:rPr lang="en-US" i="1" dirty="0" err="1"/>
              <a:t>EdgeIteratorAlgorithmKernel</a:t>
            </a:r>
            <a:r>
              <a:rPr lang="en-US" dirty="0"/>
              <a:t>) remains unchanged. The key modification is in how edges are assigned: Instead of one thread handling exactly one edge, the full edge set is divided into </a:t>
            </a:r>
            <a:r>
              <a:rPr lang="en-US" b="1" dirty="0"/>
              <a:t>chunks</a:t>
            </a:r>
            <a:r>
              <a:rPr lang="en-US" dirty="0"/>
              <a:t>, with each thread responsible for one chunk. This design aims to improve </a:t>
            </a:r>
            <a:r>
              <a:rPr lang="en-US" b="1" dirty="0"/>
              <a:t>GPU resource utilization</a:t>
            </a:r>
            <a:r>
              <a:rPr lang="en-US" dirty="0"/>
              <a:t> and reduce latency by lowering the number of tasks the scheduler must manage in parallel.</a:t>
            </a:r>
          </a:p>
          <a:p>
            <a:pPr marL="0" indent="0">
              <a:buNone/>
            </a:pPr>
            <a:endParaRPr lang="en-US" dirty="0"/>
          </a:p>
        </p:txBody>
      </p:sp>
      <p:pic>
        <p:nvPicPr>
          <p:cNvPr id="4" name="Picture 3">
            <a:extLst>
              <a:ext uri="{FF2B5EF4-FFF2-40B4-BE49-F238E27FC236}">
                <a16:creationId xmlns:a16="http://schemas.microsoft.com/office/drawing/2014/main" id="{9A59FA78-B03A-4CA7-B577-2ABC83606275}"/>
              </a:ext>
            </a:extLst>
          </p:cNvPr>
          <p:cNvPicPr>
            <a:picLocks noChangeAspect="1"/>
          </p:cNvPicPr>
          <p:nvPr/>
        </p:nvPicPr>
        <p:blipFill>
          <a:blip r:embed="rId2"/>
          <a:stretch>
            <a:fillRect/>
          </a:stretch>
        </p:blipFill>
        <p:spPr>
          <a:xfrm>
            <a:off x="185029" y="1580262"/>
            <a:ext cx="5711039" cy="3540379"/>
          </a:xfrm>
          <a:prstGeom prst="rect">
            <a:avLst/>
          </a:prstGeom>
        </p:spPr>
      </p:pic>
    </p:spTree>
    <p:extLst>
      <p:ext uri="{BB962C8B-B14F-4D97-AF65-F5344CB8AC3E}">
        <p14:creationId xmlns:p14="http://schemas.microsoft.com/office/powerpoint/2010/main" val="54497399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EFDE9B1-0271-46CE-B282-36987546B4BC}"/>
              </a:ext>
            </a:extLst>
          </p:cNvPr>
          <p:cNvSpPr>
            <a:spLocks noGrp="1"/>
          </p:cNvSpPr>
          <p:nvPr>
            <p:ph type="title"/>
          </p:nvPr>
        </p:nvSpPr>
        <p:spPr>
          <a:xfrm>
            <a:off x="5155708" y="187741"/>
            <a:ext cx="6111732" cy="1450757"/>
          </a:xfrm>
        </p:spPr>
        <p:txBody>
          <a:bodyPr/>
          <a:lstStyle/>
          <a:p>
            <a:r>
              <a:rPr lang="en-US" dirty="0"/>
              <a:t>CUDA Parallel Forward Edge Iterator V2, V2_1</a:t>
            </a:r>
            <a:endParaRPr lang="it-IT" dirty="0"/>
          </a:p>
        </p:txBody>
      </p:sp>
      <p:sp>
        <p:nvSpPr>
          <p:cNvPr id="3" name="Content Placeholder 2">
            <a:extLst>
              <a:ext uri="{FF2B5EF4-FFF2-40B4-BE49-F238E27FC236}">
                <a16:creationId xmlns:a16="http://schemas.microsoft.com/office/drawing/2014/main" id="{100EA725-890B-4ED8-9437-261DD2F6C130}"/>
              </a:ext>
            </a:extLst>
          </p:cNvPr>
          <p:cNvSpPr>
            <a:spLocks noGrp="1"/>
          </p:cNvSpPr>
          <p:nvPr>
            <p:ph idx="1"/>
          </p:nvPr>
        </p:nvSpPr>
        <p:spPr>
          <a:xfrm>
            <a:off x="5043948" y="1757680"/>
            <a:ext cx="6111732" cy="1813343"/>
          </a:xfrm>
        </p:spPr>
        <p:txBody>
          <a:bodyPr>
            <a:normAutofit/>
          </a:bodyPr>
          <a:lstStyle/>
          <a:p>
            <a:r>
              <a:rPr lang="en-US" sz="1400" dirty="0"/>
              <a:t>Unlike V1, the </a:t>
            </a:r>
            <a:r>
              <a:rPr lang="en-US" sz="1400" b="1" dirty="0"/>
              <a:t>V2 CUDA Edge Iterator</a:t>
            </a:r>
            <a:r>
              <a:rPr lang="en-US" sz="1400" dirty="0"/>
              <a:t> uses a </a:t>
            </a:r>
            <a:r>
              <a:rPr lang="en-US" sz="1400" b="1" dirty="0"/>
              <a:t>two-pointer merge-like algorithm</a:t>
            </a:r>
            <a:r>
              <a:rPr lang="en-US" sz="1400" dirty="0"/>
              <a:t> for neighbor intersection with linear complexity (d(u) + d(v)). Each thread still processes one edge, and all edges are handled in a </a:t>
            </a:r>
            <a:r>
              <a:rPr lang="en-US" sz="1400" b="1" dirty="0"/>
              <a:t>single kernel launch</a:t>
            </a:r>
            <a:r>
              <a:rPr lang="en-US" sz="1400" dirty="0"/>
              <a:t>, which greatly improves efficiency, especially for high-degree nodes.</a:t>
            </a:r>
          </a:p>
          <a:p>
            <a:pPr marL="0" indent="0">
              <a:buNone/>
            </a:pPr>
            <a:endParaRPr lang="en-US" dirty="0"/>
          </a:p>
          <a:p>
            <a:endParaRPr lang="it-IT" dirty="0"/>
          </a:p>
        </p:txBody>
      </p:sp>
      <p:pic>
        <p:nvPicPr>
          <p:cNvPr id="4" name="Picture 3">
            <a:extLst>
              <a:ext uri="{FF2B5EF4-FFF2-40B4-BE49-F238E27FC236}">
                <a16:creationId xmlns:a16="http://schemas.microsoft.com/office/drawing/2014/main" id="{57A3E4A9-64C2-4937-B870-6D8BBB1D9DE2}"/>
              </a:ext>
            </a:extLst>
          </p:cNvPr>
          <p:cNvPicPr>
            <a:picLocks noChangeAspect="1"/>
          </p:cNvPicPr>
          <p:nvPr/>
        </p:nvPicPr>
        <p:blipFill>
          <a:blip r:embed="rId2"/>
          <a:stretch>
            <a:fillRect/>
          </a:stretch>
        </p:blipFill>
        <p:spPr>
          <a:xfrm>
            <a:off x="87406" y="88879"/>
            <a:ext cx="4980937" cy="3176646"/>
          </a:xfrm>
          <a:prstGeom prst="rect">
            <a:avLst/>
          </a:prstGeom>
        </p:spPr>
      </p:pic>
      <p:sp>
        <p:nvSpPr>
          <p:cNvPr id="6" name="TextBox 5">
            <a:extLst>
              <a:ext uri="{FF2B5EF4-FFF2-40B4-BE49-F238E27FC236}">
                <a16:creationId xmlns:a16="http://schemas.microsoft.com/office/drawing/2014/main" id="{AD42A6BC-B7C0-13CE-65C1-09F56C9735C5}"/>
              </a:ext>
            </a:extLst>
          </p:cNvPr>
          <p:cNvSpPr txBox="1"/>
          <p:nvPr/>
        </p:nvSpPr>
        <p:spPr>
          <a:xfrm>
            <a:off x="418391" y="3592476"/>
            <a:ext cx="4625557" cy="1815882"/>
          </a:xfrm>
          <a:prstGeom prst="rect">
            <a:avLst/>
          </a:prstGeom>
          <a:noFill/>
        </p:spPr>
        <p:txBody>
          <a:bodyPr wrap="square">
            <a:spAutoFit/>
          </a:bodyPr>
          <a:lstStyle/>
          <a:p>
            <a:pPr algn="just"/>
            <a:r>
              <a:rPr lang="en-US" sz="1400" dirty="0"/>
              <a:t>The </a:t>
            </a:r>
            <a:r>
              <a:rPr lang="en-US" sz="1400" b="1" dirty="0"/>
              <a:t>V2_1 CUDA Edge Iterator</a:t>
            </a:r>
            <a:r>
              <a:rPr lang="en-US" sz="1400" dirty="0"/>
              <a:t> extends V2 by adding a </a:t>
            </a:r>
            <a:r>
              <a:rPr lang="en-US" sz="1400" b="1" dirty="0"/>
              <a:t>shared memory optimization</a:t>
            </a:r>
            <a:r>
              <a:rPr lang="en-US" sz="1400" dirty="0"/>
              <a:t>. Instead of one thread per edge, </a:t>
            </a:r>
            <a:r>
              <a:rPr lang="en-US" sz="1400" b="1" dirty="0"/>
              <a:t>each block manages a single edge</a:t>
            </a:r>
            <a:r>
              <a:rPr lang="en-US" sz="1400" dirty="0"/>
              <a:t>. Threads cooperatively load the adjacency lists of the edge’s endpoints into </a:t>
            </a:r>
            <a:r>
              <a:rPr lang="en-US" sz="1400" b="1" dirty="0"/>
              <a:t>shared memory</a:t>
            </a:r>
            <a:r>
              <a:rPr lang="en-US" sz="1400" dirty="0"/>
              <a:t>, synchronize, and then a single thread performs the </a:t>
            </a:r>
            <a:r>
              <a:rPr lang="en-US" sz="1400" b="1" dirty="0"/>
              <a:t>two-pointer merge-like intersection</a:t>
            </a:r>
            <a:r>
              <a:rPr lang="en-US" sz="1400" dirty="0"/>
              <a:t> on this faster local data. This reduces global memory latency when neighbor lists fit in shared memory.</a:t>
            </a:r>
          </a:p>
        </p:txBody>
      </p:sp>
      <p:pic>
        <p:nvPicPr>
          <p:cNvPr id="7" name="Picture 6">
            <a:extLst>
              <a:ext uri="{FF2B5EF4-FFF2-40B4-BE49-F238E27FC236}">
                <a16:creationId xmlns:a16="http://schemas.microsoft.com/office/drawing/2014/main" id="{0CB4AC7B-2697-D0E5-B569-22F4897395E7}"/>
              </a:ext>
            </a:extLst>
          </p:cNvPr>
          <p:cNvPicPr>
            <a:picLocks noChangeAspect="1"/>
          </p:cNvPicPr>
          <p:nvPr/>
        </p:nvPicPr>
        <p:blipFill>
          <a:blip r:embed="rId3"/>
          <a:stretch>
            <a:fillRect/>
          </a:stretch>
        </p:blipFill>
        <p:spPr>
          <a:xfrm>
            <a:off x="5547360" y="2759252"/>
            <a:ext cx="5720080" cy="3500172"/>
          </a:xfrm>
          <a:prstGeom prst="rect">
            <a:avLst/>
          </a:prstGeom>
        </p:spPr>
      </p:pic>
    </p:spTree>
    <p:extLst>
      <p:ext uri="{BB962C8B-B14F-4D97-AF65-F5344CB8AC3E}">
        <p14:creationId xmlns:p14="http://schemas.microsoft.com/office/powerpoint/2010/main" val="230130284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4A7642-9F59-4268-AF08-990F77A20AF9}"/>
              </a:ext>
            </a:extLst>
          </p:cNvPr>
          <p:cNvSpPr>
            <a:spLocks noGrp="1"/>
          </p:cNvSpPr>
          <p:nvPr>
            <p:ph type="title"/>
          </p:nvPr>
        </p:nvSpPr>
        <p:spPr>
          <a:xfrm>
            <a:off x="4949559" y="286603"/>
            <a:ext cx="6206121" cy="1450757"/>
          </a:xfrm>
        </p:spPr>
        <p:txBody>
          <a:bodyPr/>
          <a:lstStyle/>
          <a:p>
            <a:r>
              <a:rPr lang="en-US" dirty="0"/>
              <a:t>CUDA Parallel Forward Edge Iterator V2_2</a:t>
            </a:r>
            <a:endParaRPr lang="it-IT" dirty="0"/>
          </a:p>
        </p:txBody>
      </p:sp>
      <p:sp>
        <p:nvSpPr>
          <p:cNvPr id="3" name="Content Placeholder 2">
            <a:extLst>
              <a:ext uri="{FF2B5EF4-FFF2-40B4-BE49-F238E27FC236}">
                <a16:creationId xmlns:a16="http://schemas.microsoft.com/office/drawing/2014/main" id="{F30128A7-AB09-4286-859D-705813F4D2BA}"/>
              </a:ext>
            </a:extLst>
          </p:cNvPr>
          <p:cNvSpPr>
            <a:spLocks noGrp="1"/>
          </p:cNvSpPr>
          <p:nvPr>
            <p:ph idx="1"/>
          </p:nvPr>
        </p:nvSpPr>
        <p:spPr>
          <a:xfrm>
            <a:off x="4949559" y="1845734"/>
            <a:ext cx="6206121" cy="1583266"/>
          </a:xfrm>
        </p:spPr>
        <p:txBody>
          <a:bodyPr>
            <a:normAutofit/>
          </a:bodyPr>
          <a:lstStyle/>
          <a:p>
            <a:r>
              <a:rPr lang="en-US" sz="1400" dirty="0"/>
              <a:t>The </a:t>
            </a:r>
            <a:r>
              <a:rPr lang="en-US" sz="1400" b="1" dirty="0"/>
              <a:t>V2_2 CUDA Edge Iterator</a:t>
            </a:r>
            <a:r>
              <a:rPr lang="en-US" sz="1400" dirty="0"/>
              <a:t> keeps the </a:t>
            </a:r>
            <a:r>
              <a:rPr lang="en-US" sz="1400" b="1" dirty="0"/>
              <a:t>two-pointer merge-like algorithm</a:t>
            </a:r>
            <a:r>
              <a:rPr lang="en-US" sz="1400" dirty="0"/>
              <a:t> and also uses </a:t>
            </a:r>
            <a:r>
              <a:rPr lang="en-US" sz="1400" b="1" dirty="0"/>
              <a:t>shared memory</a:t>
            </a:r>
            <a:r>
              <a:rPr lang="en-US" sz="1400" dirty="0"/>
              <a:t>, but with a different mapping than V2_1. Here, </a:t>
            </a:r>
            <a:r>
              <a:rPr lang="en-US" sz="1400" b="1" dirty="0"/>
              <a:t>one thread manages one edge</a:t>
            </a:r>
            <a:r>
              <a:rPr lang="en-US" sz="1400" dirty="0"/>
              <a:t> (like V2), but each thread tries to load its edge’s adjacency lists into a </a:t>
            </a:r>
            <a:r>
              <a:rPr lang="en-US" sz="1400" b="1" dirty="0"/>
              <a:t>dynamically allocated portion of shared memory</a:t>
            </a:r>
            <a:r>
              <a:rPr lang="en-US" sz="1400" dirty="0"/>
              <a:t> before performing the intersection. This allows multiple edges to be processed in parallel within a block, each gaining faster access if their lists fit in memory.</a:t>
            </a:r>
          </a:p>
          <a:p>
            <a:endParaRPr lang="it-IT" sz="1400" dirty="0"/>
          </a:p>
        </p:txBody>
      </p:sp>
      <p:pic>
        <p:nvPicPr>
          <p:cNvPr id="4" name="Picture 3">
            <a:extLst>
              <a:ext uri="{FF2B5EF4-FFF2-40B4-BE49-F238E27FC236}">
                <a16:creationId xmlns:a16="http://schemas.microsoft.com/office/drawing/2014/main" id="{604A612A-6E22-4E05-B287-B93E210C97EA}"/>
              </a:ext>
            </a:extLst>
          </p:cNvPr>
          <p:cNvPicPr>
            <a:picLocks noChangeAspect="1"/>
          </p:cNvPicPr>
          <p:nvPr/>
        </p:nvPicPr>
        <p:blipFill>
          <a:blip r:embed="rId2"/>
          <a:stretch>
            <a:fillRect/>
          </a:stretch>
        </p:blipFill>
        <p:spPr>
          <a:xfrm>
            <a:off x="247126" y="1605280"/>
            <a:ext cx="4702433" cy="2862759"/>
          </a:xfrm>
          <a:prstGeom prst="rect">
            <a:avLst/>
          </a:prstGeom>
        </p:spPr>
      </p:pic>
    </p:spTree>
    <p:extLst>
      <p:ext uri="{BB962C8B-B14F-4D97-AF65-F5344CB8AC3E}">
        <p14:creationId xmlns:p14="http://schemas.microsoft.com/office/powerpoint/2010/main" val="44838580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C6BF2FE-CE66-4CEA-BB81-604B68FFD6A7}"/>
              </a:ext>
            </a:extLst>
          </p:cNvPr>
          <p:cNvSpPr>
            <a:spLocks noGrp="1"/>
          </p:cNvSpPr>
          <p:nvPr>
            <p:ph type="title"/>
          </p:nvPr>
        </p:nvSpPr>
        <p:spPr>
          <a:xfrm>
            <a:off x="4760778" y="286603"/>
            <a:ext cx="6394902" cy="1450757"/>
          </a:xfrm>
        </p:spPr>
        <p:txBody>
          <a:bodyPr/>
          <a:lstStyle/>
          <a:p>
            <a:r>
              <a:rPr lang="en-US" dirty="0"/>
              <a:t>CUDA Parallel Forward Edge Iterator V3</a:t>
            </a:r>
            <a:endParaRPr lang="it-IT" dirty="0"/>
          </a:p>
        </p:txBody>
      </p:sp>
      <p:sp>
        <p:nvSpPr>
          <p:cNvPr id="3" name="Content Placeholder 2">
            <a:extLst>
              <a:ext uri="{FF2B5EF4-FFF2-40B4-BE49-F238E27FC236}">
                <a16:creationId xmlns:a16="http://schemas.microsoft.com/office/drawing/2014/main" id="{471618AD-BFE7-483C-8BAD-DD77CFCA196E}"/>
              </a:ext>
            </a:extLst>
          </p:cNvPr>
          <p:cNvSpPr>
            <a:spLocks noGrp="1"/>
          </p:cNvSpPr>
          <p:nvPr>
            <p:ph idx="1"/>
          </p:nvPr>
        </p:nvSpPr>
        <p:spPr>
          <a:xfrm>
            <a:off x="4760778" y="1845734"/>
            <a:ext cx="6394901" cy="4023360"/>
          </a:xfrm>
        </p:spPr>
        <p:txBody>
          <a:bodyPr>
            <a:normAutofit/>
          </a:bodyPr>
          <a:lstStyle/>
          <a:p>
            <a:r>
              <a:rPr lang="en-US" dirty="0"/>
              <a:t>The </a:t>
            </a:r>
            <a:r>
              <a:rPr lang="en-US" b="1" dirty="0"/>
              <a:t>V3 CUDA Edge Iterator</a:t>
            </a:r>
            <a:r>
              <a:rPr lang="en-US" dirty="0"/>
              <a:t> addresses the </a:t>
            </a:r>
            <a:r>
              <a:rPr lang="en-US" b="1" dirty="0"/>
              <a:t>scalability issues</a:t>
            </a:r>
            <a:r>
              <a:rPr lang="en-US" dirty="0"/>
              <a:t> of previous versions, where larger block sizes caused performance degradation. V3 introduces a </a:t>
            </a:r>
            <a:r>
              <a:rPr lang="en-US" b="1" dirty="0"/>
              <a:t>dynamic work queue</a:t>
            </a:r>
            <a:r>
              <a:rPr lang="en-US" dirty="0"/>
              <a:t> for edge iteration: threads fetch new edges from a global queue as they finish previous work. This improves </a:t>
            </a:r>
            <a:r>
              <a:rPr lang="en-US" b="1" dirty="0"/>
              <a:t>load balancing</a:t>
            </a:r>
            <a:r>
              <a:rPr lang="en-US" dirty="0"/>
              <a:t>, since threads handling lighter edges can continue working instead of remaining idle, leading to better resource utilization.</a:t>
            </a:r>
          </a:p>
          <a:p>
            <a:r>
              <a:rPr lang="en-US" dirty="0"/>
              <a:t>A hybrid variant (</a:t>
            </a:r>
            <a:r>
              <a:rPr lang="en-US" b="1" dirty="0"/>
              <a:t>V3_1</a:t>
            </a:r>
            <a:r>
              <a:rPr lang="en-US" dirty="0"/>
              <a:t>) combines static block assignment with dynamic scheduling inside each block using </a:t>
            </a:r>
            <a:r>
              <a:rPr lang="en-US" b="1" dirty="0"/>
              <a:t>shared memory</a:t>
            </a:r>
            <a:r>
              <a:rPr lang="en-US" dirty="0"/>
              <a:t>, reducing execution time by ~</a:t>
            </a:r>
            <a:r>
              <a:rPr lang="en-US" b="1" dirty="0"/>
              <a:t>15%</a:t>
            </a:r>
            <a:r>
              <a:rPr lang="en-US" dirty="0"/>
              <a:t> (from 35 </a:t>
            </a:r>
            <a:r>
              <a:rPr lang="en-US" dirty="0" err="1"/>
              <a:t>ms</a:t>
            </a:r>
            <a:r>
              <a:rPr lang="en-US" dirty="0"/>
              <a:t> to 30 </a:t>
            </a:r>
            <a:r>
              <a:rPr lang="en-US" dirty="0" err="1"/>
              <a:t>ms</a:t>
            </a:r>
            <a:r>
              <a:rPr lang="en-US" dirty="0"/>
              <a:t> at BLOCK_SIZE = 8).</a:t>
            </a:r>
          </a:p>
          <a:p>
            <a:endParaRPr lang="it-IT" dirty="0"/>
          </a:p>
        </p:txBody>
      </p:sp>
      <p:pic>
        <p:nvPicPr>
          <p:cNvPr id="4" name="Picture 3">
            <a:extLst>
              <a:ext uri="{FF2B5EF4-FFF2-40B4-BE49-F238E27FC236}">
                <a16:creationId xmlns:a16="http://schemas.microsoft.com/office/drawing/2014/main" id="{555C4CDB-A45B-4BC8-9541-5AB2D6DE7859}"/>
              </a:ext>
            </a:extLst>
          </p:cNvPr>
          <p:cNvPicPr>
            <a:picLocks noChangeAspect="1"/>
          </p:cNvPicPr>
          <p:nvPr/>
        </p:nvPicPr>
        <p:blipFill>
          <a:blip r:embed="rId2"/>
          <a:stretch>
            <a:fillRect/>
          </a:stretch>
        </p:blipFill>
        <p:spPr>
          <a:xfrm>
            <a:off x="326742" y="485311"/>
            <a:ext cx="4300561" cy="2720846"/>
          </a:xfrm>
          <a:prstGeom prst="rect">
            <a:avLst/>
          </a:prstGeom>
        </p:spPr>
      </p:pic>
      <p:pic>
        <p:nvPicPr>
          <p:cNvPr id="5" name="Picture 4">
            <a:extLst>
              <a:ext uri="{FF2B5EF4-FFF2-40B4-BE49-F238E27FC236}">
                <a16:creationId xmlns:a16="http://schemas.microsoft.com/office/drawing/2014/main" id="{18638F9A-B453-4CC5-9435-0F8549470ABF}"/>
              </a:ext>
            </a:extLst>
          </p:cNvPr>
          <p:cNvPicPr>
            <a:picLocks noChangeAspect="1"/>
          </p:cNvPicPr>
          <p:nvPr/>
        </p:nvPicPr>
        <p:blipFill>
          <a:blip r:embed="rId3"/>
          <a:stretch>
            <a:fillRect/>
          </a:stretch>
        </p:blipFill>
        <p:spPr>
          <a:xfrm>
            <a:off x="238250" y="3229554"/>
            <a:ext cx="4407239" cy="2775989"/>
          </a:xfrm>
          <a:prstGeom prst="rect">
            <a:avLst/>
          </a:prstGeom>
        </p:spPr>
      </p:pic>
    </p:spTree>
    <p:extLst>
      <p:ext uri="{BB962C8B-B14F-4D97-AF65-F5344CB8AC3E}">
        <p14:creationId xmlns:p14="http://schemas.microsoft.com/office/powerpoint/2010/main" val="3282439189"/>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B2B8762-61F0-4F1B-9364-D633EE9D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75" y="6400800"/>
            <a:ext cx="12188825"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29" name="Rectangle 28">
            <a:extLst>
              <a:ext uri="{FF2B5EF4-FFF2-40B4-BE49-F238E27FC236}">
                <a16:creationId xmlns:a16="http://schemas.microsoft.com/office/drawing/2014/main" id="{E97675C8-1328-460C-9EBF-6B446B67EA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88825" cy="64008"/>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cxnSp>
        <p:nvCxnSpPr>
          <p:cNvPr id="31" name="Straight Connector 30">
            <a:extLst>
              <a:ext uri="{FF2B5EF4-FFF2-40B4-BE49-F238E27FC236}">
                <a16:creationId xmlns:a16="http://schemas.microsoft.com/office/drawing/2014/main" id="{514EE78B-AF71-4195-A01B-F1165D9233BF}"/>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207658" y="4343400"/>
            <a:ext cx="9875520" cy="0"/>
          </a:xfrm>
          <a:prstGeom prst="line">
            <a:avLst/>
          </a:prstGeom>
          <a:ln w="63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sp useBgFill="1">
        <p:nvSpPr>
          <p:cNvPr id="33" name="Rectangle 32">
            <a:extLst>
              <a:ext uri="{FF2B5EF4-FFF2-40B4-BE49-F238E27FC236}">
                <a16:creationId xmlns:a16="http://schemas.microsoft.com/office/drawing/2014/main" id="{C6417104-D4C1-4710-9982-2154A7F484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59C90C7-3FC4-3302-10BE-14F7FE79F094}"/>
              </a:ext>
            </a:extLst>
          </p:cNvPr>
          <p:cNvSpPr>
            <a:spLocks noGrp="1"/>
          </p:cNvSpPr>
          <p:nvPr>
            <p:ph type="title"/>
          </p:nvPr>
        </p:nvSpPr>
        <p:spPr>
          <a:xfrm>
            <a:off x="633999" y="4550229"/>
            <a:ext cx="10909073" cy="1057655"/>
          </a:xfrm>
        </p:spPr>
        <p:txBody>
          <a:bodyPr vert="horz" lIns="91440" tIns="45720" rIns="91440" bIns="45720" rtlCol="0" anchor="b">
            <a:normAutofit/>
          </a:bodyPr>
          <a:lstStyle/>
          <a:p>
            <a:r>
              <a:rPr lang="en-US" sz="5100">
                <a:solidFill>
                  <a:schemeClr val="tx1">
                    <a:lumMod val="85000"/>
                    <a:lumOff val="15000"/>
                  </a:schemeClr>
                </a:solidFill>
              </a:rPr>
              <a:t>CUDA Parallel Edge V3: final comparison</a:t>
            </a:r>
          </a:p>
        </p:txBody>
      </p:sp>
      <p:pic>
        <p:nvPicPr>
          <p:cNvPr id="5" name="Content Placeholder 4">
            <a:extLst>
              <a:ext uri="{FF2B5EF4-FFF2-40B4-BE49-F238E27FC236}">
                <a16:creationId xmlns:a16="http://schemas.microsoft.com/office/drawing/2014/main" id="{11DF9763-E7D8-E307-960F-E6440E0BDF96}"/>
              </a:ext>
            </a:extLst>
          </p:cNvPr>
          <p:cNvPicPr>
            <a:picLocks noGrp="1" noChangeAspect="1"/>
          </p:cNvPicPr>
          <p:nvPr>
            <p:ph idx="1"/>
          </p:nvPr>
        </p:nvPicPr>
        <p:blipFill>
          <a:blip r:embed="rId2"/>
          <a:stretch>
            <a:fillRect/>
          </a:stretch>
        </p:blipFill>
        <p:spPr>
          <a:xfrm>
            <a:off x="635457" y="953269"/>
            <a:ext cx="5131653" cy="2976357"/>
          </a:xfrm>
          <a:prstGeom prst="rect">
            <a:avLst/>
          </a:prstGeom>
        </p:spPr>
      </p:pic>
      <p:sp>
        <p:nvSpPr>
          <p:cNvPr id="35" name="Rectangle 34">
            <a:extLst>
              <a:ext uri="{FF2B5EF4-FFF2-40B4-BE49-F238E27FC236}">
                <a16:creationId xmlns:a16="http://schemas.microsoft.com/office/drawing/2014/main" id="{626F1402-2DEC-4071-84AF-350C7BF00D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063996" y="886968"/>
            <a:ext cx="64008" cy="310896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F8CD4A3A-3F58-12D6-0624-43C2647017FD}"/>
              </a:ext>
            </a:extLst>
          </p:cNvPr>
          <p:cNvPicPr>
            <a:picLocks noChangeAspect="1"/>
          </p:cNvPicPr>
          <p:nvPr/>
        </p:nvPicPr>
        <p:blipFill>
          <a:blip r:embed="rId3"/>
          <a:stretch>
            <a:fillRect/>
          </a:stretch>
        </p:blipFill>
        <p:spPr>
          <a:xfrm>
            <a:off x="6424891" y="867607"/>
            <a:ext cx="5118182" cy="3147681"/>
          </a:xfrm>
          <a:prstGeom prst="rect">
            <a:avLst/>
          </a:prstGeom>
        </p:spPr>
      </p:pic>
      <p:cxnSp>
        <p:nvCxnSpPr>
          <p:cNvPr id="37" name="Straight Connector 36">
            <a:extLst>
              <a:ext uri="{FF2B5EF4-FFF2-40B4-BE49-F238E27FC236}">
                <a16:creationId xmlns:a16="http://schemas.microsoft.com/office/drawing/2014/main" id="{04733B62-1719-4677-A612-CA0AC0AD748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721086" y="5618770"/>
            <a:ext cx="10515600" cy="0"/>
          </a:xfrm>
          <a:prstGeom prst="line">
            <a:avLst/>
          </a:prstGeom>
          <a:ln w="6350">
            <a:solidFill>
              <a:schemeClr val="tx2">
                <a:alpha val="90000"/>
              </a:schemeClr>
            </a:solidFill>
          </a:ln>
        </p:spPr>
        <p:style>
          <a:lnRef idx="1">
            <a:schemeClr val="accent1"/>
          </a:lnRef>
          <a:fillRef idx="0">
            <a:schemeClr val="accent1"/>
          </a:fillRef>
          <a:effectRef idx="0">
            <a:schemeClr val="accent1"/>
          </a:effectRef>
          <a:fontRef idx="minor">
            <a:schemeClr val="tx1"/>
          </a:fontRef>
        </p:style>
      </p:cxnSp>
      <p:sp>
        <p:nvSpPr>
          <p:cNvPr id="39" name="Rectangle 38">
            <a:extLst>
              <a:ext uri="{FF2B5EF4-FFF2-40B4-BE49-F238E27FC236}">
                <a16:creationId xmlns:a16="http://schemas.microsoft.com/office/drawing/2014/main" id="{DA52A394-10F4-4AA5-90E4-634D1E919D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41" name="Rectangle 40">
            <a:extLst>
              <a:ext uri="{FF2B5EF4-FFF2-40B4-BE49-F238E27FC236}">
                <a16:creationId xmlns:a16="http://schemas.microsoft.com/office/drawing/2014/main" id="{07BDDC51-8BB2-42BE-8EA8-39B3E9AC1E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253300587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E5958DBC-F4DA-42A8-8C52-860179790E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334316"/>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E3898EA-F552-4AE4-BACD-867703F5652C}"/>
              </a:ext>
            </a:extLst>
          </p:cNvPr>
          <p:cNvSpPr>
            <a:spLocks noGrp="1"/>
          </p:cNvSpPr>
          <p:nvPr>
            <p:ph type="title"/>
          </p:nvPr>
        </p:nvSpPr>
        <p:spPr>
          <a:xfrm>
            <a:off x="5144679" y="634946"/>
            <a:ext cx="6405063" cy="1450757"/>
          </a:xfrm>
        </p:spPr>
        <p:txBody>
          <a:bodyPr>
            <a:normAutofit/>
          </a:bodyPr>
          <a:lstStyle/>
          <a:p>
            <a:r>
              <a:rPr lang="it-IT" dirty="0" err="1"/>
              <a:t>Parallel</a:t>
            </a:r>
            <a:r>
              <a:rPr lang="it-IT" dirty="0"/>
              <a:t> (C++) Matrix </a:t>
            </a:r>
            <a:r>
              <a:rPr lang="it-IT" dirty="0" err="1"/>
              <a:t>Multiplication</a:t>
            </a:r>
            <a:r>
              <a:rPr lang="it-IT" dirty="0"/>
              <a:t> </a:t>
            </a:r>
            <a:r>
              <a:rPr lang="it-IT" dirty="0" err="1"/>
              <a:t>Algorithm</a:t>
            </a:r>
            <a:endParaRPr lang="it-IT" dirty="0"/>
          </a:p>
        </p:txBody>
      </p:sp>
      <p:pic>
        <p:nvPicPr>
          <p:cNvPr id="4" name="Picture 3">
            <a:extLst>
              <a:ext uri="{FF2B5EF4-FFF2-40B4-BE49-F238E27FC236}">
                <a16:creationId xmlns:a16="http://schemas.microsoft.com/office/drawing/2014/main" id="{2774B30E-893F-9CCB-75D2-A2AA38163279}"/>
              </a:ext>
            </a:extLst>
          </p:cNvPr>
          <p:cNvPicPr>
            <a:picLocks noChangeAspect="1"/>
          </p:cNvPicPr>
          <p:nvPr/>
        </p:nvPicPr>
        <p:blipFill>
          <a:blip r:embed="rId2"/>
          <a:stretch>
            <a:fillRect/>
          </a:stretch>
        </p:blipFill>
        <p:spPr>
          <a:xfrm>
            <a:off x="655283" y="581098"/>
            <a:ext cx="3977728" cy="2476136"/>
          </a:xfrm>
          <a:prstGeom prst="rect">
            <a:avLst/>
          </a:prstGeom>
        </p:spPr>
      </p:pic>
      <p:cxnSp>
        <p:nvCxnSpPr>
          <p:cNvPr id="12" name="Straight Connector 11">
            <a:extLst>
              <a:ext uri="{FF2B5EF4-FFF2-40B4-BE49-F238E27FC236}">
                <a16:creationId xmlns:a16="http://schemas.microsoft.com/office/drawing/2014/main" id="{79FCC9A9-2031-4283-9B27-34B62BB7F305}"/>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5181247" y="2086188"/>
            <a:ext cx="5852160" cy="0"/>
          </a:xfrm>
          <a:prstGeom prst="line">
            <a:avLst/>
          </a:prstGeom>
          <a:ln w="6350">
            <a:solidFill>
              <a:schemeClr val="tx1">
                <a:lumMod val="50000"/>
                <a:lumOff val="50000"/>
                <a:alpha val="90000"/>
              </a:schemeClr>
            </a:solidFill>
          </a:ln>
        </p:spPr>
        <p:style>
          <a:lnRef idx="1">
            <a:schemeClr val="accent1"/>
          </a:lnRef>
          <a:fillRef idx="0">
            <a:schemeClr val="accent1"/>
          </a:fillRef>
          <a:effectRef idx="0">
            <a:schemeClr val="accent1"/>
          </a:effectRef>
          <a:fontRef idx="minor">
            <a:schemeClr val="tx1"/>
          </a:fontRef>
        </p:style>
      </p:cxnSp>
      <p:pic>
        <p:nvPicPr>
          <p:cNvPr id="5" name="Picture 4">
            <a:extLst>
              <a:ext uri="{FF2B5EF4-FFF2-40B4-BE49-F238E27FC236}">
                <a16:creationId xmlns:a16="http://schemas.microsoft.com/office/drawing/2014/main" id="{7894E659-246F-E844-99B7-DE0E5966CDEC}"/>
              </a:ext>
            </a:extLst>
          </p:cNvPr>
          <p:cNvPicPr>
            <a:picLocks noChangeAspect="1"/>
          </p:cNvPicPr>
          <p:nvPr/>
        </p:nvPicPr>
        <p:blipFill>
          <a:blip r:embed="rId3"/>
          <a:stretch>
            <a:fillRect/>
          </a:stretch>
        </p:blipFill>
        <p:spPr>
          <a:xfrm>
            <a:off x="663238" y="3218101"/>
            <a:ext cx="3961818" cy="2476136"/>
          </a:xfrm>
          <a:prstGeom prst="rect">
            <a:avLst/>
          </a:prstGeom>
        </p:spPr>
      </p:pic>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F8F5947-64B4-47FD-84EB-E71FC8F5B4EA}"/>
                  </a:ext>
                </a:extLst>
              </p:cNvPr>
              <p:cNvSpPr>
                <a:spLocks noGrp="1"/>
              </p:cNvSpPr>
              <p:nvPr>
                <p:ph idx="1"/>
              </p:nvPr>
            </p:nvSpPr>
            <p:spPr>
              <a:xfrm>
                <a:off x="5144679" y="2198914"/>
                <a:ext cx="6405063" cy="3670180"/>
              </a:xfrm>
            </p:spPr>
            <p:txBody>
              <a:bodyPr>
                <a:normAutofit/>
              </a:bodyPr>
              <a:lstStyle/>
              <a:p>
                <a:pPr marL="0" indent="0">
                  <a:buNone/>
                </a:pPr>
                <a:r>
                  <a:rPr lang="it-IT" sz="1600" dirty="0"/>
                  <a:t>The </a:t>
                </a:r>
                <a:r>
                  <a:rPr lang="it-IT" sz="1600" b="1" dirty="0" err="1"/>
                  <a:t>matrix</a:t>
                </a:r>
                <a:r>
                  <a:rPr lang="it-IT" sz="1600" b="1" dirty="0"/>
                  <a:t> </a:t>
                </a:r>
                <a:r>
                  <a:rPr lang="it-IT" sz="1600" b="1" dirty="0" err="1"/>
                  <a:t>multiplication</a:t>
                </a:r>
                <a:r>
                  <a:rPr lang="it-IT" sz="1600" b="1" dirty="0"/>
                  <a:t> </a:t>
                </a:r>
                <a:r>
                  <a:rPr lang="it-IT" sz="1600" dirty="0" err="1"/>
                  <a:t>algorithm</a:t>
                </a:r>
                <a:r>
                  <a:rPr lang="it-IT" sz="1600" dirty="0"/>
                  <a:t> </a:t>
                </a:r>
                <a:r>
                  <a:rPr lang="it-IT" sz="1600" dirty="0" err="1"/>
                  <a:t>is</a:t>
                </a:r>
                <a:r>
                  <a:rPr lang="it-IT" sz="1600" dirty="0"/>
                  <a:t> </a:t>
                </a:r>
                <a:r>
                  <a:rPr lang="it-IT" sz="1600" dirty="0" err="1"/>
                  <a:t>implemented</a:t>
                </a:r>
                <a:r>
                  <a:rPr lang="it-IT" sz="1600" dirty="0"/>
                  <a:t> by </a:t>
                </a:r>
                <a:r>
                  <a:rPr lang="it-IT" sz="1600" dirty="0" err="1"/>
                  <a:t>using</a:t>
                </a:r>
                <a:r>
                  <a:rPr lang="it-IT" sz="1600" dirty="0"/>
                  <a:t> a </a:t>
                </a:r>
                <a:r>
                  <a:rPr lang="it-IT" sz="1600" dirty="0" err="1"/>
                  <a:t>matrix</a:t>
                </a:r>
                <a:r>
                  <a:rPr lang="it-IT" sz="1600" dirty="0"/>
                  <a:t> data </a:t>
                </a:r>
                <a:r>
                  <a:rPr lang="it-IT" sz="1600" dirty="0" err="1"/>
                  <a:t>structure</a:t>
                </a:r>
                <a:r>
                  <a:rPr lang="it-IT" sz="1600" dirty="0"/>
                  <a:t> </a:t>
                </a:r>
                <a:r>
                  <a:rPr lang="it-IT" sz="1600" dirty="0" err="1"/>
                  <a:t>where</a:t>
                </a:r>
                <a:r>
                  <a:rPr lang="it-IT" sz="1600" dirty="0"/>
                  <a:t> </a:t>
                </a:r>
                <a:r>
                  <a:rPr lang="it-IT" sz="1600" dirty="0" err="1"/>
                  <a:t>each</a:t>
                </a:r>
                <a:r>
                  <a:rPr lang="it-IT" sz="1600" dirty="0"/>
                  <a:t> </a:t>
                </a:r>
                <a:r>
                  <a:rPr lang="it-IT" sz="1600" b="1" dirty="0" err="1"/>
                  <a:t>row</a:t>
                </a:r>
                <a:r>
                  <a:rPr lang="it-IT" sz="1600" b="1" dirty="0"/>
                  <a:t> and </a:t>
                </a:r>
                <a:r>
                  <a:rPr lang="it-IT" sz="1600" b="1" dirty="0" err="1"/>
                  <a:t>column</a:t>
                </a:r>
                <a:r>
                  <a:rPr lang="it-IT" sz="1600" b="1" dirty="0"/>
                  <a:t> </a:t>
                </a:r>
                <a:r>
                  <a:rPr lang="it-IT" sz="1600" b="1" dirty="0" err="1"/>
                  <a:t>represents</a:t>
                </a:r>
                <a:r>
                  <a:rPr lang="it-IT" sz="1600" b="1" dirty="0"/>
                  <a:t> a </a:t>
                </a:r>
                <a:r>
                  <a:rPr lang="it-IT" sz="1600" b="1" dirty="0" err="1"/>
                  <a:t>node</a:t>
                </a:r>
                <a:r>
                  <a:rPr lang="it-IT" sz="1600" dirty="0"/>
                  <a:t>, and </a:t>
                </a:r>
                <a:r>
                  <a:rPr lang="it-IT" sz="1600" dirty="0" err="1"/>
                  <a:t>each</a:t>
                </a:r>
                <a:r>
                  <a:rPr lang="it-IT" sz="1600" dirty="0"/>
                  <a:t> </a:t>
                </a:r>
                <a:r>
                  <a:rPr lang="it-IT" sz="1600" dirty="0" err="1"/>
                  <a:t>element</a:t>
                </a:r>
                <a:r>
                  <a:rPr lang="it-IT" sz="1600" dirty="0"/>
                  <a:t> of the </a:t>
                </a:r>
                <a:r>
                  <a:rPr lang="it-IT" sz="1600" dirty="0" err="1"/>
                  <a:t>matrix</a:t>
                </a:r>
                <a:r>
                  <a:rPr lang="it-IT" sz="1600" dirty="0"/>
                  <a:t> </a:t>
                </a:r>
                <a:r>
                  <a:rPr lang="it-IT" sz="1600" dirty="0" err="1"/>
                  <a:t>is</a:t>
                </a:r>
                <a:r>
                  <a:rPr lang="it-IT" sz="1600" dirty="0"/>
                  <a:t> 1 </a:t>
                </a:r>
                <a:r>
                  <a:rPr lang="it-IT" sz="1600" dirty="0" err="1"/>
                  <a:t>if</a:t>
                </a:r>
                <a:r>
                  <a:rPr lang="it-IT" sz="1600" dirty="0"/>
                  <a:t> </a:t>
                </a:r>
                <a:r>
                  <a:rPr lang="it-IT" sz="1600" dirty="0" err="1"/>
                  <a:t>there</a:t>
                </a:r>
                <a:r>
                  <a:rPr lang="it-IT" sz="1600" dirty="0"/>
                  <a:t> </a:t>
                </a:r>
                <a:r>
                  <a:rPr lang="it-IT" sz="1600" dirty="0" err="1"/>
                  <a:t>is</a:t>
                </a:r>
                <a:r>
                  <a:rPr lang="it-IT" sz="1600" dirty="0"/>
                  <a:t> an </a:t>
                </a:r>
                <a:r>
                  <a:rPr lang="it-IT" sz="1600" dirty="0" err="1"/>
                  <a:t>edge</a:t>
                </a:r>
                <a:r>
                  <a:rPr lang="it-IT" sz="1600" dirty="0"/>
                  <a:t> </a:t>
                </a:r>
                <a:r>
                  <a:rPr lang="it-IT" sz="1600" dirty="0" err="1"/>
                  <a:t>between</a:t>
                </a:r>
                <a:r>
                  <a:rPr lang="it-IT" sz="1600" dirty="0"/>
                  <a:t> the </a:t>
                </a:r>
                <a:r>
                  <a:rPr lang="it-IT" sz="1600" dirty="0" err="1"/>
                  <a:t>respective</a:t>
                </a:r>
                <a:r>
                  <a:rPr lang="it-IT" sz="1600" dirty="0"/>
                  <a:t> </a:t>
                </a:r>
                <a:r>
                  <a:rPr lang="it-IT" sz="1600" dirty="0" err="1"/>
                  <a:t>nodes</a:t>
                </a:r>
                <a:r>
                  <a:rPr lang="it-IT" sz="1600" dirty="0"/>
                  <a:t>, 0 </a:t>
                </a:r>
                <a:r>
                  <a:rPr lang="it-IT" sz="1600" dirty="0" err="1"/>
                  <a:t>otherwise</a:t>
                </a:r>
                <a:r>
                  <a:rPr lang="it-IT" sz="1600" dirty="0"/>
                  <a:t>. The </a:t>
                </a:r>
                <a:r>
                  <a:rPr lang="it-IT" sz="1600" b="1" dirty="0" err="1"/>
                  <a:t>total</a:t>
                </a:r>
                <a:r>
                  <a:rPr lang="it-IT" sz="1600" b="1" dirty="0"/>
                  <a:t> </a:t>
                </a:r>
                <a:r>
                  <a:rPr lang="it-IT" sz="1600" b="1" dirty="0" err="1"/>
                  <a:t>number</a:t>
                </a:r>
                <a:r>
                  <a:rPr lang="it-IT" sz="1600" b="1" dirty="0"/>
                  <a:t> of </a:t>
                </a:r>
                <a:r>
                  <a:rPr lang="it-IT" sz="1600" b="1" dirty="0" err="1"/>
                  <a:t>triangles</a:t>
                </a:r>
                <a:r>
                  <a:rPr lang="it-IT" sz="1600" b="1" dirty="0"/>
                  <a:t> </a:t>
                </a:r>
                <a:r>
                  <a:rPr lang="it-IT" sz="1600" dirty="0"/>
                  <a:t>are </a:t>
                </a:r>
                <a:r>
                  <a:rPr lang="it-IT" sz="1600" dirty="0" err="1"/>
                  <a:t>computed</a:t>
                </a:r>
                <a:r>
                  <a:rPr lang="it-IT" sz="1600" dirty="0"/>
                  <a:t> </a:t>
                </a:r>
                <a:r>
                  <a:rPr lang="it-IT" sz="1600" dirty="0" err="1"/>
                  <a:t>using</a:t>
                </a:r>
                <a:r>
                  <a:rPr lang="it-IT" sz="1600" dirty="0"/>
                  <a:t> the formula</a:t>
                </a:r>
                <a:r>
                  <a:rPr lang="it-IT" sz="1600" b="1" dirty="0"/>
                  <a:t> </a:t>
                </a:r>
                <a14:m>
                  <m:oMath xmlns:m="http://schemas.openxmlformats.org/officeDocument/2006/math">
                    <m:f>
                      <m:fPr>
                        <m:ctrlPr>
                          <a:rPr lang="it-IT" sz="1600" b="1" i="1" smtClean="0">
                            <a:latin typeface="Cambria Math" panose="02040503050406030204" pitchFamily="18" charset="0"/>
                          </a:rPr>
                        </m:ctrlPr>
                      </m:fPr>
                      <m:num>
                        <m:r>
                          <a:rPr lang="it-IT" sz="1600" b="1" i="1" smtClean="0">
                            <a:latin typeface="Cambria Math" panose="02040503050406030204" pitchFamily="18" charset="0"/>
                          </a:rPr>
                          <m:t>𝟏</m:t>
                        </m:r>
                      </m:num>
                      <m:den>
                        <m:r>
                          <a:rPr lang="it-IT" sz="1600" b="1" i="1" smtClean="0">
                            <a:latin typeface="Cambria Math" panose="02040503050406030204" pitchFamily="18" charset="0"/>
                          </a:rPr>
                          <m:t>𝟔</m:t>
                        </m:r>
                      </m:den>
                    </m:f>
                    <m:r>
                      <a:rPr lang="it-IT" sz="1600" b="1" i="1" smtClean="0">
                        <a:latin typeface="Cambria Math" panose="02040503050406030204" pitchFamily="18" charset="0"/>
                      </a:rPr>
                      <m:t>∗</m:t>
                    </m:r>
                    <m:r>
                      <a:rPr lang="it-IT" sz="1600" b="1" i="1" smtClean="0">
                        <a:latin typeface="Cambria Math" panose="02040503050406030204" pitchFamily="18" charset="0"/>
                      </a:rPr>
                      <m:t>𝑻𝒓𝒂𝒄𝒆</m:t>
                    </m:r>
                    <m:r>
                      <a:rPr lang="it-IT" sz="1600" b="1" i="1" smtClean="0">
                        <a:latin typeface="Cambria Math" panose="02040503050406030204" pitchFamily="18" charset="0"/>
                      </a:rPr>
                      <m:t>(</m:t>
                    </m:r>
                    <m:sSup>
                      <m:sSupPr>
                        <m:ctrlPr>
                          <a:rPr lang="it-IT" sz="1600" b="1" i="1" smtClean="0">
                            <a:latin typeface="Cambria Math" panose="02040503050406030204" pitchFamily="18" charset="0"/>
                          </a:rPr>
                        </m:ctrlPr>
                      </m:sSupPr>
                      <m:e>
                        <m:r>
                          <a:rPr lang="it-IT" sz="1600" b="1" i="1" smtClean="0">
                            <a:latin typeface="Cambria Math" panose="02040503050406030204" pitchFamily="18" charset="0"/>
                          </a:rPr>
                          <m:t>𝑨</m:t>
                        </m:r>
                      </m:e>
                      <m:sup>
                        <m:r>
                          <a:rPr lang="it-IT" sz="1600" b="1" i="1" smtClean="0">
                            <a:latin typeface="Cambria Math" panose="02040503050406030204" pitchFamily="18" charset="0"/>
                          </a:rPr>
                          <m:t>𝟑</m:t>
                        </m:r>
                      </m:sup>
                    </m:sSup>
                    <m:r>
                      <a:rPr lang="it-IT" sz="1600" b="1" i="1" smtClean="0">
                        <a:latin typeface="Cambria Math" panose="02040503050406030204" pitchFamily="18" charset="0"/>
                      </a:rPr>
                      <m:t>)</m:t>
                    </m:r>
                  </m:oMath>
                </a14:m>
                <a:r>
                  <a:rPr lang="it-IT" sz="1600" b="1" dirty="0"/>
                  <a:t> </a:t>
                </a:r>
                <a:r>
                  <a:rPr lang="it-IT" sz="1600" dirty="0" err="1"/>
                  <a:t>where</a:t>
                </a:r>
                <a:r>
                  <a:rPr lang="it-IT" sz="1600" dirty="0"/>
                  <a:t> A </a:t>
                </a:r>
                <a:r>
                  <a:rPr lang="it-IT" sz="1600" dirty="0" err="1"/>
                  <a:t>is</a:t>
                </a:r>
                <a:r>
                  <a:rPr lang="it-IT" sz="1600" dirty="0"/>
                  <a:t> the </a:t>
                </a:r>
                <a:r>
                  <a:rPr lang="it-IT" sz="1600" dirty="0" err="1"/>
                  <a:t>matrix</a:t>
                </a:r>
                <a:r>
                  <a:rPr lang="it-IT" sz="1600" dirty="0"/>
                  <a:t>.</a:t>
                </a:r>
                <a:br>
                  <a:rPr lang="it-IT" sz="1600" dirty="0"/>
                </a:br>
                <a:endParaRPr lang="it-IT" sz="1600" dirty="0"/>
              </a:p>
              <a:p>
                <a:pPr marL="0" indent="0">
                  <a:buNone/>
                </a:pPr>
                <a:r>
                  <a:rPr lang="en-US" sz="1600" dirty="0"/>
                  <a:t>The </a:t>
                </a:r>
                <a:r>
                  <a:rPr lang="en-US" sz="1600" b="1" dirty="0"/>
                  <a:t>Parallel Matrix Multiplication Algorithm</a:t>
                </a:r>
                <a:r>
                  <a:rPr lang="en-US" sz="1600" dirty="0"/>
                  <a:t> distributes the computation across multiple threads, as the sequential approach is infeasible for large graphs. The multiplication is divided into two phases:</a:t>
                </a:r>
                <a:r>
                  <a:rPr lang="it-IT" sz="1600" i="1" dirty="0">
                    <a:latin typeface="Cambria Math" panose="02040503050406030204" pitchFamily="18" charset="0"/>
                    <a:ea typeface="Cambria Math" panose="02040503050406030204" pitchFamily="18" charset="0"/>
                  </a:rPr>
                  <a:t>A * A</a:t>
                </a:r>
                <a:r>
                  <a:rPr lang="it-IT" sz="1600" dirty="0">
                    <a:latin typeface="Cambria Math" panose="02040503050406030204" pitchFamily="18" charset="0"/>
                    <a:ea typeface="Cambria Math" panose="02040503050406030204" pitchFamily="18" charset="0"/>
                  </a:rPr>
                  <a:t> </a:t>
                </a:r>
                <a:r>
                  <a:rPr lang="it-IT" sz="1600" dirty="0"/>
                  <a:t>and </a:t>
                </a:r>
                <a14:m>
                  <m:oMath xmlns:m="http://schemas.openxmlformats.org/officeDocument/2006/math">
                    <m:sSup>
                      <m:sSupPr>
                        <m:ctrlPr>
                          <a:rPr lang="it-IT" sz="1600" i="1">
                            <a:latin typeface="Cambria Math" panose="02040503050406030204" pitchFamily="18" charset="0"/>
                          </a:rPr>
                        </m:ctrlPr>
                      </m:sSupPr>
                      <m:e>
                        <m:r>
                          <a:rPr lang="it-IT" sz="1600" i="1">
                            <a:latin typeface="Cambria Math" panose="02040503050406030204" pitchFamily="18" charset="0"/>
                          </a:rPr>
                          <m:t>𝐴</m:t>
                        </m:r>
                      </m:e>
                      <m:sup>
                        <m:r>
                          <a:rPr lang="it-IT" sz="1600" i="1">
                            <a:latin typeface="Cambria Math" panose="02040503050406030204" pitchFamily="18" charset="0"/>
                          </a:rPr>
                          <m:t>2</m:t>
                        </m:r>
                      </m:sup>
                    </m:sSup>
                    <m:r>
                      <a:rPr lang="it-IT" sz="1600" i="1">
                        <a:latin typeface="Cambria Math" panose="02040503050406030204" pitchFamily="18" charset="0"/>
                      </a:rPr>
                      <m:t>∗</m:t>
                    </m:r>
                    <m:r>
                      <a:rPr lang="it-IT" sz="1600" i="1">
                        <a:latin typeface="Cambria Math" panose="02040503050406030204" pitchFamily="18" charset="0"/>
                      </a:rPr>
                      <m:t>𝐴</m:t>
                    </m:r>
                  </m:oMath>
                </a14:m>
                <a:r>
                  <a:rPr lang="it-IT" sz="1600" dirty="0"/>
                  <a:t>, </a:t>
                </a:r>
                <a:r>
                  <a:rPr lang="en-US" sz="1600" dirty="0"/>
                  <a:t>with synchronization barriers ensuring that all threads complete before proceeding. </a:t>
                </a:r>
              </a:p>
              <a:p>
                <a:pPr marL="0" indent="0">
                  <a:buNone/>
                </a:pPr>
                <a:r>
                  <a:rPr lang="en-US" sz="1600" dirty="0"/>
                  <a:t>The computational complexity can be approximated as </a:t>
                </a:r>
                <a:r>
                  <a:rPr lang="it-IT" sz="1600" dirty="0">
                    <a:latin typeface="Cambria Math" panose="02040503050406030204" pitchFamily="18" charset="0"/>
                    <a:ea typeface="Cambria Math" panose="02040503050406030204" pitchFamily="18" charset="0"/>
                  </a:rPr>
                  <a:t>O(</a:t>
                </a:r>
                <a14:m>
                  <m:oMath xmlns:m="http://schemas.openxmlformats.org/officeDocument/2006/math">
                    <m:f>
                      <m:fPr>
                        <m:ctrlPr>
                          <a:rPr lang="it-IT" sz="1600" i="1">
                            <a:latin typeface="Cambria Math" panose="02040503050406030204" pitchFamily="18" charset="0"/>
                            <a:ea typeface="Cambria Math" panose="02040503050406030204" pitchFamily="18" charset="0"/>
                          </a:rPr>
                        </m:ctrlPr>
                      </m:fPr>
                      <m:num>
                        <m:sSup>
                          <m:sSupPr>
                            <m:ctrlPr>
                              <a:rPr lang="it-IT" sz="1600" i="1">
                                <a:latin typeface="Cambria Math" panose="02040503050406030204" pitchFamily="18" charset="0"/>
                                <a:ea typeface="Cambria Math" panose="02040503050406030204" pitchFamily="18" charset="0"/>
                              </a:rPr>
                            </m:ctrlPr>
                          </m:sSupPr>
                          <m:e>
                            <m:r>
                              <m:rPr>
                                <m:sty m:val="p"/>
                              </m:rPr>
                              <a:rPr lang="it-IT" sz="1600">
                                <a:latin typeface="Cambria Math" panose="02040503050406030204" pitchFamily="18" charset="0"/>
                                <a:ea typeface="Cambria Math" panose="02040503050406030204" pitchFamily="18" charset="0"/>
                              </a:rPr>
                              <m:t>n</m:t>
                            </m:r>
                          </m:e>
                          <m:sup>
                            <m:r>
                              <a:rPr lang="it-IT" sz="1600">
                                <a:latin typeface="Cambria Math" panose="02040503050406030204" pitchFamily="18" charset="0"/>
                                <a:ea typeface="Cambria Math" panose="02040503050406030204" pitchFamily="18" charset="0"/>
                              </a:rPr>
                              <m:t>3</m:t>
                            </m:r>
                          </m:sup>
                        </m:sSup>
                      </m:num>
                      <m:den>
                        <m:r>
                          <m:rPr>
                            <m:sty m:val="p"/>
                          </m:rPr>
                          <a:rPr lang="it-IT" sz="1600">
                            <a:latin typeface="Cambria Math" panose="02040503050406030204" pitchFamily="18" charset="0"/>
                            <a:ea typeface="Cambria Math" panose="02040503050406030204" pitchFamily="18" charset="0"/>
                          </a:rPr>
                          <m:t>p</m:t>
                        </m:r>
                      </m:den>
                    </m:f>
                  </m:oMath>
                </a14:m>
                <a:r>
                  <a:rPr lang="it-IT" sz="1600" dirty="0">
                    <a:latin typeface="Cambria Math" panose="02040503050406030204" pitchFamily="18" charset="0"/>
                    <a:ea typeface="Cambria Math" panose="02040503050406030204" pitchFamily="18" charset="0"/>
                  </a:rPr>
                  <a:t>) </a:t>
                </a:r>
                <a:r>
                  <a:rPr lang="en-US" sz="1600" dirty="0"/>
                  <a:t>where </a:t>
                </a:r>
                <a:r>
                  <a:rPr lang="en-US" sz="1600" i="1" dirty="0"/>
                  <a:t>p</a:t>
                </a:r>
                <a:r>
                  <a:rPr lang="en-US" sz="1600" dirty="0"/>
                  <a:t> denotes the number of threads.</a:t>
                </a:r>
              </a:p>
              <a:p>
                <a:endParaRPr lang="it-IT" sz="1000" dirty="0"/>
              </a:p>
            </p:txBody>
          </p:sp>
        </mc:Choice>
        <mc:Fallback>
          <p:sp>
            <p:nvSpPr>
              <p:cNvPr id="3" name="Content Placeholder 2">
                <a:extLst>
                  <a:ext uri="{FF2B5EF4-FFF2-40B4-BE49-F238E27FC236}">
                    <a16:creationId xmlns:a16="http://schemas.microsoft.com/office/drawing/2014/main" id="{AF8F5947-64B4-47FD-84EB-E71FC8F5B4EA}"/>
                  </a:ext>
                </a:extLst>
              </p:cNvPr>
              <p:cNvSpPr>
                <a:spLocks noGrp="1" noRot="1" noChangeAspect="1" noMove="1" noResize="1" noEditPoints="1" noAdjustHandles="1" noChangeArrowheads="1" noChangeShapeType="1" noTextEdit="1"/>
              </p:cNvSpPr>
              <p:nvPr>
                <p:ph idx="1"/>
              </p:nvPr>
            </p:nvSpPr>
            <p:spPr>
              <a:xfrm>
                <a:off x="5144679" y="2198914"/>
                <a:ext cx="6405063" cy="3670180"/>
              </a:xfrm>
              <a:blipFill>
                <a:blip r:embed="rId4"/>
                <a:stretch>
                  <a:fillRect l="-1998" t="-1163" r="-190"/>
                </a:stretch>
              </a:blipFill>
            </p:spPr>
            <p:txBody>
              <a:bodyPr/>
              <a:lstStyle/>
              <a:p>
                <a:r>
                  <a:rPr lang="it-IT">
                    <a:noFill/>
                  </a:rPr>
                  <a:t> </a:t>
                </a:r>
              </a:p>
            </p:txBody>
          </p:sp>
        </mc:Fallback>
      </mc:AlternateContent>
      <p:sp>
        <p:nvSpPr>
          <p:cNvPr id="14" name="Rectangle 13">
            <a:extLst>
              <a:ext uri="{FF2B5EF4-FFF2-40B4-BE49-F238E27FC236}">
                <a16:creationId xmlns:a16="http://schemas.microsoft.com/office/drawing/2014/main" id="{51DDD252-D7C8-4CE5-9C61-D60D722BC2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 y="6334316"/>
            <a:ext cx="12191985" cy="6648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
        <p:nvSpPr>
          <p:cNvPr id="16" name="Rectangle 15">
            <a:extLst>
              <a:ext uri="{FF2B5EF4-FFF2-40B4-BE49-F238E27FC236}">
                <a16:creationId xmlns:a16="http://schemas.microsoft.com/office/drawing/2014/main" id="{2FBD75F5-C49C-4F6A-8D43-7A5939C233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6400800"/>
            <a:ext cx="12192000" cy="4572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it-IT"/>
          </a:p>
        </p:txBody>
      </p:sp>
    </p:spTree>
    <p:extLst>
      <p:ext uri="{BB962C8B-B14F-4D97-AF65-F5344CB8AC3E}">
        <p14:creationId xmlns:p14="http://schemas.microsoft.com/office/powerpoint/2010/main" val="397403958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9B3BC5-0B5E-4145-9AA3-AF55C5F634DB}"/>
              </a:ext>
            </a:extLst>
          </p:cNvPr>
          <p:cNvSpPr>
            <a:spLocks noGrp="1"/>
          </p:cNvSpPr>
          <p:nvPr>
            <p:ph type="title"/>
          </p:nvPr>
        </p:nvSpPr>
        <p:spPr>
          <a:xfrm>
            <a:off x="1097280" y="286603"/>
            <a:ext cx="10058400" cy="1450757"/>
          </a:xfrm>
        </p:spPr>
        <p:txBody>
          <a:bodyPr>
            <a:normAutofit/>
          </a:bodyPr>
          <a:lstStyle/>
          <a:p>
            <a:r>
              <a:rPr lang="it-IT" dirty="0"/>
              <a:t>CUDA </a:t>
            </a:r>
            <a:r>
              <a:rPr lang="it-IT" dirty="0" err="1"/>
              <a:t>Parallel</a:t>
            </a:r>
            <a:r>
              <a:rPr lang="it-IT" dirty="0"/>
              <a:t> Matrix </a:t>
            </a:r>
            <a:r>
              <a:rPr lang="it-IT" dirty="0" err="1"/>
              <a:t>Multiplication</a:t>
            </a:r>
            <a:r>
              <a:rPr lang="it-IT" dirty="0"/>
              <a:t> V1, V2</a:t>
            </a:r>
          </a:p>
        </p:txBody>
      </p:sp>
      <p:pic>
        <p:nvPicPr>
          <p:cNvPr id="4" name="Picture 3" descr="A graph with a line&#10;&#10;AI-generated content may be incorrect.">
            <a:extLst>
              <a:ext uri="{FF2B5EF4-FFF2-40B4-BE49-F238E27FC236}">
                <a16:creationId xmlns:a16="http://schemas.microsoft.com/office/drawing/2014/main" id="{E7F77BD1-8DA4-F125-79C3-308EC1A01E4A}"/>
              </a:ext>
            </a:extLst>
          </p:cNvPr>
          <p:cNvPicPr>
            <a:picLocks noChangeAspect="1"/>
          </p:cNvPicPr>
          <p:nvPr/>
        </p:nvPicPr>
        <p:blipFill>
          <a:blip r:embed="rId2"/>
          <a:srcRect l="12427" r="-1" b="-1"/>
          <a:stretch>
            <a:fillRect/>
          </a:stretch>
        </p:blipFill>
        <p:spPr>
          <a:xfrm>
            <a:off x="261075" y="1665915"/>
            <a:ext cx="2978401" cy="2074643"/>
          </a:xfrm>
          <a:prstGeom prst="rect">
            <a:avLst/>
          </a:prstGeom>
        </p:spPr>
      </p:pic>
      <p:pic>
        <p:nvPicPr>
          <p:cNvPr id="5" name="Picture 4" descr="A graph with a red line&#10;&#10;AI-generated content may be incorrect.">
            <a:extLst>
              <a:ext uri="{FF2B5EF4-FFF2-40B4-BE49-F238E27FC236}">
                <a16:creationId xmlns:a16="http://schemas.microsoft.com/office/drawing/2014/main" id="{EF1FFEA7-E1B3-46E4-BFC2-D1853F176E9D}"/>
              </a:ext>
            </a:extLst>
          </p:cNvPr>
          <p:cNvPicPr>
            <a:picLocks noChangeAspect="1"/>
          </p:cNvPicPr>
          <p:nvPr/>
        </p:nvPicPr>
        <p:blipFill>
          <a:blip r:embed="rId3"/>
          <a:srcRect l="7226" r="1974" b="3"/>
          <a:stretch>
            <a:fillRect/>
          </a:stretch>
        </p:blipFill>
        <p:spPr>
          <a:xfrm>
            <a:off x="3295796" y="1683416"/>
            <a:ext cx="3055843" cy="2128587"/>
          </a:xfrm>
          <a:prstGeom prst="rect">
            <a:avLst/>
          </a:prstGeom>
        </p:spPr>
      </p:pic>
      <p:pic>
        <p:nvPicPr>
          <p:cNvPr id="6" name="Picture 5" descr="A graph with a red line&#10;&#10;AI-generated content may be incorrect.">
            <a:extLst>
              <a:ext uri="{FF2B5EF4-FFF2-40B4-BE49-F238E27FC236}">
                <a16:creationId xmlns:a16="http://schemas.microsoft.com/office/drawing/2014/main" id="{0CFFB1E4-F142-4223-9A70-28C8F9BC570A}"/>
              </a:ext>
            </a:extLst>
          </p:cNvPr>
          <p:cNvPicPr>
            <a:picLocks noChangeAspect="1"/>
          </p:cNvPicPr>
          <p:nvPr/>
        </p:nvPicPr>
        <p:blipFill>
          <a:blip r:embed="rId4"/>
          <a:srcRect l="9197" r="3" b="3"/>
          <a:stretch>
            <a:fillRect/>
          </a:stretch>
        </p:blipFill>
        <p:spPr>
          <a:xfrm>
            <a:off x="5383296" y="3920377"/>
            <a:ext cx="3284547" cy="2287892"/>
          </a:xfrm>
          <a:prstGeom prst="rect">
            <a:avLst/>
          </a:prstGeom>
        </p:spPr>
      </p:pic>
      <p:pic>
        <p:nvPicPr>
          <p:cNvPr id="7" name="Picture 6" descr="A graph with lines and numbers&#10;&#10;AI-generated content may be incorrect.">
            <a:extLst>
              <a:ext uri="{FF2B5EF4-FFF2-40B4-BE49-F238E27FC236}">
                <a16:creationId xmlns:a16="http://schemas.microsoft.com/office/drawing/2014/main" id="{31497FC0-1394-98C4-DE61-5291B33D7F87}"/>
              </a:ext>
            </a:extLst>
          </p:cNvPr>
          <p:cNvPicPr>
            <a:picLocks noChangeAspect="1"/>
          </p:cNvPicPr>
          <p:nvPr/>
        </p:nvPicPr>
        <p:blipFill>
          <a:blip r:embed="rId5"/>
          <a:srcRect l="8838"/>
          <a:stretch>
            <a:fillRect/>
          </a:stretch>
        </p:blipFill>
        <p:spPr>
          <a:xfrm>
            <a:off x="8667843" y="3812003"/>
            <a:ext cx="3524550" cy="2455070"/>
          </a:xfrm>
          <a:prstGeom prst="rect">
            <a:avLst/>
          </a:prstGeom>
        </p:spPr>
      </p:pic>
      <p:sp>
        <p:nvSpPr>
          <p:cNvPr id="3" name="Content Placeholder 2">
            <a:extLst>
              <a:ext uri="{FF2B5EF4-FFF2-40B4-BE49-F238E27FC236}">
                <a16:creationId xmlns:a16="http://schemas.microsoft.com/office/drawing/2014/main" id="{A7F4EF09-2BC4-4F24-A76A-37689AF72D00}"/>
              </a:ext>
            </a:extLst>
          </p:cNvPr>
          <p:cNvSpPr>
            <a:spLocks noGrp="1"/>
          </p:cNvSpPr>
          <p:nvPr>
            <p:ph idx="1"/>
          </p:nvPr>
        </p:nvSpPr>
        <p:spPr>
          <a:xfrm>
            <a:off x="6351639" y="1845734"/>
            <a:ext cx="5484761" cy="745066"/>
          </a:xfrm>
        </p:spPr>
        <p:txBody>
          <a:bodyPr>
            <a:noAutofit/>
          </a:bodyPr>
          <a:lstStyle/>
          <a:p>
            <a:r>
              <a:rPr lang="en-US" sz="1600" dirty="0"/>
              <a:t>In the V1 version, the algorithm assigns each GPU thread to compute one output matrix element via a dot product. Its primary performance bottleneck is </a:t>
            </a:r>
            <a:r>
              <a:rPr lang="en-US" sz="1600" b="1" dirty="0"/>
              <a:t>inefficient memory access</a:t>
            </a:r>
            <a:r>
              <a:rPr lang="en-US" sz="1600" dirty="0"/>
              <a:t>. Specifically, </a:t>
            </a:r>
            <a:r>
              <a:rPr lang="en-US" sz="1600" b="1" dirty="0"/>
              <a:t>uncoalesced global memory reads</a:t>
            </a:r>
            <a:r>
              <a:rPr lang="en-US" sz="1600" dirty="0"/>
              <a:t> from the second input matrix severely limit memory bandwidth.</a:t>
            </a:r>
          </a:p>
        </p:txBody>
      </p:sp>
      <p:sp>
        <p:nvSpPr>
          <p:cNvPr id="9" name="TextBox 8">
            <a:extLst>
              <a:ext uri="{FF2B5EF4-FFF2-40B4-BE49-F238E27FC236}">
                <a16:creationId xmlns:a16="http://schemas.microsoft.com/office/drawing/2014/main" id="{98916339-AE09-5242-8D9D-E655D7A3974A}"/>
              </a:ext>
            </a:extLst>
          </p:cNvPr>
          <p:cNvSpPr txBox="1"/>
          <p:nvPr/>
        </p:nvSpPr>
        <p:spPr>
          <a:xfrm>
            <a:off x="261075" y="3740558"/>
            <a:ext cx="4991645" cy="2677656"/>
          </a:xfrm>
          <a:prstGeom prst="rect">
            <a:avLst/>
          </a:prstGeom>
          <a:noFill/>
        </p:spPr>
        <p:txBody>
          <a:bodyPr wrap="square">
            <a:spAutoFit/>
          </a:bodyPr>
          <a:lstStyle/>
          <a:p>
            <a:pPr algn="just"/>
            <a:r>
              <a:rPr lang="en-US" sz="1400" dirty="0"/>
              <a:t>The V2 algorithm dramatically improves performance by using a </a:t>
            </a:r>
            <a:r>
              <a:rPr lang="en-US" sz="1400" b="1" dirty="0"/>
              <a:t>tiled strategy</a:t>
            </a:r>
            <a:r>
              <a:rPr lang="en-US" sz="1400" dirty="0"/>
              <a:t> that leverages the GPU's fast </a:t>
            </a:r>
            <a:r>
              <a:rPr lang="en-US" sz="1400" b="1" dirty="0"/>
              <a:t>shared memory</a:t>
            </a:r>
            <a:r>
              <a:rPr lang="en-US" sz="1400" dirty="0"/>
              <a:t>. Instead of numerous slow global memory reads, each thread block first </a:t>
            </a:r>
            <a:r>
              <a:rPr lang="en-US" sz="1400" b="1" dirty="0"/>
              <a:t>cooperatively loads sub-matrices (tiles)</a:t>
            </a:r>
            <a:r>
              <a:rPr lang="en-US" sz="1400" dirty="0"/>
              <a:t> into this on-chip shared memory. After synchronizing, all threads perform their calculations using this much faster local data. </a:t>
            </a:r>
          </a:p>
          <a:p>
            <a:pPr algn="just"/>
            <a:r>
              <a:rPr lang="en-US" sz="1400" dirty="0"/>
              <a:t>This approach is highly efficient because it dramatically </a:t>
            </a:r>
            <a:r>
              <a:rPr lang="en-US" sz="1400" b="1" dirty="0"/>
              <a:t>reduces global memory traffic and maximizes data reuse</a:t>
            </a:r>
            <a:r>
              <a:rPr lang="en-US" sz="1400" dirty="0"/>
              <a:t> from the fast shared memory. Overcomes the primary performance bottleneck found in the V1 algorithm. The TILE_SIZE is the crucial tuning parameter, as it defines both the tile dimensions and the thread block size for the operation</a:t>
            </a:r>
          </a:p>
        </p:txBody>
      </p:sp>
    </p:spTree>
    <p:extLst>
      <p:ext uri="{BB962C8B-B14F-4D97-AF65-F5344CB8AC3E}">
        <p14:creationId xmlns:p14="http://schemas.microsoft.com/office/powerpoint/2010/main" val="3404338982"/>
      </p:ext>
    </p:extLst>
  </p:cSld>
  <p:clrMapOvr>
    <a:masterClrMapping/>
  </p:clrMapOvr>
</p:sld>
</file>

<file path=ppt/theme/theme1.xml><?xml version="1.0" encoding="utf-8"?>
<a:theme xmlns:a="http://schemas.openxmlformats.org/drawingml/2006/main" name="Retrospect">
  <a:themeElements>
    <a:clrScheme name="Retrospect">
      <a:dk1>
        <a:srgbClr val="000000"/>
      </a:dk1>
      <a:lt1>
        <a:sysClr val="window" lastClr="FFFFFF"/>
      </a:lt1>
      <a:dk2>
        <a:srgbClr val="637052"/>
      </a:dk2>
      <a:lt2>
        <a:srgbClr val="CCDDEA"/>
      </a:lt2>
      <a:accent1>
        <a:srgbClr val="E48312"/>
      </a:accent1>
      <a:accent2>
        <a:srgbClr val="BD582C"/>
      </a:accent2>
      <a:accent3>
        <a:srgbClr val="865640"/>
      </a:accent3>
      <a:accent4>
        <a:srgbClr val="9B8357"/>
      </a:accent4>
      <a:accent5>
        <a:srgbClr val="C2BC80"/>
      </a:accent5>
      <a:accent6>
        <a:srgbClr val="94A088"/>
      </a:accent6>
      <a:hlink>
        <a:srgbClr val="2998E3"/>
      </a:hlink>
      <a:folHlink>
        <a:srgbClr val="8C8C8C"/>
      </a:folHlink>
    </a:clrScheme>
    <a:fontScheme name="Retrospect">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Retrospect">
      <a:fillStyleLst>
        <a:solidFill>
          <a:schemeClr val="phClr"/>
        </a:solidFill>
        <a:gradFill rotWithShape="1">
          <a:gsLst>
            <a:gs pos="0">
              <a:schemeClr val="phClr">
                <a:tint val="65000"/>
                <a:shade val="92000"/>
                <a:satMod val="130000"/>
              </a:schemeClr>
            </a:gs>
            <a:gs pos="45000">
              <a:schemeClr val="phClr">
                <a:tint val="60000"/>
                <a:shade val="99000"/>
                <a:satMod val="120000"/>
              </a:schemeClr>
            </a:gs>
            <a:gs pos="100000">
              <a:schemeClr val="phClr">
                <a:tint val="55000"/>
                <a:satMod val="140000"/>
              </a:schemeClr>
            </a:gs>
          </a:gsLst>
          <a:path path="circle">
            <a:fillToRect l="100000" t="100000" r="100000" b="100000"/>
          </a:path>
        </a:gradFill>
        <a:gradFill rotWithShape="1">
          <a:gsLst>
            <a:gs pos="0">
              <a:schemeClr val="phClr">
                <a:shade val="85000"/>
                <a:satMod val="130000"/>
              </a:schemeClr>
            </a:gs>
            <a:gs pos="34000">
              <a:schemeClr val="phClr">
                <a:shade val="87000"/>
                <a:satMod val="125000"/>
              </a:schemeClr>
            </a:gs>
            <a:gs pos="70000">
              <a:schemeClr val="phClr">
                <a:tint val="100000"/>
                <a:shade val="90000"/>
                <a:satMod val="130000"/>
              </a:schemeClr>
            </a:gs>
            <a:gs pos="100000">
              <a:schemeClr val="phClr">
                <a:tint val="100000"/>
                <a:shade val="100000"/>
                <a:satMod val="110000"/>
              </a:schemeClr>
            </a:gs>
          </a:gsLst>
          <a:path path="circle">
            <a:fillToRect l="100000" t="100000" r="100000" b="100000"/>
          </a:path>
        </a:gradFill>
      </a:fillStyleLst>
      <a:lnStyleLst>
        <a:ln w="12700" cap="flat" cmpd="sng" algn="ctr">
          <a:solidFill>
            <a:schemeClr val="phClr"/>
          </a:solidFill>
          <a:prstDash val="solid"/>
        </a:ln>
        <a:ln w="15875" cap="flat" cmpd="sng" algn="ctr">
          <a:solidFill>
            <a:schemeClr val="phClr"/>
          </a:solidFill>
          <a:prstDash val="solid"/>
        </a:ln>
        <a:ln w="25400" cap="flat" cmpd="sng" algn="ctr">
          <a:solidFill>
            <a:schemeClr val="phClr"/>
          </a:solidFill>
          <a:prstDash val="solid"/>
        </a:ln>
      </a:lnStyleLst>
      <a:effectStyleLst>
        <a:effectStyle>
          <a:effectLst/>
        </a:effectStyle>
        <a:effectStyle>
          <a:effectLst>
            <a:outerShdw blurRad="38100" dist="25400" dir="2700000" algn="br" rotWithShape="0">
              <a:srgbClr val="000000">
                <a:alpha val="60000"/>
              </a:srgbClr>
            </a:outerShdw>
          </a:effectLst>
        </a:effectStyle>
        <a:effectStyle>
          <a:effectLst>
            <a:outerShdw blurRad="44450" dist="25400" dir="2700000" algn="br" rotWithShape="0">
              <a:srgbClr val="000000">
                <a:alpha val="60000"/>
              </a:srgbClr>
            </a:outerShdw>
          </a:effectLst>
          <a:scene3d>
            <a:camera prst="orthographicFront">
              <a:rot lat="0" lon="0" rev="0"/>
            </a:camera>
            <a:lightRig rig="threePt" dir="t">
              <a:rot lat="0" lon="0" rev="19800000"/>
            </a:lightRig>
          </a:scene3d>
          <a:sp3d prstMaterial="flat">
            <a:bevelT w="25400" h="31750"/>
          </a:sp3d>
        </a:effectStyle>
      </a:effectStyleLst>
      <a:bgFillStyleLst>
        <a:solidFill>
          <a:schemeClr val="phClr"/>
        </a:solidFill>
        <a:solidFill>
          <a:schemeClr val="phClr">
            <a:tint val="90000"/>
            <a:shade val="97000"/>
            <a:satMod val="130000"/>
          </a:schemeClr>
        </a:solidFill>
        <a:gradFill rotWithShape="1">
          <a:gsLst>
            <a:gs pos="0">
              <a:schemeClr val="phClr">
                <a:tint val="96000"/>
                <a:shade val="99000"/>
                <a:satMod val="140000"/>
              </a:schemeClr>
            </a:gs>
            <a:gs pos="65000">
              <a:schemeClr val="phClr">
                <a:tint val="100000"/>
                <a:shade val="80000"/>
                <a:satMod val="130000"/>
              </a:schemeClr>
            </a:gs>
            <a:gs pos="100000">
              <a:schemeClr val="phClr">
                <a:tint val="100000"/>
                <a:shade val="48000"/>
                <a:satMod val="120000"/>
              </a:schemeClr>
            </a:gs>
          </a:gsLst>
          <a:lin ang="16200000" scaled="0"/>
        </a:gradFill>
      </a:bgFillStyleLst>
    </a:fmtScheme>
  </a:themeElements>
  <a:objectDefaults/>
  <a:extraClrSchemeLst/>
  <a:extLst>
    <a:ext uri="{05A4C25C-085E-4340-85A3-A5531E510DB2}">
      <thm15:themeFamily xmlns:thm15="http://schemas.microsoft.com/office/thememl/2012/main" name="Retrospect" id="{5F128B03-DCCA-4EEB-AB3B-CF2899314A46}" vid="{3F1AAB62-24C6-49D2-8E01-B56FAC9A3DCD}"/>
    </a:ext>
  </a:extLst>
</a:theme>
</file>

<file path=docProps/app.xml><?xml version="1.0" encoding="utf-8"?>
<Properties xmlns="http://schemas.openxmlformats.org/officeDocument/2006/extended-properties" xmlns:vt="http://schemas.openxmlformats.org/officeDocument/2006/docPropsVTypes">
  <Template>Retrospect</Template>
  <TotalTime>480</TotalTime>
  <Words>2639</Words>
  <Application>Microsoft Office PowerPoint</Application>
  <PresentationFormat>Widescreen</PresentationFormat>
  <Paragraphs>72</Paragraphs>
  <Slides>23</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23</vt:i4>
      </vt:variant>
    </vt:vector>
  </HeadingPairs>
  <TitlesOfParts>
    <vt:vector size="28" baseType="lpstr">
      <vt:lpstr>Arial</vt:lpstr>
      <vt:lpstr>Calibri</vt:lpstr>
      <vt:lpstr>Calibri Light</vt:lpstr>
      <vt:lpstr>Cambria Math</vt:lpstr>
      <vt:lpstr>Retrospect</vt:lpstr>
      <vt:lpstr>Parallel Triangle Counting Algorithms</vt:lpstr>
      <vt:lpstr>Abstract</vt:lpstr>
      <vt:lpstr>The Basics</vt:lpstr>
      <vt:lpstr>Node Iterator/Forward Node Iteator</vt:lpstr>
      <vt:lpstr>Parallel (C++) Forward Node Iteator Algorithm, V1 </vt:lpstr>
      <vt:lpstr>Parallel (C++) Forward Node Iteator Algorithm, V3 (Final Version) </vt:lpstr>
      <vt:lpstr>Node Iterator Algorithms, final comparison </vt:lpstr>
      <vt:lpstr>CUDA Parallel Forward Node Algorithm V1</vt:lpstr>
      <vt:lpstr>PowerPoint Presentation</vt:lpstr>
      <vt:lpstr>CUDA Parallel Forward Node Algorithm V2</vt:lpstr>
      <vt:lpstr>CUDA Parallel Node: Final comparison</vt:lpstr>
      <vt:lpstr>Parallel Forward Edge Iterator V1</vt:lpstr>
      <vt:lpstr>Parallel Forward Edge Iterator V2</vt:lpstr>
      <vt:lpstr>Parallel Forward Edge Iterator V3</vt:lpstr>
      <vt:lpstr>Comparison between Parallel Edge v3 and sequential version</vt:lpstr>
      <vt:lpstr>CUDA Parallel Forward Edge Iterator V1</vt:lpstr>
      <vt:lpstr>CUDA Parallel Forward Edge Iterator V1_1</vt:lpstr>
      <vt:lpstr>CUDA Parallel Forward Edge Iterator V2, V2_1</vt:lpstr>
      <vt:lpstr>CUDA Parallel Forward Edge Iterator V2_2</vt:lpstr>
      <vt:lpstr>CUDA Parallel Forward Edge Iterator V3</vt:lpstr>
      <vt:lpstr>CUDA Parallel Edge V3: final comparison</vt:lpstr>
      <vt:lpstr>Parallel (C++) Matrix Multiplication Algorithm</vt:lpstr>
      <vt:lpstr>CUDA Parallel Matrix Multiplication V1, V2</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 Triangle Counting Algorithms</dc:title>
  <dc:creator>Revalor, Riccardo</dc:creator>
  <cp:lastModifiedBy>Revalor, Riccardo</cp:lastModifiedBy>
  <cp:revision>69</cp:revision>
  <dcterms:created xsi:type="dcterms:W3CDTF">2025-09-02T16:39:16Z</dcterms:created>
  <dcterms:modified xsi:type="dcterms:W3CDTF">2025-09-05T15:18:21Z</dcterms:modified>
</cp:coreProperties>
</file>