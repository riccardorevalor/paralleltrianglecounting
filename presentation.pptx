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59" r:id="rId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5" d="100"/>
          <a:sy n="75" d="100"/>
        </p:scale>
        <p:origin x="874"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slide" Target="slides/slide4.xml"/><Relationship Id="rId4" Type="http://schemas.openxmlformats.org/officeDocument/2006/relationships/slide" Target="slides/slide3.xml"/><Relationship Id="rId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CDE5452-170D-44D1-B161-4C3EAA4B8855}" type="datetimeFigureOut">
              <a:rPr lang="it-IT" smtClean="0"/>
              <a:t>02/09/2025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84075D77-ABEB-4C37-93FA-4FC1C04AA79B}" type="slidenum">
              <a:rPr lang="it-IT" smtClean="0"/>
              <a:t>‹#›</a:t>
            </a:fld>
            <a:endParaRPr lang="it-IT"/>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106100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CDE5452-170D-44D1-B161-4C3EAA4B8855}" type="datetimeFigureOut">
              <a:rPr lang="it-IT" smtClean="0"/>
              <a:t>02/09/2025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14545713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CDE5452-170D-44D1-B161-4C3EAA4B8855}" type="datetimeFigureOut">
              <a:rPr lang="it-IT" smtClean="0"/>
              <a:t>02/09/2025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84075D77-ABEB-4C37-93FA-4FC1C04AA79B}" type="slidenum">
              <a:rPr lang="it-IT" smtClean="0"/>
              <a:t>‹#›</a:t>
            </a:fld>
            <a:endParaRPr lang="it-IT"/>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942248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CDE5452-170D-44D1-B161-4C3EAA4B8855}" type="datetimeFigureOut">
              <a:rPr lang="it-IT" smtClean="0"/>
              <a:t>02/09/2025</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13910695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CDE5452-170D-44D1-B161-4C3EAA4B8855}" type="datetimeFigureOut">
              <a:rPr lang="it-IT" smtClean="0"/>
              <a:t>02/09/2025</a:t>
            </a:fld>
            <a:endParaRPr lang="it-IT"/>
          </a:p>
        </p:txBody>
      </p:sp>
      <p:sp>
        <p:nvSpPr>
          <p:cNvPr id="8" name="Footer Placeholder 7"/>
          <p:cNvSpPr>
            <a:spLocks noGrp="1"/>
          </p:cNvSpPr>
          <p:nvPr>
            <p:ph type="ftr" sz="quarter" idx="11"/>
          </p:nvPr>
        </p:nvSpPr>
        <p:spPr/>
        <p:txBody>
          <a:bodyPr/>
          <a:lstStyle/>
          <a:p>
            <a:endParaRPr lang="it-IT"/>
          </a:p>
        </p:txBody>
      </p:sp>
      <p:sp>
        <p:nvSpPr>
          <p:cNvPr id="9" name="Slide Number Placeholder 8"/>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29024440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CDE5452-170D-44D1-B161-4C3EAA4B8855}" type="datetimeFigureOut">
              <a:rPr lang="it-IT" smtClean="0"/>
              <a:t>02/09/2025</a:t>
            </a:fld>
            <a:endParaRPr lang="it-IT"/>
          </a:p>
        </p:txBody>
      </p:sp>
      <p:sp>
        <p:nvSpPr>
          <p:cNvPr id="4" name="Footer Placeholder 3"/>
          <p:cNvSpPr>
            <a:spLocks noGrp="1"/>
          </p:cNvSpPr>
          <p:nvPr>
            <p:ph type="ftr" sz="quarter" idx="11"/>
          </p:nvPr>
        </p:nvSpPr>
        <p:spPr/>
        <p:txBody>
          <a:bodyPr/>
          <a:lstStyle/>
          <a:p>
            <a:endParaRPr lang="it-IT"/>
          </a:p>
        </p:txBody>
      </p:sp>
      <p:sp>
        <p:nvSpPr>
          <p:cNvPr id="5" name="Slide Number Placeholder 4"/>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41006918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1CDE5452-170D-44D1-B161-4C3EAA4B8855}" type="datetimeFigureOut">
              <a:rPr lang="it-IT" smtClean="0"/>
              <a:t>02/09/2025</a:t>
            </a:fld>
            <a:endParaRPr lang="it-IT"/>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it-IT"/>
          </a:p>
        </p:txBody>
      </p:sp>
      <p:sp>
        <p:nvSpPr>
          <p:cNvPr id="9" name="Slide Number Placeholder 8"/>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29795115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1CDE5452-170D-44D1-B161-4C3EAA4B8855}" type="datetimeFigureOut">
              <a:rPr lang="it-IT" smtClean="0"/>
              <a:t>02/09/2025</a:t>
            </a:fld>
            <a:endParaRPr lang="it-IT"/>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it-IT"/>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84075D77-ABEB-4C37-93FA-4FC1C04AA79B}" type="slidenum">
              <a:rPr lang="it-IT" smtClean="0"/>
              <a:t>‹#›</a:t>
            </a:fld>
            <a:endParaRPr lang="it-IT"/>
          </a:p>
        </p:txBody>
      </p:sp>
    </p:spTree>
    <p:extLst>
      <p:ext uri="{BB962C8B-B14F-4D97-AF65-F5344CB8AC3E}">
        <p14:creationId xmlns:p14="http://schemas.microsoft.com/office/powerpoint/2010/main" val="38138199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CDE5452-170D-44D1-B161-4C3EAA4B8855}" type="datetimeFigureOut">
              <a:rPr lang="it-IT" smtClean="0"/>
              <a:t>02/09/2025</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20648984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CDE5452-170D-44D1-B161-4C3EAA4B8855}" type="datetimeFigureOut">
              <a:rPr lang="it-IT" smtClean="0"/>
              <a:t>02/09/2025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21387047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CDE5452-170D-44D1-B161-4C3EAA4B8855}" type="datetimeFigureOut">
              <a:rPr lang="it-IT" smtClean="0"/>
              <a:t>02/09/2025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14802152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1CDE5452-170D-44D1-B161-4C3EAA4B8855}" type="datetimeFigureOut">
              <a:rPr lang="it-IT" smtClean="0"/>
              <a:t>02/09/2025</a:t>
            </a:fld>
            <a:endParaRPr lang="it-IT"/>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it-IT"/>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84075D77-ABEB-4C37-93FA-4FC1C04AA79B}" type="slidenum">
              <a:rPr lang="it-IT" smtClean="0"/>
              <a:t>‹#›</a:t>
            </a:fld>
            <a:endParaRPr lang="it-IT"/>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7185325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5945FD-6728-E2C5-DE92-C8F76A162F1C}"/>
              </a:ext>
            </a:extLst>
          </p:cNvPr>
          <p:cNvSpPr>
            <a:spLocks noGrp="1"/>
          </p:cNvSpPr>
          <p:nvPr>
            <p:ph type="ctrTitle"/>
          </p:nvPr>
        </p:nvSpPr>
        <p:spPr/>
        <p:txBody>
          <a:bodyPr/>
          <a:lstStyle/>
          <a:p>
            <a:r>
              <a:rPr lang="it-IT" dirty="0" err="1"/>
              <a:t>Parallel</a:t>
            </a:r>
            <a:r>
              <a:rPr lang="it-IT" dirty="0"/>
              <a:t> </a:t>
            </a:r>
            <a:r>
              <a:rPr lang="it-IT" dirty="0" err="1"/>
              <a:t>Triangle</a:t>
            </a:r>
            <a:r>
              <a:rPr lang="it-IT" dirty="0"/>
              <a:t> </a:t>
            </a:r>
            <a:r>
              <a:rPr lang="it-IT" dirty="0" err="1"/>
              <a:t>Counting</a:t>
            </a:r>
            <a:r>
              <a:rPr lang="it-IT" dirty="0"/>
              <a:t> </a:t>
            </a:r>
            <a:r>
              <a:rPr lang="it-IT" dirty="0" err="1"/>
              <a:t>Algorithms</a:t>
            </a:r>
            <a:endParaRPr lang="it-IT" dirty="0"/>
          </a:p>
        </p:txBody>
      </p:sp>
      <p:sp>
        <p:nvSpPr>
          <p:cNvPr id="3" name="Subtitle 2">
            <a:extLst>
              <a:ext uri="{FF2B5EF4-FFF2-40B4-BE49-F238E27FC236}">
                <a16:creationId xmlns:a16="http://schemas.microsoft.com/office/drawing/2014/main" id="{909DAFDD-E17F-66AD-7B0D-C87D99A61713}"/>
              </a:ext>
            </a:extLst>
          </p:cNvPr>
          <p:cNvSpPr>
            <a:spLocks noGrp="1"/>
          </p:cNvSpPr>
          <p:nvPr>
            <p:ph type="subTitle" idx="1"/>
          </p:nvPr>
        </p:nvSpPr>
        <p:spPr/>
        <p:txBody>
          <a:bodyPr/>
          <a:lstStyle/>
          <a:p>
            <a:r>
              <a:rPr lang="it-IT" dirty="0"/>
              <a:t>Michele </a:t>
            </a:r>
            <a:r>
              <a:rPr lang="it-IT" dirty="0" err="1"/>
              <a:t>carloni</a:t>
            </a:r>
            <a:r>
              <a:rPr lang="it-IT" dirty="0"/>
              <a:t> - s338856</a:t>
            </a:r>
          </a:p>
          <a:p>
            <a:r>
              <a:rPr lang="it-IT" dirty="0"/>
              <a:t>Riccardo </a:t>
            </a:r>
            <a:r>
              <a:rPr lang="it-IT" dirty="0" err="1"/>
              <a:t>revalor</a:t>
            </a:r>
            <a:r>
              <a:rPr lang="it-IT" dirty="0"/>
              <a:t> – s339423</a:t>
            </a:r>
          </a:p>
        </p:txBody>
      </p:sp>
    </p:spTree>
    <p:extLst>
      <p:ext uri="{BB962C8B-B14F-4D97-AF65-F5344CB8AC3E}">
        <p14:creationId xmlns:p14="http://schemas.microsoft.com/office/powerpoint/2010/main" val="395909761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67AA46-C63B-4CA3-9054-F844CBEB4D18}"/>
              </a:ext>
            </a:extLst>
          </p:cNvPr>
          <p:cNvSpPr>
            <a:spLocks noGrp="1"/>
          </p:cNvSpPr>
          <p:nvPr>
            <p:ph type="title"/>
          </p:nvPr>
        </p:nvSpPr>
        <p:spPr/>
        <p:txBody>
          <a:bodyPr/>
          <a:lstStyle/>
          <a:p>
            <a:r>
              <a:rPr lang="it-IT" dirty="0"/>
              <a:t>Abstract</a:t>
            </a:r>
          </a:p>
        </p:txBody>
      </p:sp>
      <p:sp>
        <p:nvSpPr>
          <p:cNvPr id="3" name="Content Placeholder 2">
            <a:extLst>
              <a:ext uri="{FF2B5EF4-FFF2-40B4-BE49-F238E27FC236}">
                <a16:creationId xmlns:a16="http://schemas.microsoft.com/office/drawing/2014/main" id="{85918A25-CF23-E40C-3C6D-5A56F53540FC}"/>
              </a:ext>
            </a:extLst>
          </p:cNvPr>
          <p:cNvSpPr>
            <a:spLocks noGrp="1"/>
          </p:cNvSpPr>
          <p:nvPr>
            <p:ph idx="1"/>
          </p:nvPr>
        </p:nvSpPr>
        <p:spPr/>
        <p:txBody>
          <a:bodyPr/>
          <a:lstStyle/>
          <a:p>
            <a:r>
              <a:rPr lang="it-IT" dirty="0"/>
              <a:t>In </a:t>
            </a:r>
            <a:r>
              <a:rPr lang="it-IT" dirty="0" err="1"/>
              <a:t>our</a:t>
            </a:r>
            <a:r>
              <a:rPr lang="it-IT" dirty="0"/>
              <a:t> </a:t>
            </a:r>
            <a:r>
              <a:rPr lang="it-IT" dirty="0" err="1"/>
              <a:t>research</a:t>
            </a:r>
            <a:r>
              <a:rPr lang="it-IT" dirty="0"/>
              <a:t> </a:t>
            </a:r>
            <a:r>
              <a:rPr lang="it-IT" dirty="0" err="1"/>
              <a:t>we</a:t>
            </a:r>
            <a:r>
              <a:rPr lang="it-IT" dirty="0"/>
              <a:t> </a:t>
            </a:r>
            <a:r>
              <a:rPr lang="it-IT" dirty="0" err="1"/>
              <a:t>conducted</a:t>
            </a:r>
            <a:r>
              <a:rPr lang="it-IT" dirty="0"/>
              <a:t> a </a:t>
            </a:r>
            <a:r>
              <a:rPr lang="en-US" dirty="0"/>
              <a:t>comprehensive analysis of various algorithms for triangle counting in graphs. </a:t>
            </a:r>
          </a:p>
          <a:p>
            <a:r>
              <a:rPr lang="en-US" dirty="0"/>
              <a:t>We’ve investigated the </a:t>
            </a:r>
            <a:r>
              <a:rPr lang="en-US" b="1" dirty="0"/>
              <a:t>Forward algorithm</a:t>
            </a:r>
            <a:r>
              <a:rPr lang="en-US" dirty="0"/>
              <a:t>, implemented with both node-centric and edge-centric iteration strategies. For each of these, we test two distinct data </a:t>
            </a:r>
            <a:r>
              <a:rPr lang="en-US" dirty="0" err="1"/>
              <a:t>repre-sentations</a:t>
            </a:r>
            <a:r>
              <a:rPr lang="en-US" dirty="0"/>
              <a:t>: an adjacency list and an adjacency vector. All Forward algorithm variants are evaluated across </a:t>
            </a:r>
            <a:r>
              <a:rPr lang="en-US" b="1" dirty="0"/>
              <a:t>sequential</a:t>
            </a:r>
            <a:r>
              <a:rPr lang="en-US" dirty="0"/>
              <a:t>, </a:t>
            </a:r>
            <a:r>
              <a:rPr lang="en-US" b="1" dirty="0"/>
              <a:t>parallel C++ </a:t>
            </a:r>
            <a:r>
              <a:rPr lang="en-US" dirty="0"/>
              <a:t>(CPU threads), and </a:t>
            </a:r>
            <a:r>
              <a:rPr lang="en-US" b="1" dirty="0"/>
              <a:t>parallel CUDA </a:t>
            </a:r>
            <a:r>
              <a:rPr lang="en-US" dirty="0"/>
              <a:t>(GPU threads) implementations.</a:t>
            </a:r>
          </a:p>
          <a:p>
            <a:r>
              <a:rPr lang="en-US" dirty="0"/>
              <a:t>Furthermore, we explore a third algorithm based on </a:t>
            </a:r>
            <a:r>
              <a:rPr lang="en-US" b="1" dirty="0"/>
              <a:t>matrix multiplication</a:t>
            </a:r>
            <a:r>
              <a:rPr lang="en-US" dirty="0"/>
              <a:t>, which is also implemented and benchmarked using both parallel C++ and parallel CUDA approaches. This work provides insights into the performance characteristics and scalability of these diverse methodologies for triangle enumeration.</a:t>
            </a:r>
            <a:endParaRPr lang="it-IT" dirty="0"/>
          </a:p>
        </p:txBody>
      </p:sp>
    </p:spTree>
    <p:extLst>
      <p:ext uri="{BB962C8B-B14F-4D97-AF65-F5344CB8AC3E}">
        <p14:creationId xmlns:p14="http://schemas.microsoft.com/office/powerpoint/2010/main" val="8283553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1" name="Rectangle 1030">
            <a:extLst>
              <a:ext uri="{FF2B5EF4-FFF2-40B4-BE49-F238E27FC236}">
                <a16:creationId xmlns:a16="http://schemas.microsoft.com/office/drawing/2014/main" id="{52ABB703-2B0E-4C3B-B4A2-F3973548E5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CD68BE9-F1B5-8A20-41E3-3B3C0DF7BA9D}"/>
              </a:ext>
            </a:extLst>
          </p:cNvPr>
          <p:cNvSpPr>
            <a:spLocks noGrp="1"/>
          </p:cNvSpPr>
          <p:nvPr>
            <p:ph type="title"/>
          </p:nvPr>
        </p:nvSpPr>
        <p:spPr>
          <a:xfrm>
            <a:off x="6411685" y="634946"/>
            <a:ext cx="5127171" cy="1450757"/>
          </a:xfrm>
        </p:spPr>
        <p:txBody>
          <a:bodyPr>
            <a:normAutofit/>
          </a:bodyPr>
          <a:lstStyle/>
          <a:p>
            <a:r>
              <a:rPr lang="it-IT" dirty="0"/>
              <a:t>The Basics</a:t>
            </a:r>
          </a:p>
        </p:txBody>
      </p:sp>
      <p:pic>
        <p:nvPicPr>
          <p:cNvPr id="1026" name="Picture 2" descr="Graph definition - Math Insight">
            <a:extLst>
              <a:ext uri="{FF2B5EF4-FFF2-40B4-BE49-F238E27FC236}">
                <a16:creationId xmlns:a16="http://schemas.microsoft.com/office/drawing/2014/main" id="{EB89D33A-40FC-490D-DB61-886320DA8AD6}"/>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43192" y="815748"/>
            <a:ext cx="5451627" cy="4906463"/>
          </a:xfrm>
          <a:prstGeom prst="rect">
            <a:avLst/>
          </a:prstGeom>
          <a:noFill/>
          <a:extLst>
            <a:ext uri="{909E8E84-426E-40DD-AFC4-6F175D3DCCD1}">
              <a14:hiddenFill xmlns:a14="http://schemas.microsoft.com/office/drawing/2010/main">
                <a:solidFill>
                  <a:srgbClr val="FFFFFF"/>
                </a:solidFill>
              </a14:hiddenFill>
            </a:ext>
          </a:extLst>
        </p:spPr>
      </p:pic>
      <p:cxnSp>
        <p:nvCxnSpPr>
          <p:cNvPr id="1033" name="Straight Connector 1032">
            <a:extLst>
              <a:ext uri="{FF2B5EF4-FFF2-40B4-BE49-F238E27FC236}">
                <a16:creationId xmlns:a16="http://schemas.microsoft.com/office/drawing/2014/main" id="{9C21570E-E159-49A6-9891-FA397B7A92D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411684" y="2086188"/>
            <a:ext cx="4748808" cy="0"/>
          </a:xfrm>
          <a:prstGeom prst="line">
            <a:avLst/>
          </a:prstGeom>
          <a:ln w="6350">
            <a:solidFill>
              <a:schemeClr val="tx1">
                <a:lumMod val="50000"/>
                <a:lumOff val="50000"/>
                <a:alpha val="90000"/>
              </a:schemeClr>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7AF9A8C0-F72A-C0FC-D63B-CB37C5B7709C}"/>
              </a:ext>
            </a:extLst>
          </p:cNvPr>
          <p:cNvSpPr>
            <a:spLocks noGrp="1"/>
          </p:cNvSpPr>
          <p:nvPr>
            <p:ph idx="1"/>
          </p:nvPr>
        </p:nvSpPr>
        <p:spPr>
          <a:xfrm>
            <a:off x="6411684" y="2198914"/>
            <a:ext cx="5127172" cy="3670180"/>
          </a:xfrm>
        </p:spPr>
        <p:txBody>
          <a:bodyPr>
            <a:normAutofit/>
          </a:bodyPr>
          <a:lstStyle/>
          <a:p>
            <a:r>
              <a:rPr lang="en-US" dirty="0"/>
              <a:t>Suppose that we have at our disposal a given graph </a:t>
            </a:r>
            <a:r>
              <a:rPr lang="en-US" b="1" dirty="0"/>
              <a:t>G = (V, E )</a:t>
            </a:r>
            <a:r>
              <a:rPr lang="en-US" dirty="0"/>
              <a:t>,</a:t>
            </a:r>
            <a:r>
              <a:rPr lang="en-US" b="1" dirty="0"/>
              <a:t> </a:t>
            </a:r>
            <a:r>
              <a:rPr lang="en-US" dirty="0"/>
              <a:t>where G is the graph itself, V denotes the set of all vertices (also called nodes), and E represents the set of edges (also called links or arcs). An edge connects two nodes between them. </a:t>
            </a:r>
          </a:p>
          <a:p>
            <a:r>
              <a:rPr lang="en-US" dirty="0"/>
              <a:t>The primary goal is to detect and count the number of triangles that can be formed inside the graph. More specifically, a triangle in graph G = (V, E ) is a set of three distinct vertices </a:t>
            </a:r>
            <a:r>
              <a:rPr lang="en-US" b="1" dirty="0"/>
              <a:t>{u, v, w} ⊆ V</a:t>
            </a:r>
            <a:r>
              <a:rPr lang="en-US" dirty="0"/>
              <a:t> such that the edges (u, v), (v, w), and (w, u) all exist in the set of edges E . </a:t>
            </a:r>
            <a:endParaRPr lang="it-IT" dirty="0"/>
          </a:p>
        </p:txBody>
      </p:sp>
      <p:sp>
        <p:nvSpPr>
          <p:cNvPr id="1035" name="Rectangle 1034">
            <a:extLst>
              <a:ext uri="{FF2B5EF4-FFF2-40B4-BE49-F238E27FC236}">
                <a16:creationId xmlns:a16="http://schemas.microsoft.com/office/drawing/2014/main" id="{E95DA498-D9A2-4DA9-B9DA-B3776E08CF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1037" name="Rectangle 1036">
            <a:extLst>
              <a:ext uri="{FF2B5EF4-FFF2-40B4-BE49-F238E27FC236}">
                <a16:creationId xmlns:a16="http://schemas.microsoft.com/office/drawing/2014/main" id="{82A73093-4B9D-420D-B17E-52293703A1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Tree>
    <p:extLst>
      <p:ext uri="{BB962C8B-B14F-4D97-AF65-F5344CB8AC3E}">
        <p14:creationId xmlns:p14="http://schemas.microsoft.com/office/powerpoint/2010/main" val="14393402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8960EC-E57E-6DCE-2A4E-82CBC9897FDA}"/>
              </a:ext>
            </a:extLst>
          </p:cNvPr>
          <p:cNvSpPr>
            <a:spLocks noGrp="1"/>
          </p:cNvSpPr>
          <p:nvPr>
            <p:ph type="title"/>
          </p:nvPr>
        </p:nvSpPr>
        <p:spPr/>
        <p:txBody>
          <a:bodyPr/>
          <a:lstStyle/>
          <a:p>
            <a:r>
              <a:rPr lang="it-IT" dirty="0" err="1"/>
              <a:t>Node</a:t>
            </a:r>
            <a:r>
              <a:rPr lang="it-IT" dirty="0"/>
              <a:t> Iterator/</a:t>
            </a:r>
            <a:r>
              <a:rPr lang="it-IT" dirty="0" err="1"/>
              <a:t>Forward</a:t>
            </a:r>
            <a:r>
              <a:rPr lang="it-IT" dirty="0"/>
              <a:t> </a:t>
            </a:r>
            <a:r>
              <a:rPr lang="it-IT" dirty="0" err="1"/>
              <a:t>Node</a:t>
            </a:r>
            <a:r>
              <a:rPr lang="it-IT" dirty="0"/>
              <a:t> </a:t>
            </a:r>
            <a:r>
              <a:rPr lang="it-IT" dirty="0" err="1"/>
              <a:t>Iteator</a:t>
            </a:r>
            <a:endParaRPr lang="it-IT" dirty="0"/>
          </a:p>
        </p:txBody>
      </p:sp>
      <p:sp>
        <p:nvSpPr>
          <p:cNvPr id="3" name="Content Placeholder 2">
            <a:extLst>
              <a:ext uri="{FF2B5EF4-FFF2-40B4-BE49-F238E27FC236}">
                <a16:creationId xmlns:a16="http://schemas.microsoft.com/office/drawing/2014/main" id="{6287399B-6122-ABCE-6843-F80D405ADB93}"/>
              </a:ext>
            </a:extLst>
          </p:cNvPr>
          <p:cNvSpPr>
            <a:spLocks noGrp="1"/>
          </p:cNvSpPr>
          <p:nvPr>
            <p:ph idx="1"/>
          </p:nvPr>
        </p:nvSpPr>
        <p:spPr/>
        <p:txBody>
          <a:bodyPr>
            <a:normAutofit lnSpcReduction="10000"/>
          </a:bodyPr>
          <a:lstStyle/>
          <a:p>
            <a:r>
              <a:rPr lang="en-US" dirty="0"/>
              <a:t>The simplest and most naive version of the Node Iterator Algorithm iterates over all nodes in the graph and for each pair of neighbors of each node, checks whether they are connected by an edge and they share a common neighbor. </a:t>
            </a:r>
          </a:p>
          <a:p>
            <a:r>
              <a:rPr lang="en-US" dirty="0"/>
              <a:t>We implemented the Forward Algorithm (in various versions: sequential, parallel, CUDA) using these following strategies:</a:t>
            </a:r>
          </a:p>
          <a:p>
            <a:r>
              <a:rPr lang="en-US" dirty="0"/>
              <a:t>1) Graph Representation: </a:t>
            </a:r>
            <a:r>
              <a:rPr lang="en-US" b="1" dirty="0"/>
              <a:t>adjacency matrices </a:t>
            </a:r>
            <a:r>
              <a:rPr lang="en-US" dirty="0"/>
              <a:t>(implemented as std::vector&lt;std::vector&lt;int») and </a:t>
            </a:r>
            <a:r>
              <a:rPr lang="en-US" b="1" dirty="0"/>
              <a:t>adjacency lists </a:t>
            </a:r>
            <a:r>
              <a:rPr lang="en-US" dirty="0"/>
              <a:t>(implemented as std::map&lt;</a:t>
            </a:r>
            <a:r>
              <a:rPr lang="en-US" dirty="0" err="1"/>
              <a:t>int,std</a:t>
            </a:r>
            <a:r>
              <a:rPr lang="en-US" dirty="0"/>
              <a:t>::vector&lt;int» to handle potentially sparse or non-contiguous node IDs).</a:t>
            </a:r>
          </a:p>
          <a:p>
            <a:r>
              <a:rPr lang="en-US" dirty="0"/>
              <a:t>2) Auxiliary Sets: used to store a specific subset of neighbors for each node (std::vector&lt;std::set&lt;int»). Intersected to </a:t>
            </a:r>
            <a:r>
              <a:rPr lang="en-US" b="1" dirty="0"/>
              <a:t>identify the third vertex </a:t>
            </a:r>
            <a:r>
              <a:rPr lang="en-US" dirty="0"/>
              <a:t>composing each triangle.</a:t>
            </a:r>
          </a:p>
          <a:p>
            <a:r>
              <a:rPr lang="en-US" dirty="0"/>
              <a:t>3) Ordering/Rank: crucial for </a:t>
            </a:r>
            <a:r>
              <a:rPr lang="en-US" b="1" dirty="0"/>
              <a:t>pruning</a:t>
            </a:r>
            <a:r>
              <a:rPr lang="en-US" dirty="0"/>
              <a:t> and to guarantee that each triangle is </a:t>
            </a:r>
            <a:r>
              <a:rPr lang="en-US" b="1" dirty="0"/>
              <a:t>counted exactly once</a:t>
            </a:r>
            <a:endParaRPr lang="it-IT" b="1" dirty="0"/>
          </a:p>
        </p:txBody>
      </p:sp>
    </p:spTree>
    <p:extLst>
      <p:ext uri="{BB962C8B-B14F-4D97-AF65-F5344CB8AC3E}">
        <p14:creationId xmlns:p14="http://schemas.microsoft.com/office/powerpoint/2010/main" val="2655699801"/>
      </p:ext>
    </p:extLst>
  </p:cSld>
  <p:clrMapOvr>
    <a:masterClrMapping/>
  </p:clrMapOvr>
</p:sld>
</file>

<file path=ppt/theme/theme1.xml><?xml version="1.0" encoding="utf-8"?>
<a:theme xmlns:a="http://schemas.openxmlformats.org/drawingml/2006/main" name="Retrospect">
  <a:themeElements>
    <a:clrScheme name="Retrospect">
      <a:dk1>
        <a:srgbClr val="000000"/>
      </a:dk1>
      <a:lt1>
        <a:sysClr val="window" lastClr="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docProps/app.xml><?xml version="1.0" encoding="utf-8"?>
<Properties xmlns="http://schemas.openxmlformats.org/officeDocument/2006/extended-properties" xmlns:vt="http://schemas.openxmlformats.org/officeDocument/2006/docPropsVTypes">
  <Template>Retrospect</Template>
  <TotalTime>35</TotalTime>
  <Words>448</Words>
  <Application>Microsoft Office PowerPoint</Application>
  <PresentationFormat>Widescreen</PresentationFormat>
  <Paragraphs>16</Paragraphs>
  <Slides>4</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Calibri Light</vt:lpstr>
      <vt:lpstr>Retrospect</vt:lpstr>
      <vt:lpstr>Parallel Triangle Counting Algorithms</vt:lpstr>
      <vt:lpstr>Abstract</vt:lpstr>
      <vt:lpstr>The Basics</vt:lpstr>
      <vt:lpstr>Node Iterator/Forward Node Iteator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Revalor, Riccardo</dc:creator>
  <cp:lastModifiedBy>Revalor, Riccardo</cp:lastModifiedBy>
  <cp:revision>4</cp:revision>
  <dcterms:created xsi:type="dcterms:W3CDTF">2025-09-02T16:39:16Z</dcterms:created>
  <dcterms:modified xsi:type="dcterms:W3CDTF">2025-09-02T17:14:34Z</dcterms:modified>
</cp:coreProperties>
</file>