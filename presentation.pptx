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Lst>
  <p:sldSz cx="12192000" cy="6858000"/>
  <p:notesSz cx="7559675" cy="106918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presProps" Target="presProps.xml"/><Relationship Id="rId8" Type="http://schemas.openxmlformats.org/officeDocument/2006/relationships/slideMaster" Target="slideMasters/slideMaster8.xml"/><Relationship Id="rId3" Type="http://schemas.openxmlformats.org/officeDocument/2006/relationships/slideMaster" Target="slideMasters/slideMaster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FF861826-9496-419E-8D7C-D04E34E20D99}"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CDB2A3C8-3C33-4646-9CCE-3DBF44363AF1}" type="slidenum">
              <a:t>‹#›</a:t>
            </a:fld>
            <a:endParaRPr/>
          </a:p>
        </p:txBody>
      </p:sp>
      <p:sp>
        <p:nvSpPr>
          <p:cNvPr id="4" name="PlaceHolder 3"/>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AE30D1C9-8360-4EAD-BC34-2CAA21227A51}" type="slidenum">
              <a:t>‹#›</a:t>
            </a:fld>
            <a:endParaRPr/>
          </a:p>
        </p:txBody>
      </p:sp>
      <p:sp>
        <p:nvSpPr>
          <p:cNvPr id="4" name="PlaceHolder 3"/>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88D1D7D0-1B0F-4CD2-B552-C1B4DB3A857A}"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0951A492-4129-40A0-AE4D-98BACB84C46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5" name="PlaceHolder 4"/>
          <p:cNvSpPr>
            <a:spLocks noGrp="1"/>
          </p:cNvSpPr>
          <p:nvPr>
            <p:ph type="ftr" idx="17"/>
          </p:nvPr>
        </p:nvSpPr>
        <p:spPr/>
        <p:txBody>
          <a:bodyPr/>
          <a:lstStyle/>
          <a:p>
            <a:r>
              <a:t>Footer</a:t>
            </a:r>
          </a:p>
        </p:txBody>
      </p:sp>
      <p:sp>
        <p:nvSpPr>
          <p:cNvPr id="6" name="PlaceHolder 5"/>
          <p:cNvSpPr>
            <a:spLocks noGrp="1"/>
          </p:cNvSpPr>
          <p:nvPr>
            <p:ph type="sldNum" idx="18"/>
          </p:nvPr>
        </p:nvSpPr>
        <p:spPr/>
        <p:txBody>
          <a:bodyPr/>
          <a:lstStyle/>
          <a:p>
            <a:fld id="{409A6D59-885B-4306-A601-28AD730F02C2}"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3892ABF4-0CB2-4218-98A7-F656DD6AB0F6}" type="slidenum">
              <a:t>‹#›</a:t>
            </a:fld>
            <a:endParaRPr/>
          </a:p>
        </p:txBody>
      </p:sp>
      <p:sp>
        <p:nvSpPr>
          <p:cNvPr id="4" name="PlaceHolder 3"/>
          <p:cNvSpPr>
            <a:spLocks noGrp="1"/>
          </p:cNvSpPr>
          <p:nvPr>
            <p:ph type="dt" idx="19"/>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3" name="PlaceHolder 2"/>
          <p:cNvSpPr>
            <a:spLocks noGrp="1"/>
          </p:cNvSpPr>
          <p:nvPr>
            <p:ph type="ftr" idx="23"/>
          </p:nvPr>
        </p:nvSpPr>
        <p:spPr/>
        <p:txBody>
          <a:bodyPr/>
          <a:lstStyle/>
          <a:p>
            <a:r>
              <a:t>Footer</a:t>
            </a:r>
          </a:p>
        </p:txBody>
      </p:sp>
      <p:sp>
        <p:nvSpPr>
          <p:cNvPr id="4" name="PlaceHolder 3"/>
          <p:cNvSpPr>
            <a:spLocks noGrp="1"/>
          </p:cNvSpPr>
          <p:nvPr>
            <p:ph type="sldNum" idx="24"/>
          </p:nvPr>
        </p:nvSpPr>
        <p:spPr/>
        <p:txBody>
          <a:bodyPr/>
          <a:lstStyle/>
          <a:p>
            <a:fld id="{173DDFB5-9BCB-422B-BB78-6E610C6516F0}" type="slidenum">
              <a:t>‹#›</a:t>
            </a:fld>
            <a:endParaRPr/>
          </a:p>
        </p:txBody>
      </p:sp>
      <p:sp>
        <p:nvSpPr>
          <p:cNvPr id="5" name="PlaceHolder 4"/>
          <p:cNvSpPr>
            <a:spLocks noGrp="1"/>
          </p:cNvSpPr>
          <p:nvPr>
            <p:ph type="dt" idx="2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A63A9EAF-9A17-48F1-8EAF-0CA0E42C7276}"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lstStyle/>
          <a:p>
            <a:r>
              <a:t>Footer</a:t>
            </a:r>
          </a:p>
        </p:txBody>
      </p:sp>
      <p:sp>
        <p:nvSpPr>
          <p:cNvPr id="3" name="PlaceHolder 2"/>
          <p:cNvSpPr>
            <a:spLocks noGrp="1"/>
          </p:cNvSpPr>
          <p:nvPr>
            <p:ph type="sldNum" idx="30"/>
          </p:nvPr>
        </p:nvSpPr>
        <p:spPr/>
        <p:txBody>
          <a:bodyPr/>
          <a:lstStyle/>
          <a:p>
            <a:fld id="{32D9F861-969F-42B6-A8D8-71F5EE5C487A}" type="slidenum">
              <a:t>‹#›</a:t>
            </a:fld>
            <a:endParaRPr/>
          </a:p>
        </p:txBody>
      </p:sp>
      <p:sp>
        <p:nvSpPr>
          <p:cNvPr id="4" name="PlaceHolder 3"/>
          <p:cNvSpPr>
            <a:spLocks noGrp="1"/>
          </p:cNvSpPr>
          <p:nvPr>
            <p:ph type="dt" idx="28"/>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lstStyle/>
          <a:p>
            <a:r>
              <a:t>Footer</a:t>
            </a:r>
          </a:p>
        </p:txBody>
      </p:sp>
      <p:sp>
        <p:nvSpPr>
          <p:cNvPr id="3" name="PlaceHolder 2"/>
          <p:cNvSpPr>
            <a:spLocks noGrp="1"/>
          </p:cNvSpPr>
          <p:nvPr>
            <p:ph type="sldNum" idx="33"/>
          </p:nvPr>
        </p:nvSpPr>
        <p:spPr/>
        <p:txBody>
          <a:bodyPr/>
          <a:lstStyle/>
          <a:p>
            <a:fld id="{FF721C87-601F-4141-9575-6E2D5C22424D}" type="slidenum">
              <a:t>‹#›</a:t>
            </a:fld>
            <a:endParaRPr/>
          </a:p>
        </p:txBody>
      </p:sp>
      <p:sp>
        <p:nvSpPr>
          <p:cNvPr id="4" name="PlaceHolder 3"/>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CE652E19-DD58-4FAC-A35F-BEF8576A4A6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000" b="0" strike="noStrike" spc="-1">
                <a:solidFill>
                  <a:schemeClr val="dk1">
                    <a:lumMod val="75000"/>
                    <a:lumOff val="25000"/>
                  </a:schemeClr>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1400" b="0" strike="noStrike" spc="-1">
                <a:solidFill>
                  <a:schemeClr val="dk1">
                    <a:lumMod val="75000"/>
                    <a:lumOff val="25000"/>
                  </a:schemeClr>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400" b="0" strike="noStrike" spc="-1">
                <a:solidFill>
                  <a:schemeClr val="dk1">
                    <a:lumMod val="75000"/>
                    <a:lumOff val="25000"/>
                  </a:schemeClr>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400" b="0" strike="noStrike" spc="-1">
                <a:solidFill>
                  <a:schemeClr val="dk1">
                    <a:lumMod val="75000"/>
                    <a:lumOff val="25000"/>
                  </a:schemeClr>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6C24163B-DF60-49A7-8C1E-5A93C425330F}"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vert="eaVert"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BD6ADCC7-B84A-4BC6-9D41-2DE2C6C53438}"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8095957F-8BE6-41E5-84D3-53779869B7B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2400" b="0" strike="noStrike" cap="all" spc="199">
                <a:solidFill>
                  <a:schemeClr val="dk2"/>
                </a:solidFill>
                <a:latin typeface="Calibri Light"/>
              </a:rPr>
              <a:t>Click to edit Master text styles</a:t>
            </a:r>
            <a:endParaRPr lang="en-US" sz="2400" b="0" strike="noStrike" spc="-1">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E92C1E3C-630D-4356-91A3-309E3B2793E3}"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F82552F-381A-450A-BC7F-C729FAFBD61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71DB6939-8C87-4C7E-93F1-AB7F0BEA5541}"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3665D0A5-0DF9-45B0-B389-EC385D1ED16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D0DF817D-B9DA-4B6E-927E-CA2C2B21BD1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tIns="45720" rIns="91440" bIns="45720" anchor="b">
            <a:norm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chemeClr val="dk2"/>
                </a:solidFill>
                <a:latin typeface="Calibri"/>
              </a:defRPr>
            </a:lvl1pPr>
          </a:lstStyle>
          <a:p>
            <a:pPr indent="0" algn="r" defTabSz="457200">
              <a:lnSpc>
                <a:spcPct val="100000"/>
              </a:lnSpc>
              <a:buNone/>
            </a:pPr>
            <a:fld id="{A021DBE8-A595-4C40-A6B2-825249D478A8}" type="slidenum">
              <a:rPr lang="it-IT" sz="1050" b="0" strike="noStrike" spc="-1">
                <a:solidFill>
                  <a:schemeClr val="dk2"/>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tIns="0" rIns="91440" bIns="0" anchor="b">
            <a:no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3"/>
            <a:stretch/>
          </a:blipFill>
          <a:ln w="0">
            <a:noFill/>
          </a:ln>
        </p:spPr>
        <p:txBody>
          <a:bodyPr lIns="457200" tIns="457200" rIns="90000" bIns="45000" anchor="t">
            <a:noAutofit/>
          </a:bodyPr>
          <a:lstStyle/>
          <a:p>
            <a:pPr indent="0" defTabSz="457200">
              <a:lnSpc>
                <a:spcPct val="100000"/>
              </a:lnSpc>
              <a:buNone/>
              <a:tabLst>
                <a:tab pos="0" algn="l"/>
              </a:tabLst>
            </a:pPr>
            <a:r>
              <a:rPr lang="en-US" sz="3200" b="0" strike="noStrike" spc="-1">
                <a:solidFill>
                  <a:schemeClr val="lt1"/>
                </a:solidFill>
                <a:latin typeface="Calibri"/>
              </a:rPr>
              <a:t>Click icon to add picture</a:t>
            </a:r>
            <a:endParaRPr lang="en-US" sz="3200" b="0" strike="noStrike" spc="-1">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tIns="0" rIns="91440" bIns="0" anchor="t">
            <a:normAutofit/>
          </a:bodyPr>
          <a:lstStyle/>
          <a:p>
            <a:pPr indent="0" defTabSz="914400">
              <a:lnSpc>
                <a:spcPct val="90000"/>
              </a:lnSpc>
              <a:spcAft>
                <a:spcPts val="6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65E3739-2879-410A-9BB3-63C050842EC9}"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Autofit/>
          </a:bodyPr>
          <a:lstStyle/>
          <a:p>
            <a:pPr indent="0" defTabSz="914400">
              <a:lnSpc>
                <a:spcPct val="85000"/>
              </a:lnSpc>
              <a:buNone/>
            </a:pPr>
            <a:r>
              <a:rPr lang="it-IT" sz="8000" b="0" strike="noStrike" spc="-52">
                <a:solidFill>
                  <a:schemeClr val="dk1">
                    <a:lumMod val="85000"/>
                    <a:lumOff val="15000"/>
                  </a:schemeClr>
                </a:solidFill>
                <a:latin typeface="Calibri Light"/>
              </a:rPr>
              <a:t>Parallel Triangle Counting Algorithms</a:t>
            </a:r>
            <a:endParaRPr lang="en-US" sz="8000" b="0" strike="noStrike" spc="-1">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tIns="45720" rIns="91440" bIns="45720" anchor="t">
            <a:noAutofit/>
          </a:bodyPr>
          <a:lstStyle/>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Michele carloni - s338856</a:t>
            </a:r>
            <a:endParaRPr lang="en-US" sz="2400" b="0" strike="noStrike" spc="-1">
              <a:solidFill>
                <a:srgbClr val="000000"/>
              </a:solidFill>
              <a:latin typeface="Arial"/>
            </a:endParaRPr>
          </a:p>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Riccardo revalor – s339423</a:t>
            </a:r>
            <a:endParaRPr lang="en-US" sz="24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Abstract</a:t>
            </a:r>
            <a:endParaRPr lang="en-US" sz="4800" b="0" strike="noStrike" spc="-1">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chemeClr val="dk1">
                    <a:lumMod val="75000"/>
                    <a:lumOff val="25000"/>
                  </a:schemeClr>
                </a:solidFill>
                <a:latin typeface="Calibri"/>
              </a:rPr>
              <a:t>In our research we conducted a </a:t>
            </a:r>
            <a:r>
              <a:rPr lang="en-US" sz="2000" b="0" strike="noStrike" spc="-1">
                <a:solidFill>
                  <a:schemeClr val="dk1">
                    <a:lumMod val="75000"/>
                    <a:lumOff val="25000"/>
                  </a:schemeClr>
                </a:solidFill>
                <a:latin typeface="Calibri"/>
              </a:rPr>
              <a:t>comprehensive analysis of various algorithms for triangle counting in graphs.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We’ve investigated the </a:t>
            </a:r>
            <a:r>
              <a:rPr lang="en-US" sz="2000" b="1" strike="noStrike" spc="-1">
                <a:solidFill>
                  <a:schemeClr val="dk1">
                    <a:lumMod val="75000"/>
                    <a:lumOff val="25000"/>
                  </a:schemeClr>
                </a:solidFill>
                <a:latin typeface="Calibri"/>
              </a:rPr>
              <a:t>Forward algorithm</a:t>
            </a:r>
            <a:r>
              <a:rPr lang="en-US" sz="2000" b="0" strike="noStrike" spc="-1">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lang="en-US" sz="2000" b="1" strike="noStrike" spc="-1">
                <a:solidFill>
                  <a:schemeClr val="dk1">
                    <a:lumMod val="75000"/>
                    <a:lumOff val="25000"/>
                  </a:schemeClr>
                </a:solidFill>
                <a:latin typeface="Calibri"/>
              </a:rPr>
              <a:t>sequential</a:t>
            </a:r>
            <a:r>
              <a:rPr lang="en-US" sz="2000" b="0" strike="noStrike" spc="-1">
                <a:solidFill>
                  <a:schemeClr val="dk1">
                    <a:lumMod val="75000"/>
                    <a:lumOff val="25000"/>
                  </a:schemeClr>
                </a:solidFill>
                <a:latin typeface="Calibri"/>
              </a:rPr>
              <a:t>, </a:t>
            </a:r>
            <a:r>
              <a:rPr lang="en-US" sz="2000" b="1" strike="noStrike" spc="-1">
                <a:solidFill>
                  <a:schemeClr val="dk1">
                    <a:lumMod val="75000"/>
                    <a:lumOff val="25000"/>
                  </a:schemeClr>
                </a:solidFill>
                <a:latin typeface="Calibri"/>
              </a:rPr>
              <a:t>parallel C++ </a:t>
            </a:r>
            <a:r>
              <a:rPr lang="en-US" sz="2000" b="0" strike="noStrike" spc="-1">
                <a:solidFill>
                  <a:schemeClr val="dk1">
                    <a:lumMod val="75000"/>
                    <a:lumOff val="25000"/>
                  </a:schemeClr>
                </a:solidFill>
                <a:latin typeface="Calibri"/>
              </a:rPr>
              <a:t>(CPU threads), and </a:t>
            </a:r>
            <a:r>
              <a:rPr lang="en-US" sz="2000" b="1" strike="noStrike" spc="-1">
                <a:solidFill>
                  <a:schemeClr val="dk1">
                    <a:lumMod val="75000"/>
                    <a:lumOff val="25000"/>
                  </a:schemeClr>
                </a:solidFill>
                <a:latin typeface="Calibri"/>
              </a:rPr>
              <a:t>parallel CUDA </a:t>
            </a:r>
            <a:r>
              <a:rPr lang="en-US" sz="2000" b="0" strike="noStrike" spc="-1">
                <a:solidFill>
                  <a:schemeClr val="dk1">
                    <a:lumMod val="75000"/>
                    <a:lumOff val="25000"/>
                  </a:schemeClr>
                </a:solidFill>
                <a:latin typeface="Calibri"/>
              </a:rPr>
              <a:t>(GPU threads) implementations.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Furthermore, we explore a third algorithm based on </a:t>
            </a:r>
            <a:r>
              <a:rPr lang="en-US" sz="2000" b="1" strike="noStrike" spc="-1">
                <a:solidFill>
                  <a:schemeClr val="dk1">
                    <a:lumMod val="75000"/>
                    <a:lumOff val="25000"/>
                  </a:schemeClr>
                </a:solidFill>
                <a:latin typeface="Calibri"/>
              </a:rPr>
              <a:t>matrix multiplication</a:t>
            </a:r>
            <a:r>
              <a:rPr lang="en-US" sz="2000" b="0" strike="noStrike" spc="-1">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a:solidFill>
                  <a:schemeClr val="dk1">
                    <a:lumMod val="75000"/>
                    <a:lumOff val="25000"/>
                  </a:schemeClr>
                </a:solidFill>
                <a:latin typeface="Calibri Light"/>
              </a:rPr>
              <a:t>The Basics</a:t>
            </a:r>
            <a:endParaRPr lang="en-US" sz="4800" b="0" strike="noStrike" spc="-1">
              <a:solidFill>
                <a:schemeClr val="dk1"/>
              </a:solidFill>
              <a:latin typeface="Calibri"/>
            </a:endParaRPr>
          </a:p>
        </p:txBody>
      </p:sp>
      <p:pic>
        <p:nvPicPr>
          <p:cNvPr id="119" name="Picture 2" descr="Graph definition - Math Insight"/>
          <p:cNvPicPr/>
          <p:nvPr/>
        </p:nvPicPr>
        <p:blipFill>
          <a:blip r:embed="rId2"/>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Suppose that we have at our disposal a given graph </a:t>
            </a:r>
            <a:r>
              <a:rPr lang="en-US" sz="2000" b="1" strike="noStrike" spc="-1">
                <a:solidFill>
                  <a:schemeClr val="dk1">
                    <a:lumMod val="75000"/>
                    <a:lumOff val="25000"/>
                  </a:schemeClr>
                </a:solidFill>
                <a:latin typeface="Calibri"/>
              </a:rPr>
              <a:t>G = (V, E )</a:t>
            </a:r>
            <a:r>
              <a:rPr lang="en-US" sz="2000" b="0" strike="noStrike" spc="-1">
                <a:solidFill>
                  <a:schemeClr val="dk1">
                    <a:lumMod val="75000"/>
                    <a:lumOff val="25000"/>
                  </a:schemeClr>
                </a:solidFill>
                <a:latin typeface="Calibri"/>
              </a:rPr>
              <a:t>,</a:t>
            </a:r>
            <a:r>
              <a:rPr lang="en-US" sz="2000" b="1" strike="noStrike" spc="-1">
                <a:solidFill>
                  <a:schemeClr val="dk1">
                    <a:lumMod val="75000"/>
                    <a:lumOff val="25000"/>
                  </a:schemeClr>
                </a:solidFill>
                <a:latin typeface="Calibri"/>
              </a:rPr>
              <a:t> </a:t>
            </a:r>
            <a:r>
              <a:rPr lang="en-US" sz="2000" b="0" strike="noStrike" spc="-1">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lang="en-US" sz="2000" b="1" strike="noStrike" spc="-1">
                <a:solidFill>
                  <a:schemeClr val="dk1">
                    <a:lumMod val="75000"/>
                    <a:lumOff val="25000"/>
                  </a:schemeClr>
                </a:solidFill>
                <a:latin typeface="Calibri"/>
              </a:rPr>
              <a:t>{u, v, w} ⊆ V</a:t>
            </a:r>
            <a:r>
              <a:rPr lang="en-US" sz="2000" b="0" strike="noStrike" spc="-1">
                <a:solidFill>
                  <a:schemeClr val="dk1">
                    <a:lumMod val="75000"/>
                    <a:lumOff val="25000"/>
                  </a:schemeClr>
                </a:solidFill>
                <a:latin typeface="Calibri"/>
              </a:rPr>
              <a:t> such that the edges (u, v), (v, w), and (w, u) all exist in the set of edges E . </a:t>
            </a: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Node Iterator/Forward Node Iteator</a:t>
            </a:r>
            <a:endParaRPr lang="en-US" sz="4800" b="0" strike="noStrike" spc="-1">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tIns="45720" rIns="0" bIns="45720" anchor="t">
            <a:normAutofit fontScale="97938" lnSpcReduction="10000"/>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 implemented the Forward Algorithm (in various versions: sequential, parallel, CUDA) using these following strategies: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1) Graph Representation: </a:t>
            </a:r>
            <a:r>
              <a:rPr lang="en-US" sz="2000" b="1" strike="noStrike" spc="-1">
                <a:solidFill>
                  <a:schemeClr val="dk1">
                    <a:lumMod val="75000"/>
                    <a:lumOff val="25000"/>
                  </a:schemeClr>
                </a:solidFill>
                <a:latin typeface="Calibri"/>
              </a:rPr>
              <a:t>adjacency matrices </a:t>
            </a:r>
            <a:r>
              <a:rPr lang="en-US" sz="2000" b="0" strike="noStrike" spc="-1">
                <a:solidFill>
                  <a:schemeClr val="dk1">
                    <a:lumMod val="75000"/>
                    <a:lumOff val="25000"/>
                  </a:schemeClr>
                </a:solidFill>
                <a:latin typeface="Calibri"/>
              </a:rPr>
              <a:t>(implemented as std::vector&lt;std::vector&lt;int») and </a:t>
            </a:r>
            <a:r>
              <a:rPr lang="en-US" sz="2000" b="1" strike="noStrike" spc="-1">
                <a:solidFill>
                  <a:schemeClr val="dk1">
                    <a:lumMod val="75000"/>
                    <a:lumOff val="25000"/>
                  </a:schemeClr>
                </a:solidFill>
                <a:latin typeface="Calibri"/>
              </a:rPr>
              <a:t>adjacency lists </a:t>
            </a:r>
            <a:r>
              <a:rPr lang="en-US" sz="2000" b="0" strike="noStrike" spc="-1">
                <a:solidFill>
                  <a:schemeClr val="dk1">
                    <a:lumMod val="75000"/>
                    <a:lumOff val="25000"/>
                  </a:schemeClr>
                </a:solidFill>
                <a:latin typeface="Calibri"/>
              </a:rPr>
              <a:t>(implemented as std::map&lt;int,std::vector&lt;int» to handle potentially sparse or non-contiguous node IDs).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2) Auxiliary Sets: used to store a specific subset of neighbors for each node (std::vector&lt;std::set&lt;int»). Intersected to </a:t>
            </a:r>
            <a:r>
              <a:rPr lang="en-US" sz="2000" b="1" strike="noStrike" spc="-1">
                <a:solidFill>
                  <a:schemeClr val="dk1">
                    <a:lumMod val="75000"/>
                    <a:lumOff val="25000"/>
                  </a:schemeClr>
                </a:solidFill>
                <a:latin typeface="Calibri"/>
              </a:rPr>
              <a:t>identify the third vertex </a:t>
            </a:r>
            <a:r>
              <a:rPr lang="en-US" sz="2000" b="0" strike="noStrike" spc="-1">
                <a:solidFill>
                  <a:schemeClr val="dk1">
                    <a:lumMod val="75000"/>
                    <a:lumOff val="25000"/>
                  </a:schemeClr>
                </a:solidFill>
                <a:latin typeface="Calibri"/>
              </a:rPr>
              <a:t>composing each triangle.</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3) Ordering/Rank: crucial for </a:t>
            </a:r>
            <a:r>
              <a:rPr lang="en-US" sz="2000" b="1" strike="noStrike" spc="-1">
                <a:solidFill>
                  <a:schemeClr val="dk1">
                    <a:lumMod val="75000"/>
                    <a:lumOff val="25000"/>
                  </a:schemeClr>
                </a:solidFill>
                <a:latin typeface="Calibri"/>
              </a:rPr>
              <a:t>pruning</a:t>
            </a:r>
            <a:r>
              <a:rPr lang="en-US" sz="2000" b="0" strike="noStrike" spc="-1">
                <a:solidFill>
                  <a:schemeClr val="dk1">
                    <a:lumMod val="75000"/>
                    <a:lumOff val="25000"/>
                  </a:schemeClr>
                </a:solidFill>
                <a:latin typeface="Calibri"/>
              </a:rPr>
              <a:t> and to guarantee that each triangle is </a:t>
            </a:r>
            <a:r>
              <a:rPr lang="en-US" sz="2000" b="1" strike="noStrike" spc="-1">
                <a:solidFill>
                  <a:schemeClr val="dk1">
                    <a:lumMod val="75000"/>
                    <a:lumOff val="25000"/>
                  </a:schemeClr>
                </a:solidFill>
                <a:latin typeface="Calibri"/>
              </a:rPr>
              <a:t>counted exactly once</a:t>
            </a:r>
            <a:endParaRPr lang="en-US" sz="2000" b="0" strike="noStrike" spc="-1">
              <a:solidFill>
                <a:schemeClr val="dk1">
                  <a:lumMod val="75000"/>
                  <a:lumOff val="25000"/>
                </a:schemeClr>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a:t>
            </a:r>
            <a:r>
              <a:rPr lang="it-IT" sz="4800" b="0" strike="noStrike" spc="-52" dirty="0" err="1">
                <a:solidFill>
                  <a:schemeClr val="dk1">
                    <a:lumMod val="75000"/>
                    <a:lumOff val="25000"/>
                  </a:schemeClr>
                </a:solidFill>
                <a:latin typeface="Calibri Light"/>
              </a:rPr>
              <a:t>Forward</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Node</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Iteator</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r>
              <a:rPr lang="it-IT" sz="4800" b="0" strike="noStrike" spc="-52" dirty="0">
                <a:solidFill>
                  <a:schemeClr val="dk1">
                    <a:lumMod val="75000"/>
                    <a:lumOff val="25000"/>
                  </a:schemeClr>
                </a:solidFill>
                <a:latin typeface="Calibri Light"/>
              </a:rPr>
              <a:t>, V1 </a:t>
            </a:r>
            <a:endParaRPr lang="en-US" sz="4800" b="0" strike="noStrike" spc="-1" dirty="0">
              <a:solidFill>
                <a:schemeClr val="dk1"/>
              </a:solidFill>
              <a:latin typeface="Calibri"/>
            </a:endParaRPr>
          </a:p>
        </p:txBody>
      </p:sp>
      <p:sp>
        <p:nvSpPr>
          <p:cNvPr id="127" name="TextBox 8"/>
          <p:cNvSpPr/>
          <p:nvPr/>
        </p:nvSpPr>
        <p:spPr>
          <a:xfrm>
            <a:off x="1097280" y="1737000"/>
            <a:ext cx="10058040" cy="147587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gn="just" defTabSz="457200">
              <a:lnSpc>
                <a:spcPct val="100000"/>
              </a:lnSpc>
              <a:buClr>
                <a:srgbClr val="000000"/>
              </a:buClr>
              <a:buFont typeface="Arial"/>
              <a:buChar char="•"/>
            </a:pPr>
            <a:r>
              <a:rPr lang="it-IT" sz="1800" b="0" strike="noStrike" spc="-1" dirty="0">
                <a:solidFill>
                  <a:schemeClr val="dk1"/>
                </a:solidFill>
                <a:latin typeface="Calibri"/>
              </a:rPr>
              <a:t>In the </a:t>
            </a:r>
            <a:r>
              <a:rPr lang="it-IT" sz="1800" b="1" strike="noStrike" spc="-1" dirty="0">
                <a:solidFill>
                  <a:schemeClr val="dk1"/>
                </a:solidFill>
                <a:latin typeface="Calibri"/>
              </a:rPr>
              <a:t>first </a:t>
            </a:r>
            <a:r>
              <a:rPr lang="it-IT" sz="1800" b="1" strike="noStrike" spc="-1" dirty="0" err="1">
                <a:solidFill>
                  <a:schemeClr val="dk1"/>
                </a:solidFill>
                <a:latin typeface="Calibri"/>
              </a:rPr>
              <a:t>version</a:t>
            </a:r>
            <a:r>
              <a:rPr lang="it-IT" sz="1800" b="1" strike="noStrike" spc="-1" dirty="0">
                <a:solidFill>
                  <a:schemeClr val="dk1"/>
                </a:solidFill>
                <a:latin typeface="Calibri"/>
              </a:rPr>
              <a:t> </a:t>
            </a:r>
            <a:r>
              <a:rPr lang="it-IT" sz="1800" b="0" strike="noStrike" spc="-1" dirty="0">
                <a:solidFill>
                  <a:schemeClr val="dk1"/>
                </a:solidFill>
                <a:latin typeface="Calibri"/>
              </a:rPr>
              <a:t>of the </a:t>
            </a:r>
            <a:r>
              <a:rPr lang="it-IT" sz="1800" b="0" strike="noStrike" spc="-1" dirty="0" err="1">
                <a:solidFill>
                  <a:schemeClr val="dk1"/>
                </a:solidFill>
                <a:latin typeface="Calibri"/>
              </a:rPr>
              <a:t>algorithm</a:t>
            </a:r>
            <a:r>
              <a:rPr lang="it-IT" sz="1800" b="0" strike="noStrike" spc="-1" dirty="0">
                <a:solidFill>
                  <a:schemeClr val="dk1"/>
                </a:solidFill>
                <a:latin typeface="Calibri"/>
              </a:rPr>
              <a:t>, more </a:t>
            </a:r>
            <a:r>
              <a:rPr lang="it-IT" sz="1800" b="0" strike="noStrike" spc="-1" dirty="0" err="1">
                <a:solidFill>
                  <a:schemeClr val="dk1"/>
                </a:solidFill>
                <a:latin typeface="Calibri"/>
              </a:rPr>
              <a:t>naive</a:t>
            </a:r>
            <a:r>
              <a:rPr lang="it-IT" sz="1800" b="0" strike="noStrike" spc="-1" dirty="0">
                <a:solidFill>
                  <a:schemeClr val="dk1"/>
                </a:solidFill>
                <a:latin typeface="Calibri"/>
              </a:rPr>
              <a:t> and </a:t>
            </a:r>
            <a:r>
              <a:rPr lang="it-IT" sz="1800" b="0" strike="noStrike" spc="-1" dirty="0" err="1">
                <a:solidFill>
                  <a:schemeClr val="dk1"/>
                </a:solidFill>
                <a:latin typeface="Calibri"/>
              </a:rPr>
              <a:t>simple</a:t>
            </a:r>
            <a:r>
              <a:rPr lang="it-IT" sz="1800" b="0" strike="noStrike" spc="-1" dirty="0">
                <a:solidFill>
                  <a:schemeClr val="dk1"/>
                </a:solidFill>
                <a:latin typeface="Calibri"/>
              </a:rPr>
              <a:t> case, the part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gets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the </a:t>
            </a:r>
            <a:r>
              <a:rPr lang="it-IT" sz="1800" b="0" strike="noStrike" spc="-1" dirty="0" err="1">
                <a:solidFill>
                  <a:schemeClr val="dk1"/>
                </a:solidFill>
                <a:latin typeface="Calibri"/>
              </a:rPr>
              <a:t>Forward</a:t>
            </a:r>
            <a:r>
              <a:rPr lang="it-IT" sz="1800" b="0" strike="noStrike" spc="-1" dirty="0">
                <a:solidFill>
                  <a:schemeClr val="dk1"/>
                </a:solidFill>
                <a:latin typeface="Calibri"/>
              </a:rPr>
              <a:t> </a:t>
            </a:r>
            <a:r>
              <a:rPr lang="it-IT" sz="1800" b="0" strike="noStrike" spc="-1" dirty="0" err="1">
                <a:solidFill>
                  <a:schemeClr val="dk1"/>
                </a:solidFill>
                <a:latin typeface="Calibri"/>
              </a:rPr>
              <a:t>algorithm</a:t>
            </a:r>
            <a:r>
              <a:rPr lang="it-IT" sz="1800" b="0" strike="noStrike" spc="-1" dirty="0">
                <a:solidFill>
                  <a:schemeClr val="dk1"/>
                </a:solidFill>
                <a:latin typeface="Calibri"/>
              </a:rPr>
              <a:t> </a:t>
            </a:r>
            <a:r>
              <a:rPr lang="it-IT" sz="1800" b="0" strike="noStrike" spc="-1" dirty="0" err="1">
                <a:solidFill>
                  <a:schemeClr val="dk1"/>
                </a:solidFill>
                <a:latin typeface="Calibri"/>
              </a:rPr>
              <a:t>function</a:t>
            </a:r>
            <a:r>
              <a:rPr lang="it-IT" sz="1800" b="0" strike="noStrike" spc="-1" dirty="0">
                <a:solidFill>
                  <a:schemeClr val="dk1"/>
                </a:solidFill>
                <a:latin typeface="Calibri"/>
              </a:rPr>
              <a:t>. More in </a:t>
            </a:r>
            <a:r>
              <a:rPr lang="it-IT" sz="1800" b="0" strike="noStrike" spc="-1" dirty="0" err="1">
                <a:solidFill>
                  <a:schemeClr val="dk1"/>
                </a:solidFill>
                <a:latin typeface="Calibri"/>
              </a:rPr>
              <a:t>detail</a:t>
            </a:r>
            <a:r>
              <a:rPr lang="it-IT" sz="1800" b="0" strike="noStrike" spc="-1" dirty="0">
                <a:solidFill>
                  <a:schemeClr val="dk1"/>
                </a:solidFill>
                <a:latin typeface="Calibri"/>
              </a:rPr>
              <a:t>, the </a:t>
            </a:r>
            <a:r>
              <a:rPr lang="it-IT" sz="1800" b="0" strike="noStrike" spc="-1" dirty="0" err="1">
                <a:solidFill>
                  <a:schemeClr val="dk1"/>
                </a:solidFill>
                <a:latin typeface="Calibri"/>
              </a:rPr>
              <a:t>outer</a:t>
            </a:r>
            <a:r>
              <a:rPr lang="it-IT" sz="1800" b="0" strike="noStrike" spc="-1" dirty="0">
                <a:solidFill>
                  <a:schemeClr val="dk1"/>
                </a:solidFill>
                <a:latin typeface="Calibri"/>
              </a:rPr>
              <a:t> loop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iterates</a:t>
            </a:r>
            <a:r>
              <a:rPr lang="it-IT" sz="1800" b="0" strike="noStrike" spc="-1" dirty="0">
                <a:solidFill>
                  <a:schemeClr val="dk1"/>
                </a:solidFill>
                <a:latin typeface="Calibri"/>
              </a:rPr>
              <a:t> </a:t>
            </a:r>
            <a:r>
              <a:rPr lang="it-IT" sz="1800" b="0" strike="noStrike" spc="-1" dirty="0" err="1">
                <a:solidFill>
                  <a:schemeClr val="dk1"/>
                </a:solidFill>
                <a:latin typeface="Calibri"/>
              </a:rPr>
              <a:t>through</a:t>
            </a:r>
            <a:r>
              <a:rPr lang="it-IT" sz="1800" b="0" strike="noStrike" spc="-1" dirty="0">
                <a:solidFill>
                  <a:schemeClr val="dk1"/>
                </a:solidFill>
                <a:latin typeface="Calibri"/>
              </a:rPr>
              <a:t> the </a:t>
            </a:r>
            <a:r>
              <a:rPr lang="it-IT" sz="1800" b="0" strike="noStrike" spc="-1" dirty="0" err="1">
                <a:solidFill>
                  <a:schemeClr val="dk1"/>
                </a:solidFill>
                <a:latin typeface="Calibri"/>
              </a:rPr>
              <a:t>nodes</a:t>
            </a:r>
            <a:r>
              <a:rPr lang="it-IT" sz="1800" b="0" strike="noStrike" spc="-1" dirty="0">
                <a:solidFill>
                  <a:schemeClr val="dk1"/>
                </a:solidFill>
                <a:latin typeface="Calibri"/>
              </a:rPr>
              <a:t> in the </a:t>
            </a:r>
            <a:r>
              <a:rPr lang="it-IT" sz="1800" b="0" strike="noStrike" spc="-1" dirty="0" err="1">
                <a:solidFill>
                  <a:schemeClr val="dk1"/>
                </a:solidFill>
                <a:latin typeface="Calibri"/>
              </a:rPr>
              <a:t>ordered</a:t>
            </a:r>
            <a:r>
              <a:rPr lang="it-IT" sz="1800" b="0" strike="noStrike" spc="-1" dirty="0">
                <a:solidFill>
                  <a:schemeClr val="dk1"/>
                </a:solidFill>
                <a:latin typeface="Calibri"/>
              </a:rPr>
              <a:t> list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still</a:t>
            </a:r>
            <a:r>
              <a:rPr lang="it-IT" sz="1800" b="0" strike="noStrike" spc="-1" dirty="0">
                <a:solidFill>
                  <a:schemeClr val="dk1"/>
                </a:solidFill>
                <a:latin typeface="Calibri"/>
              </a:rPr>
              <a:t> </a:t>
            </a:r>
            <a:r>
              <a:rPr lang="it-IT" sz="1800" b="0" strike="noStrike" spc="-1" dirty="0" err="1">
                <a:solidFill>
                  <a:schemeClr val="dk1"/>
                </a:solidFill>
                <a:latin typeface="Calibri"/>
              </a:rPr>
              <a:t>sequential</a:t>
            </a:r>
            <a:r>
              <a:rPr lang="it-IT" sz="1800" b="0" strike="noStrike" spc="-1" dirty="0">
                <a:solidFill>
                  <a:schemeClr val="dk1"/>
                </a:solidFill>
                <a:latin typeface="Calibri"/>
              </a:rPr>
              <a:t>, running N times, </a:t>
            </a:r>
            <a:r>
              <a:rPr lang="it-IT" sz="1800" b="0" strike="noStrike" spc="-1" dirty="0" err="1">
                <a:solidFill>
                  <a:schemeClr val="dk1"/>
                </a:solidFill>
                <a:latin typeface="Calibri"/>
              </a:rPr>
              <a:t>but</a:t>
            </a:r>
            <a:r>
              <a:rPr lang="it-IT" sz="1800" b="0" strike="noStrike" spc="-1" dirty="0">
                <a:solidFill>
                  <a:schemeClr val="dk1"/>
                </a:solidFill>
                <a:latin typeface="Calibri"/>
              </a:rPr>
              <a:t> the </a:t>
            </a:r>
            <a:r>
              <a:rPr lang="it-IT" sz="1800" b="0" strike="noStrike" spc="-1" dirty="0" err="1">
                <a:solidFill>
                  <a:schemeClr val="dk1"/>
                </a:solidFill>
                <a:latin typeface="Calibri"/>
              </a:rPr>
              <a:t>iteration</a:t>
            </a:r>
            <a:r>
              <a:rPr lang="it-IT" sz="1800" b="0" strike="noStrike" spc="-1" dirty="0">
                <a:solidFill>
                  <a:schemeClr val="dk1"/>
                </a:solidFill>
                <a:latin typeface="Calibri"/>
              </a:rPr>
              <a:t> over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node</a:t>
            </a:r>
            <a:r>
              <a:rPr lang="it-IT" sz="1800" b="0" strike="noStrike" spc="-1" dirty="0">
                <a:solidFill>
                  <a:schemeClr val="dk1"/>
                </a:solidFill>
                <a:latin typeface="Calibri"/>
              </a:rPr>
              <a:t> </a:t>
            </a:r>
            <a:r>
              <a:rPr lang="it-IT" sz="1800" b="0" strike="noStrike" spc="-1" dirty="0" err="1">
                <a:solidFill>
                  <a:schemeClr val="dk1"/>
                </a:solidFill>
                <a:latin typeface="Calibri"/>
              </a:rPr>
              <a:t>neighbors</a:t>
            </a:r>
            <a:r>
              <a:rPr lang="it-IT" sz="1800" b="0" strike="noStrike" spc="-1" dirty="0">
                <a:solidFill>
                  <a:schemeClr val="dk1"/>
                </a:solidFill>
                <a:latin typeface="Calibri"/>
              </a:rPr>
              <a:t> 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this</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achieved</a:t>
            </a:r>
            <a:r>
              <a:rPr lang="it-IT" sz="1800" b="0" strike="noStrike" spc="-1" dirty="0">
                <a:solidFill>
                  <a:schemeClr val="dk1"/>
                </a:solidFill>
                <a:latin typeface="Calibri"/>
              </a:rPr>
              <a:t> by </a:t>
            </a:r>
            <a:r>
              <a:rPr lang="it-IT" sz="1800" b="0" strike="noStrike" spc="-1" dirty="0" err="1">
                <a:solidFill>
                  <a:schemeClr val="dk1"/>
                </a:solidFill>
                <a:latin typeface="Calibri"/>
              </a:rPr>
              <a:t>dividing</a:t>
            </a:r>
            <a:r>
              <a:rPr lang="it-IT" sz="1800" b="0" strike="noStrike" spc="-1" dirty="0">
                <a:solidFill>
                  <a:schemeClr val="dk1"/>
                </a:solidFill>
                <a:latin typeface="Calibri"/>
              </a:rPr>
              <a:t> the </a:t>
            </a:r>
            <a:r>
              <a:rPr lang="it-IT" sz="1800" b="0" strike="noStrike" spc="-1" dirty="0" err="1">
                <a:solidFill>
                  <a:schemeClr val="dk1"/>
                </a:solidFill>
                <a:latin typeface="Calibri"/>
              </a:rPr>
              <a:t>neighbors</a:t>
            </a:r>
            <a:r>
              <a:rPr lang="it-IT" sz="1800" b="0" strike="noStrike" spc="-1" dirty="0">
                <a:solidFill>
                  <a:schemeClr val="dk1"/>
                </a:solidFill>
                <a:latin typeface="Calibri"/>
              </a:rPr>
              <a:t> of s </a:t>
            </a:r>
            <a:r>
              <a:rPr lang="it-IT" sz="1800" b="0" strike="noStrike" spc="-1" dirty="0" err="1">
                <a:solidFill>
                  <a:schemeClr val="dk1"/>
                </a:solidFill>
                <a:latin typeface="Calibri"/>
              </a:rPr>
              <a:t>into</a:t>
            </a:r>
            <a:r>
              <a:rPr lang="it-IT" sz="1800" b="0" strike="noStrike" spc="-1" dirty="0">
                <a:solidFill>
                  <a:schemeClr val="dk1"/>
                </a:solidFill>
                <a:latin typeface="Calibri"/>
              </a:rPr>
              <a:t> </a:t>
            </a:r>
            <a:r>
              <a:rPr lang="it-IT" sz="1800" b="0" strike="noStrike" spc="-1" dirty="0" err="1">
                <a:solidFill>
                  <a:schemeClr val="dk1"/>
                </a:solidFill>
                <a:latin typeface="Calibri"/>
              </a:rPr>
              <a:t>chunks</a:t>
            </a:r>
            <a:r>
              <a:rPr lang="it-IT" sz="1800" b="0" strike="noStrike" spc="-1" dirty="0">
                <a:solidFill>
                  <a:schemeClr val="dk1"/>
                </a:solidFill>
                <a:latin typeface="Calibri"/>
              </a:rPr>
              <a:t>, with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chunk</a:t>
            </a:r>
            <a:r>
              <a:rPr lang="it-IT" sz="1800" b="0" strike="noStrike" spc="-1" dirty="0">
                <a:solidFill>
                  <a:schemeClr val="dk1"/>
                </a:solidFill>
                <a:latin typeface="Calibri"/>
              </a:rPr>
              <a:t> </a:t>
            </a:r>
            <a:r>
              <a:rPr lang="it-IT" sz="1800" b="0" strike="noStrike" spc="-1" dirty="0" err="1">
                <a:solidFill>
                  <a:schemeClr val="dk1"/>
                </a:solidFill>
                <a:latin typeface="Calibri"/>
              </a:rPr>
              <a:t>processed</a:t>
            </a:r>
            <a:r>
              <a:rPr lang="it-IT" sz="1800" b="0" strike="noStrike" spc="-1" dirty="0">
                <a:solidFill>
                  <a:schemeClr val="dk1"/>
                </a:solidFill>
                <a:latin typeface="Calibri"/>
              </a:rPr>
              <a:t> by a separate worker </a:t>
            </a:r>
            <a:r>
              <a:rPr lang="it-IT" sz="1800" b="0" strike="noStrike" spc="-1" dirty="0" err="1">
                <a:solidFill>
                  <a:schemeClr val="dk1"/>
                </a:solidFill>
                <a:latin typeface="Calibri"/>
              </a:rPr>
              <a:t>thread</a:t>
            </a:r>
            <a:r>
              <a:rPr lang="it-IT" sz="1800" b="0" strike="noStrike" spc="-1" dirty="0">
                <a:solidFill>
                  <a:schemeClr val="dk1"/>
                </a:solidFill>
                <a:latin typeface="Calibri"/>
              </a:rPr>
              <a:t>.</a:t>
            </a:r>
            <a:endParaRPr lang="en-US" sz="1800" b="0" strike="noStrike" spc="-1" dirty="0">
              <a:solidFill>
                <a:srgbClr val="000000"/>
              </a:solidFill>
              <a:latin typeface="Arial"/>
            </a:endParaRPr>
          </a:p>
        </p:txBody>
      </p:sp>
      <p:pic>
        <p:nvPicPr>
          <p:cNvPr id="128" name="Picture 10" descr="A graph with a red line&#10;&#10;AI-generated content may be incorrect."/>
          <p:cNvPicPr/>
          <p:nvPr/>
        </p:nvPicPr>
        <p:blipFill>
          <a:blip r:embed="rId2"/>
          <a:stretch/>
        </p:blipFill>
        <p:spPr>
          <a:xfrm>
            <a:off x="87640" y="31805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dirty="0">
                <a:solidFill>
                  <a:schemeClr val="dk1"/>
                </a:solidFill>
                <a:latin typeface="Calibri"/>
              </a:rPr>
              <a:t>Using multiple threads with mutexes to operate on shared data is often counterproductive. The </a:t>
            </a:r>
            <a:r>
              <a:rPr lang="en-US" sz="1800" b="1" strike="noStrike" spc="-1" dirty="0">
                <a:solidFill>
                  <a:schemeClr val="dk1"/>
                </a:solidFill>
                <a:latin typeface="Calibri"/>
              </a:rPr>
              <a:t>mutexes</a:t>
            </a:r>
            <a:r>
              <a:rPr lang="en-US" sz="1800" b="0" strike="noStrike" spc="-1" dirty="0">
                <a:solidFill>
                  <a:schemeClr val="dk1"/>
                </a:solidFill>
                <a:latin typeface="Calibri"/>
              </a:rPr>
              <a:t> force the operations to run </a:t>
            </a:r>
            <a:r>
              <a:rPr lang="en-US" sz="1800" b="1" strike="noStrike" spc="-1" dirty="0">
                <a:solidFill>
                  <a:schemeClr val="dk1"/>
                </a:solidFill>
                <a:latin typeface="Calibri"/>
              </a:rPr>
              <a:t>one after another</a:t>
            </a:r>
            <a:r>
              <a:rPr lang="en-US" sz="1800" b="0" strike="noStrike" spc="-1" dirty="0">
                <a:solidFill>
                  <a:schemeClr val="dk1"/>
                </a:solidFill>
                <a:latin typeface="Calibri"/>
              </a:rPr>
              <a:t> (serially), which eliminates the speed advantage of using parallel threads. Also, the process of creating and managing the threads adds its own </a:t>
            </a:r>
            <a:r>
              <a:rPr lang="en-US" sz="1800" b="1" strike="noStrike" spc="-1" dirty="0">
                <a:solidFill>
                  <a:schemeClr val="dk1"/>
                </a:solidFill>
                <a:latin typeface="Calibri"/>
              </a:rPr>
              <a:t>computational overhead</a:t>
            </a:r>
            <a:r>
              <a:rPr lang="en-US" sz="1800" b="0" strike="noStrike" spc="-1" dirty="0">
                <a:solidFill>
                  <a:schemeClr val="dk1"/>
                </a:solidFill>
                <a:latin typeface="Calibri"/>
              </a:rPr>
              <a:t>, further slowing down the entire process.</a:t>
            </a:r>
            <a:endParaRPr lang="en-US" sz="1800" b="0" strike="noStrike" spc="-1" dirty="0">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fontScale="93560"/>
          </a:bodyPr>
          <a:lstStyle/>
          <a:p>
            <a:pPr indent="0" defTabSz="914400">
              <a:lnSpc>
                <a:spcPct val="85000"/>
              </a:lnSpc>
              <a:buNone/>
            </a:pPr>
            <a:r>
              <a:rPr lang="en-US" sz="3700" b="0" strike="noStrike" spc="-52" dirty="0">
                <a:solidFill>
                  <a:schemeClr val="dk1">
                    <a:lumMod val="75000"/>
                    <a:lumOff val="25000"/>
                  </a:schemeClr>
                </a:solidFill>
                <a:latin typeface="Calibri Light"/>
              </a:rPr>
              <a:t>Parallel (C++) Forward Node </a:t>
            </a:r>
            <a:r>
              <a:rPr lang="en-US" sz="3700" b="0" strike="noStrike" spc="-52" dirty="0" err="1">
                <a:solidFill>
                  <a:schemeClr val="dk1">
                    <a:lumMod val="75000"/>
                    <a:lumOff val="25000"/>
                  </a:schemeClr>
                </a:solidFill>
                <a:latin typeface="Calibri Light"/>
              </a:rPr>
              <a:t>Iteator</a:t>
            </a:r>
            <a:r>
              <a:rPr lang="en-US" sz="3700" b="0" strike="noStrike" spc="-52" dirty="0">
                <a:solidFill>
                  <a:schemeClr val="dk1">
                    <a:lumMod val="75000"/>
                    <a:lumOff val="25000"/>
                  </a:schemeClr>
                </a:solidFill>
                <a:latin typeface="Calibri Light"/>
              </a:rPr>
              <a:t> Algorithm, V3 (Final Version) </a:t>
            </a:r>
            <a:endParaRPr lang="en-US" sz="3700" b="0" strike="noStrike" spc="-1" dirty="0">
              <a:solidFill>
                <a:schemeClr val="dk1"/>
              </a:solidFill>
              <a:latin typeface="Calibri"/>
            </a:endParaRPr>
          </a:p>
        </p:txBody>
      </p:sp>
      <p:pic>
        <p:nvPicPr>
          <p:cNvPr id="132" name="Picture 6" descr="A graph with red line&#10;&#10;AI-generated content may be incorrect."/>
          <p:cNvPicPr/>
          <p:nvPr/>
        </p:nvPicPr>
        <p:blipFill>
          <a:blip r:embed="rId2"/>
          <a:srcRect r="2583"/>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3"/>
          <a:srcRect r="2583"/>
          <a:stretch/>
        </p:blipFill>
        <p:spPr>
          <a:xfrm>
            <a:off x="411840" y="2085840"/>
            <a:ext cx="3810600" cy="2346840"/>
          </a:xfrm>
          <a:prstGeom prst="rect">
            <a:avLst/>
          </a:prstGeom>
          <a:ln w="0">
            <a:noFill/>
          </a:ln>
        </p:spPr>
      </p:pic>
      <p:pic>
        <p:nvPicPr>
          <p:cNvPr id="135" name="Picture 10"/>
          <p:cNvPicPr/>
          <p:nvPr/>
        </p:nvPicPr>
        <p:blipFill>
          <a:blip r:embed="rId4"/>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700" b="0" strike="noStrike" spc="-1" dirty="0">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of the program. </a:t>
            </a:r>
            <a:r>
              <a:rPr lang="en-US" sz="1700" b="1" strike="noStrike" spc="-1" dirty="0">
                <a:solidFill>
                  <a:schemeClr val="dk1">
                    <a:lumMod val="75000"/>
                    <a:lumOff val="25000"/>
                  </a:schemeClr>
                </a:solidFill>
                <a:latin typeface="Calibri"/>
              </a:rPr>
              <a:t>The new algorithm has a much smaller sequential fraction.</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resorted to C++ </a:t>
            </a:r>
            <a:r>
              <a:rPr lang="en-US" sz="1700" b="1" strike="noStrike" spc="-1" dirty="0">
                <a:solidFill>
                  <a:schemeClr val="dk1">
                    <a:lumMod val="75000"/>
                    <a:lumOff val="25000"/>
                  </a:schemeClr>
                </a:solidFill>
                <a:latin typeface="Calibri"/>
              </a:rPr>
              <a:t>std::async tasks</a:t>
            </a:r>
            <a:r>
              <a:rPr lang="en-US" sz="1700" b="0" strike="noStrike" spc="-1" dirty="0">
                <a:solidFill>
                  <a:schemeClr val="dk1">
                    <a:lumMod val="75000"/>
                    <a:lumOff val="25000"/>
                  </a:schemeClr>
                </a:solidFill>
                <a:latin typeface="Calibri"/>
              </a:rPr>
              <a:t>, and </a:t>
            </a:r>
            <a:r>
              <a:rPr lang="en-US" sz="1700" b="1" strike="noStrike" spc="-1" dirty="0">
                <a:solidFill>
                  <a:schemeClr val="dk1">
                    <a:lumMod val="75000"/>
                    <a:lumOff val="25000"/>
                  </a:schemeClr>
                </a:solidFill>
                <a:latin typeface="Calibri"/>
              </a:rPr>
              <a:t>thread-local counts</a:t>
            </a:r>
            <a:r>
              <a:rPr lang="en-US" sz="1700" b="0" strike="noStrike" spc="-1" dirty="0">
                <a:solidFill>
                  <a:schemeClr val="dk1">
                    <a:lumMod val="75000"/>
                    <a:lumOff val="25000"/>
                  </a:schemeClr>
                </a:solidFill>
                <a:latin typeface="Calibri"/>
              </a:rPr>
              <a:t> were used to eliminate contention between them (mutexes not needed anymore). The core algorithm was also rewritten using </a:t>
            </a:r>
            <a:r>
              <a:rPr lang="en-US" sz="1700" b="1" strike="noStrike" spc="-1" dirty="0">
                <a:solidFill>
                  <a:schemeClr val="dk1">
                    <a:lumMod val="75000"/>
                    <a:lumOff val="25000"/>
                  </a:schemeClr>
                </a:solidFill>
                <a:latin typeface="Calibri"/>
              </a:rPr>
              <a:t>std::</a:t>
            </a:r>
            <a:r>
              <a:rPr lang="en-US" sz="1700" b="1" strike="noStrike" spc="-1" dirty="0" err="1">
                <a:solidFill>
                  <a:schemeClr val="dk1">
                    <a:lumMod val="75000"/>
                    <a:lumOff val="25000"/>
                  </a:schemeClr>
                </a:solidFill>
                <a:latin typeface="Calibri"/>
              </a:rPr>
              <a:t>unordered_set</a:t>
            </a:r>
            <a:r>
              <a:rPr lang="en-US" sz="1700" b="0" strike="noStrike" spc="-1" dirty="0">
                <a:solidFill>
                  <a:schemeClr val="dk1">
                    <a:lumMod val="75000"/>
                    <a:lumOff val="25000"/>
                  </a:schemeClr>
                </a:solidFill>
                <a:latin typeface="Calibri"/>
              </a:rPr>
              <a:t>, which dramatically improved data lookup speeds from O(</a:t>
            </a:r>
            <a:r>
              <a:rPr lang="en-US" sz="1700" b="0" strike="noStrike" spc="-1" dirty="0" err="1">
                <a:solidFill>
                  <a:schemeClr val="dk1">
                    <a:lumMod val="75000"/>
                    <a:lumOff val="25000"/>
                  </a:schemeClr>
                </a:solidFill>
                <a:latin typeface="Calibri"/>
              </a:rPr>
              <a:t>logN</a:t>
            </a:r>
            <a:r>
              <a:rPr lang="en-US" sz="1700" b="0" strike="noStrike" spc="-1" dirty="0">
                <a:solidFill>
                  <a:schemeClr val="dk1">
                    <a:lumMod val="75000"/>
                    <a:lumOff val="25000"/>
                  </a:schemeClr>
                </a:solidFill>
                <a:latin typeface="Calibri"/>
              </a:rPr>
              <a:t>) to an average of </a:t>
            </a:r>
            <a:r>
              <a:rPr lang="en-US" sz="1700" b="1" strike="noStrike" spc="-1" dirty="0">
                <a:solidFill>
                  <a:schemeClr val="dk1">
                    <a:lumMod val="75000"/>
                    <a:lumOff val="25000"/>
                  </a:schemeClr>
                </a:solidFill>
                <a:latin typeface="Calibri"/>
              </a:rPr>
              <a:t>O(1)</a:t>
            </a:r>
            <a:r>
              <a:rPr lang="en-US" sz="1700" b="0" strike="noStrike" spc="-1" dirty="0">
                <a:solidFill>
                  <a:schemeClr val="dk1">
                    <a:lumMod val="75000"/>
                    <a:lumOff val="25000"/>
                  </a:schemeClr>
                </a:solidFill>
                <a:latin typeface="Calibri"/>
              </a:rPr>
              <a:t> and made memory usage more efficient.</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immediately see the </a:t>
            </a:r>
            <a:r>
              <a:rPr lang="en-US" sz="1700" b="1" strike="noStrike" spc="-1" dirty="0">
                <a:solidFill>
                  <a:schemeClr val="dk1">
                    <a:lumMod val="75000"/>
                    <a:lumOff val="25000"/>
                  </a:schemeClr>
                </a:solidFill>
                <a:latin typeface="Calibri"/>
              </a:rPr>
              <a:t>scalability issues are solved</a:t>
            </a:r>
            <a:r>
              <a:rPr lang="en-US" sz="1700" b="0" strike="noStrike" spc="-1" dirty="0">
                <a:solidFill>
                  <a:schemeClr val="dk1">
                    <a:lumMod val="75000"/>
                    <a:lumOff val="25000"/>
                  </a:schemeClr>
                </a:solidFill>
                <a:latin typeface="Calibri"/>
              </a:rPr>
              <a:t>: if we increase the thread number, the execution time always gets lower. This also represents a substantial performance gain over the </a:t>
            </a:r>
            <a:r>
              <a:rPr lang="en-US" sz="1700" spc="-1" dirty="0">
                <a:solidFill>
                  <a:schemeClr val="dk1">
                    <a:lumMod val="75000"/>
                    <a:lumOff val="25000"/>
                  </a:schemeClr>
                </a:solidFill>
                <a:latin typeface="Calibri"/>
              </a:rPr>
              <a:t>first</a:t>
            </a:r>
            <a:r>
              <a:rPr lang="en-US" sz="1700" b="0" strike="noStrike" spc="-1" dirty="0">
                <a:solidFill>
                  <a:schemeClr val="dk1">
                    <a:lumMod val="75000"/>
                    <a:lumOff val="25000"/>
                  </a:schemeClr>
                </a:solidFill>
                <a:latin typeface="Calibri"/>
              </a:rPr>
              <a:t> versions, with a time reduction of approximately </a:t>
            </a:r>
            <a:r>
              <a:rPr lang="en-US" sz="1700" b="1" strike="noStrike" spc="-1" dirty="0">
                <a:solidFill>
                  <a:schemeClr val="dk1">
                    <a:lumMod val="75000"/>
                    <a:lumOff val="25000"/>
                  </a:schemeClr>
                </a:solidFill>
                <a:latin typeface="Calibri"/>
              </a:rPr>
              <a:t>82-89%</a:t>
            </a:r>
            <a:r>
              <a:rPr lang="en-US" sz="1700" b="0" strike="noStrike" spc="-1" dirty="0">
                <a:solidFill>
                  <a:schemeClr val="dk1">
                    <a:lumMod val="75000"/>
                    <a:lumOff val="25000"/>
                  </a:schemeClr>
                </a:solidFill>
                <a:latin typeface="Calibri"/>
              </a:rPr>
              <a:t> observed across all thread configurations for a 10k node graph.</a:t>
            </a:r>
            <a:endParaRPr lang="en-US" sz="1700" b="0" strike="noStrike" spc="-1" dirty="0">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Node Iterator Algorithms, final comparison </a:t>
            </a:r>
            <a:endParaRPr lang="en-US" sz="4800" b="0" strike="noStrike" spc="-1">
              <a:solidFill>
                <a:schemeClr val="dk1"/>
              </a:solidFill>
              <a:latin typeface="Calibri"/>
            </a:endParaRPr>
          </a:p>
        </p:txBody>
      </p:sp>
      <p:pic>
        <p:nvPicPr>
          <p:cNvPr id="141" name="Picture 9"/>
          <p:cNvPicPr/>
          <p:nvPr/>
        </p:nvPicPr>
        <p:blipFill>
          <a:blip r:embed="rId2"/>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p:cNvPicPr/>
          <p:nvPr/>
        </p:nvPicPr>
        <p:blipFill>
          <a:blip r:embed="rId3"/>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1" strike="noStrike" spc="-1" dirty="0">
                <a:solidFill>
                  <a:schemeClr val="dk1">
                    <a:lumMod val="75000"/>
                    <a:lumOff val="25000"/>
                  </a:schemeClr>
                </a:solidFill>
                <a:latin typeface="Calibri"/>
              </a:rPr>
              <a:t>The final version of the Node Iterator (Forward) algorithm always beats the sequential version, and if we add up more threads, the speedup keeps increasing, because the execution time gets lower.</a:t>
            </a:r>
            <a:endParaRPr lang="en-US" sz="1800" b="0" strike="noStrike" spc="-1" dirty="0">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47" name="Picture 13"/>
          <p:cNvPicPr/>
          <p:nvPr/>
        </p:nvPicPr>
        <p:blipFill>
          <a:blip r:embed="rId4"/>
          <a:stretch/>
        </p:blipFill>
        <p:spPr>
          <a:xfrm>
            <a:off x="521640" y="3498480"/>
            <a:ext cx="1195920" cy="853200"/>
          </a:xfrm>
          <a:prstGeom prst="rect">
            <a:avLst/>
          </a:prstGeom>
          <a:ln w="0">
            <a:noFill/>
          </a:ln>
        </p:spPr>
      </p:pic>
      <p:pic>
        <p:nvPicPr>
          <p:cNvPr id="148" name="Picture 17"/>
          <p:cNvPicPr/>
          <p:nvPr/>
        </p:nvPicPr>
        <p:blipFill>
          <a:blip r:embed="rId5"/>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Speed-up</a:t>
            </a:r>
            <a:endParaRPr lang="en-US" sz="1800" b="0" strike="noStrike" spc="-1">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Efficiency (p = numThreads)</a:t>
            </a:r>
            <a:endParaRPr lang="en-US"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V1</a:t>
            </a:r>
            <a:endParaRPr lang="en-US" sz="4800" b="0" strike="noStrike" spc="-1">
              <a:solidFill>
                <a:schemeClr val="dk1"/>
              </a:solidFill>
              <a:latin typeface="Calibri"/>
            </a:endParaRPr>
          </a:p>
        </p:txBody>
      </p:sp>
      <p:sp>
        <p:nvSpPr>
          <p:cNvPr id="152" name="TextBox 4"/>
          <p:cNvSpPr/>
          <p:nvPr/>
        </p:nvSpPr>
        <p:spPr>
          <a:xfrm>
            <a:off x="1097280" y="1682880"/>
            <a:ext cx="10058040" cy="323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700" b="0" strike="noStrike" spc="-1" dirty="0">
                <a:solidFill>
                  <a:schemeClr val="dk1"/>
                </a:solidFill>
                <a:latin typeface="Calibri"/>
              </a:rPr>
              <a:t>The Forward Algorithm was adapted to run on GPUs using CUDA, leveraging their </a:t>
            </a:r>
            <a:r>
              <a:rPr lang="en-US" sz="1700" b="1" strike="noStrike" spc="-1" dirty="0">
                <a:solidFill>
                  <a:schemeClr val="dk1"/>
                </a:solidFill>
                <a:latin typeface="Calibri"/>
              </a:rPr>
              <a:t>massive parallelism</a:t>
            </a:r>
            <a:r>
              <a:rPr lang="en-US" sz="1700" b="0" strike="noStrike" spc="-1" dirty="0">
                <a:solidFill>
                  <a:schemeClr val="dk1"/>
                </a:solidFill>
                <a:latin typeface="Calibri"/>
              </a:rPr>
              <a:t> to significantly speed up processing for large graphs. To achieve this, the graph's data is converted into a GPU-optimized </a:t>
            </a:r>
            <a:r>
              <a:rPr lang="en-US" sz="1700" b="1" strike="noStrike" spc="-1" dirty="0">
                <a:solidFill>
                  <a:schemeClr val="dk1"/>
                </a:solidFill>
                <a:latin typeface="Calibri"/>
              </a:rPr>
              <a:t>Compressed Row Storage (CRS)</a:t>
            </a:r>
            <a:r>
              <a:rPr lang="en-US" sz="1700" b="0" strike="noStrike" spc="-1" dirty="0">
                <a:solidFill>
                  <a:schemeClr val="dk1"/>
                </a:solidFill>
                <a:latin typeface="Calibri"/>
              </a:rPr>
              <a:t> format. This dense storage format is well suited for </a:t>
            </a:r>
            <a:r>
              <a:rPr lang="en-US" sz="1700" b="1" strike="noStrike" spc="-1" dirty="0">
                <a:solidFill>
                  <a:schemeClr val="dk1"/>
                </a:solidFill>
                <a:latin typeface="Calibri"/>
              </a:rPr>
              <a:t>coalesced</a:t>
            </a:r>
            <a:r>
              <a:rPr lang="en-US" sz="1700" b="0" strike="noStrike" spc="-1" dirty="0">
                <a:solidFill>
                  <a:schemeClr val="dk1"/>
                </a:solidFill>
                <a:latin typeface="Calibri"/>
              </a:rPr>
              <a:t> memory access. </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The core of the algorithm is performed inside the </a:t>
            </a:r>
            <a:r>
              <a:rPr lang="en-US" sz="1700" b="1" strike="noStrike" spc="-1" dirty="0" err="1">
                <a:solidFill>
                  <a:schemeClr val="dk1"/>
                </a:solidFill>
                <a:latin typeface="Calibri"/>
              </a:rPr>
              <a:t>ForwardAlgorithmKernel</a:t>
            </a:r>
            <a:r>
              <a:rPr lang="en-US" sz="1700" b="1" strike="noStrike" spc="-1" dirty="0">
                <a:solidFill>
                  <a:schemeClr val="dk1"/>
                </a:solidFill>
                <a:latin typeface="Calibri"/>
              </a:rPr>
              <a:t> kernel function</a:t>
            </a:r>
            <a:r>
              <a:rPr lang="en-US" sz="1700" b="0" strike="noStrike" spc="-1" dirty="0">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sz="1700" b="1" strike="noStrike" spc="-1" dirty="0" err="1">
                <a:solidFill>
                  <a:schemeClr val="dk1"/>
                </a:solidFill>
                <a:latin typeface="Calibri"/>
              </a:rPr>
              <a:t>atomicAdd</a:t>
            </a:r>
            <a:r>
              <a:rPr lang="en-US" sz="1700" b="0" strike="noStrike" spc="-1" dirty="0">
                <a:solidFill>
                  <a:schemeClr val="dk1"/>
                </a:solidFill>
                <a:latin typeface="Calibri"/>
              </a:rPr>
              <a:t> function is used.</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This strategy is heavily dependent on the configuration of its launch parameters, particularly the </a:t>
            </a:r>
            <a:r>
              <a:rPr lang="en-US" sz="1700" b="1" strike="noStrike" spc="-1" dirty="0" err="1">
                <a:solidFill>
                  <a:schemeClr val="dk1"/>
                </a:solidFill>
                <a:latin typeface="Calibri"/>
              </a:rPr>
              <a:t>blockSize</a:t>
            </a:r>
            <a:r>
              <a:rPr lang="en-US" sz="1700" b="1" strike="noStrike" spc="-1" dirty="0">
                <a:solidFill>
                  <a:schemeClr val="dk1"/>
                </a:solidFill>
                <a:latin typeface="Calibri"/>
              </a:rPr>
              <a:t>, which serves as a critical hyperparameter for performance tuning. </a:t>
            </a:r>
            <a:r>
              <a:rPr lang="en-US" sz="1700" b="0" strike="noStrike" spc="-1" dirty="0">
                <a:solidFill>
                  <a:schemeClr val="dk1"/>
                </a:solidFill>
                <a:latin typeface="Calibri"/>
              </a:rPr>
              <a:t>Since, in current architectures, a warp is composed of </a:t>
            </a:r>
            <a:r>
              <a:rPr lang="en-US" sz="1700" b="1" strike="noStrike" spc="-1" dirty="0">
                <a:solidFill>
                  <a:schemeClr val="dk1"/>
                </a:solidFill>
                <a:latin typeface="Calibri"/>
              </a:rPr>
              <a:t>32 threads</a:t>
            </a:r>
            <a:r>
              <a:rPr lang="en-US" sz="1700" b="0" strike="noStrike" spc="-1" dirty="0">
                <a:solidFill>
                  <a:schemeClr val="dk1"/>
                </a:solidFill>
                <a:latin typeface="Calibri"/>
              </a:rPr>
              <a:t>, using multiples of 32 can result in the block containing an exact number of full warps, so the GPU can schedule them more efficiently.</a:t>
            </a:r>
            <a:endParaRPr lang="en-US" sz="1700" b="0" strike="noStrike" spc="-1" dirty="0">
              <a:solidFill>
                <a:srgbClr val="000000"/>
              </a:solidFill>
              <a:latin typeface="Arial"/>
            </a:endParaRPr>
          </a:p>
        </p:txBody>
      </p:sp>
      <p:pic>
        <p:nvPicPr>
          <p:cNvPr id="1026" name="Picture 2" descr="The Compressed Row sparse matrix storage format. | Download Scientific  Diagram">
            <a:extLst>
              <a:ext uri="{FF2B5EF4-FFF2-40B4-BE49-F238E27FC236}">
                <a16:creationId xmlns:a16="http://schemas.microsoft.com/office/drawing/2014/main" id="{91EBC1EC-74B1-BA70-6688-41D7891D0F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0150" y="4895850"/>
            <a:ext cx="7181850" cy="19621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C6FC603-64B5-3275-E563-D2FBE5ECE4AC}"/>
              </a:ext>
            </a:extLst>
          </p:cNvPr>
          <p:cNvSpPr txBox="1"/>
          <p:nvPr/>
        </p:nvSpPr>
        <p:spPr>
          <a:xfrm>
            <a:off x="1037590" y="5045160"/>
            <a:ext cx="3972560" cy="1384995"/>
          </a:xfrm>
          <a:prstGeom prst="rect">
            <a:avLst/>
          </a:prstGeom>
          <a:noFill/>
        </p:spPr>
        <p:txBody>
          <a:bodyPr wrap="square">
            <a:spAutoFit/>
          </a:bodyPr>
          <a:lstStyle/>
          <a:p>
            <a:r>
              <a:rPr lang="en-US" sz="1400" dirty="0">
                <a:latin typeface="Courier New" panose="02070309020205020404" pitchFamily="49" charset="0"/>
              </a:rPr>
              <a:t>values</a:t>
            </a:r>
            <a:r>
              <a:rPr lang="en-US" sz="1400" dirty="0"/>
              <a:t> contains all the non-zero elements read row-by-row from the original matrix; </a:t>
            </a:r>
            <a:r>
              <a:rPr lang="en-US" sz="1400" dirty="0">
                <a:latin typeface="Courier New" panose="02070309020205020404" pitchFamily="49" charset="0"/>
              </a:rPr>
              <a:t>col</a:t>
            </a:r>
            <a:r>
              <a:rPr lang="en-US" sz="1400" dirty="0"/>
              <a:t> stores the corresponding column index for each element in the </a:t>
            </a:r>
            <a:r>
              <a:rPr lang="en-US" sz="1400" dirty="0">
                <a:latin typeface="Courier New" panose="02070309020205020404" pitchFamily="49" charset="0"/>
              </a:rPr>
              <a:t>values</a:t>
            </a:r>
            <a:r>
              <a:rPr lang="en-US" sz="1400" dirty="0"/>
              <a:t> array; and </a:t>
            </a:r>
            <a:r>
              <a:rPr lang="en-US" sz="1400" dirty="0" err="1">
                <a:latin typeface="Courier New" panose="02070309020205020404" pitchFamily="49" charset="0"/>
              </a:rPr>
              <a:t>row_ptr</a:t>
            </a:r>
            <a:r>
              <a:rPr lang="en-US" sz="1400" dirty="0"/>
              <a:t> indicates the starting index in the </a:t>
            </a:r>
            <a:r>
              <a:rPr lang="en-US" sz="1400" dirty="0">
                <a:latin typeface="Courier New" panose="02070309020205020404" pitchFamily="49" charset="0"/>
              </a:rPr>
              <a:t>values</a:t>
            </a:r>
            <a:r>
              <a:rPr lang="en-US" sz="1400" dirty="0"/>
              <a:t> and </a:t>
            </a:r>
            <a:r>
              <a:rPr lang="en-US" sz="1400" dirty="0">
                <a:latin typeface="Courier New" panose="02070309020205020404" pitchFamily="49" charset="0"/>
              </a:rPr>
              <a:t>col</a:t>
            </a:r>
            <a:r>
              <a:rPr lang="en-US" sz="1400" dirty="0"/>
              <a:t> arrays for each row's data</a:t>
            </a:r>
            <a:endParaRPr lang="it-IT"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54" name="Picture 4" descr="A graph with a red line&#10;&#10;AI-generated content may be incorrect."/>
          <p:cNvPicPr/>
          <p:nvPr/>
        </p:nvPicPr>
        <p:blipFill>
          <a:blip r:embed="rId2"/>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0" strike="noStrike" spc="-1">
                <a:solidFill>
                  <a:schemeClr val="dk1">
                    <a:lumMod val="75000"/>
                    <a:lumOff val="25000"/>
                  </a:schemeClr>
                </a:solidFill>
                <a:latin typeface="Calibri"/>
              </a:rPr>
              <a:t>We can see that the </a:t>
            </a:r>
            <a:r>
              <a:rPr lang="en-US" sz="1800" b="1" strike="noStrike" spc="-1">
                <a:solidFill>
                  <a:schemeClr val="dk1">
                    <a:lumMod val="75000"/>
                    <a:lumOff val="25000"/>
                  </a:schemeClr>
                </a:solidFill>
                <a:latin typeface="Calibri"/>
              </a:rPr>
              <a:t>best performance is achieved setting blockSize to 128</a:t>
            </a:r>
            <a:r>
              <a:rPr lang="en-US" sz="1800" b="0" strike="noStrike" spc="-1">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lang="en-US" sz="1800" b="1" strike="noStrike" spc="-1">
                <a:solidFill>
                  <a:schemeClr val="dk1">
                    <a:lumMod val="75000"/>
                    <a:lumOff val="25000"/>
                  </a:schemeClr>
                </a:solidFill>
                <a:latin typeface="Calibri"/>
              </a:rPr>
              <a:t>high occupancy</a:t>
            </a:r>
            <a:r>
              <a:rPr lang="en-US" sz="1800" b="0" strike="noStrike" spc="-1">
                <a:solidFill>
                  <a:schemeClr val="dk1">
                    <a:lumMod val="75000"/>
                    <a:lumOff val="25000"/>
                  </a:schemeClr>
                </a:solidFill>
                <a:latin typeface="Calibri"/>
              </a:rPr>
              <a:t>. In facts, we </a:t>
            </a:r>
            <a:r>
              <a:rPr lang="en-US" sz="1800" b="1" strike="noStrike" spc="-1">
                <a:solidFill>
                  <a:schemeClr val="dk1">
                    <a:lumMod val="75000"/>
                    <a:lumOff val="25000"/>
                  </a:schemeClr>
                </a:solidFill>
                <a:latin typeface="Calibri"/>
              </a:rPr>
              <a:t>almost </a:t>
            </a:r>
            <a:r>
              <a:rPr lang="en-US" sz="1800" b="1" strike="noStrike" spc="-1">
                <a:solidFill>
                  <a:schemeClr val="dk1"/>
                </a:solidFill>
                <a:latin typeface="Calibri"/>
              </a:rPr>
              <a:t>saturate the SM </a:t>
            </a:r>
            <a:r>
              <a:rPr lang="en-US" sz="1800" b="0" strike="noStrike" spc="-1">
                <a:solidFill>
                  <a:schemeClr val="dk1"/>
                </a:solidFill>
                <a:latin typeface="Calibri"/>
              </a:rPr>
              <a:t>(achieving an excellent occupancy of 82.39%)</a:t>
            </a:r>
            <a:endParaRPr lang="en-US" sz="1800" b="0" strike="noStrike" spc="-1">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59" name="Picture 8"/>
          <p:cNvPicPr/>
          <p:nvPr/>
        </p:nvPicPr>
        <p:blipFill>
          <a:blip r:embed="rId3"/>
          <a:stretch/>
        </p:blipFill>
        <p:spPr>
          <a:xfrm>
            <a:off x="753120" y="3366720"/>
            <a:ext cx="4627800" cy="3054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V2</a:t>
            </a:r>
            <a:endParaRPr lang="en-US" sz="4800" b="0" strike="noStrike" spc="-1">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second version of the algorithm introduces a much faster, </a:t>
            </a:r>
            <a:r>
              <a:rPr lang="en-US" sz="2000" b="1" strike="noStrike" spc="-1">
                <a:solidFill>
                  <a:schemeClr val="dk1">
                    <a:lumMod val="75000"/>
                    <a:lumOff val="25000"/>
                  </a:schemeClr>
                </a:solidFill>
                <a:latin typeface="Calibri"/>
              </a:rPr>
              <a:t>merge-like</a:t>
            </a:r>
            <a:r>
              <a:rPr lang="en-US" sz="2000" b="0" strike="noStrike" spc="-1">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However, this method creates a GPU-specific bottleneck called </a:t>
            </a:r>
            <a:r>
              <a:rPr lang="en-US" sz="2000" b="1" strike="noStrike" spc="-1">
                <a:solidFill>
                  <a:schemeClr val="dk1">
                    <a:lumMod val="75000"/>
                    <a:lumOff val="25000"/>
                  </a:schemeClr>
                </a:solidFill>
                <a:latin typeface="Calibri"/>
              </a:rPr>
              <a:t>warp divergence</a:t>
            </a:r>
            <a:r>
              <a:rPr lang="en-US" sz="2000" b="0" strike="noStrike" spc="-1">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Despite this, the new algorithm is a substantial upgrade, even though its full speed is sometimes limited by this divergence.</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5600" b="0" strike="noStrike" spc="-52">
                <a:solidFill>
                  <a:schemeClr val="dk1">
                    <a:lumMod val="85000"/>
                    <a:lumOff val="15000"/>
                  </a:schemeClr>
                </a:solidFill>
                <a:latin typeface="Calibri Light"/>
              </a:rPr>
              <a:t>CUDA Parallel Node: Final comparison</a:t>
            </a:r>
            <a:endParaRPr lang="en-US" sz="5600" b="0" strike="noStrike" spc="-1">
              <a:solidFill>
                <a:schemeClr val="dk1"/>
              </a:solidFill>
              <a:latin typeface="Calibri"/>
            </a:endParaRPr>
          </a:p>
        </p:txBody>
      </p:sp>
      <p:pic>
        <p:nvPicPr>
          <p:cNvPr id="167" name="Content Placeholder 4"/>
          <p:cNvPicPr/>
          <p:nvPr/>
        </p:nvPicPr>
        <p:blipFill>
          <a:blip r:embed="rId2"/>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69" name="Picture 6"/>
          <p:cNvPicPr/>
          <p:nvPr/>
        </p:nvPicPr>
        <p:blipFill>
          <a:blip r:embed="rId3"/>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V1</a:t>
            </a:r>
            <a:endParaRPr lang="en-US" sz="4800" b="0" strike="noStrike" spc="-1">
              <a:solidFill>
                <a:schemeClr val="dk1"/>
              </a:solidFill>
              <a:latin typeface="Calibri"/>
            </a:endParaRPr>
          </a:p>
        </p:txBody>
      </p:sp>
      <p:pic>
        <p:nvPicPr>
          <p:cNvPr id="175" name="Picture 4" descr="A graph with red line&#10;&#10;AI-generated content may be incorrect."/>
          <p:cNvPicPr/>
          <p:nvPr/>
        </p:nvPicPr>
        <p:blipFill>
          <a:blip r:embed="rId2"/>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700" b="0" strike="noStrike" spc="-1">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strike="noStrike" spc="-1">
                <a:solidFill>
                  <a:schemeClr val="dk1">
                    <a:lumMod val="75000"/>
                    <a:lumOff val="25000"/>
                  </a:schemeClr>
                </a:solidFill>
                <a:latin typeface="Calibri"/>
              </a:rPr>
              <a:t>graph size</a:t>
            </a:r>
            <a:r>
              <a:rPr lang="en-US" sz="1700" b="0" strike="noStrike" spc="-1">
                <a:solidFill>
                  <a:schemeClr val="dk1">
                    <a:lumMod val="75000"/>
                    <a:lumOff val="25000"/>
                  </a:schemeClr>
                </a:solidFill>
                <a:latin typeface="Calibri"/>
              </a:rPr>
              <a:t>.</a:t>
            </a: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V2</a:t>
            </a:r>
            <a:endParaRPr lang="en-US" sz="4800" b="0" strike="noStrike" spc="-1">
              <a:solidFill>
                <a:schemeClr val="dk1"/>
              </a:solidFill>
              <a:latin typeface="Calibri"/>
            </a:endParaRPr>
          </a:p>
        </p:txBody>
      </p:sp>
      <p:pic>
        <p:nvPicPr>
          <p:cNvPr id="182" name="Picture 4" descr="A graph with red line&#10;&#10;AI-generated content may be incorrect."/>
          <p:cNvPicPr/>
          <p:nvPr/>
        </p:nvPicPr>
        <p:blipFill>
          <a:blip r:embed="rId2"/>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3"/>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tIns="45720" rIns="0" bIns="45720" anchor="t">
            <a:noAutofit/>
          </a:bodyPr>
          <a:lstStyle/>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which has a linear time complexity of </a:t>
            </a:r>
            <a:r>
              <a:rPr lang="en-US" sz="1400" b="1" strike="noStrike" spc="-1">
                <a:solidFill>
                  <a:schemeClr val="dk1">
                    <a:lumMod val="75000"/>
                    <a:lumOff val="25000"/>
                  </a:schemeClr>
                </a:solidFill>
                <a:latin typeface="Calibri"/>
              </a:rPr>
              <a:t>O(d(s) + d(t)). </a:t>
            </a:r>
            <a:r>
              <a:rPr lang="en-US" sz="1400" b="0" strike="noStrike" spc="-1">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On a 10k-node graph, </a:t>
            </a:r>
            <a:r>
              <a:rPr lang="en-US" sz="1400" b="1" strike="noStrike" spc="-1">
                <a:solidFill>
                  <a:schemeClr val="dk1">
                    <a:lumMod val="75000"/>
                    <a:lumOff val="25000"/>
                  </a:schemeClr>
                </a:solidFill>
                <a:latin typeface="Calibri"/>
              </a:rPr>
              <a:t>we observe a dramatic and consistent drop in execution time as the number of threads increases</a:t>
            </a:r>
            <a:r>
              <a:rPr lang="en-US" sz="1400" b="0" strike="noStrike" spc="-1">
                <a:solidFill>
                  <a:schemeClr val="dk1">
                    <a:lumMod val="75000"/>
                    <a:lumOff val="25000"/>
                  </a:schemeClr>
                </a:solidFill>
                <a:latin typeface="Calibri"/>
              </a:rPr>
              <a:t>, with an optimal point around 8 threads. The performance is </a:t>
            </a:r>
            <a:r>
              <a:rPr lang="en-US" sz="1400" b="1" strike="noStrike" spc="-1">
                <a:solidFill>
                  <a:schemeClr val="dk1">
                    <a:lumMod val="75000"/>
                    <a:lumOff val="25000"/>
                  </a:schemeClr>
                </a:solidFill>
                <a:latin typeface="Calibri"/>
              </a:rPr>
              <a:t>consistently better than the V1 version on the same graph</a:t>
            </a:r>
            <a:r>
              <a:rPr lang="en-US" sz="1400" b="0" strike="noStrike" spc="-1">
                <a:solidFill>
                  <a:schemeClr val="dk1">
                    <a:lumMod val="75000"/>
                    <a:lumOff val="25000"/>
                  </a:schemeClr>
                </a:solidFill>
                <a:latin typeface="Calibri"/>
              </a:rPr>
              <a:t>, demonstrating that the linear-time intersection is far superior to the naive nested-loop approach.</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lang="en-US" sz="1400" b="1" strike="noStrike" spc="-1">
                <a:solidFill>
                  <a:schemeClr val="dk1">
                    <a:lumMod val="75000"/>
                    <a:lumOff val="25000"/>
                  </a:schemeClr>
                </a:solidFill>
                <a:latin typeface="Calibri"/>
              </a:rPr>
              <a:t>This indicates a near-perfect parallel speedup </a:t>
            </a:r>
            <a:r>
              <a:rPr lang="en-US" sz="1400" b="0" strike="noStrike" spc="-1">
                <a:solidFill>
                  <a:schemeClr val="dk1">
                    <a:lumMod val="75000"/>
                    <a:lumOff val="25000"/>
                  </a:schemeClr>
                </a:solidFill>
                <a:latin typeface="Calibri"/>
              </a:rPr>
              <a:t>where the workload is large enough that the benefits of parallelization far outweigh the overhead.</a:t>
            </a: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V3</a:t>
            </a:r>
            <a:endParaRPr lang="en-US" sz="4800" b="0" strike="noStrike" spc="-1">
              <a:solidFill>
                <a:schemeClr val="dk1"/>
              </a:solidFill>
              <a:latin typeface="Calibri"/>
            </a:endParaRPr>
          </a:p>
        </p:txBody>
      </p:sp>
      <p:pic>
        <p:nvPicPr>
          <p:cNvPr id="190" name="Picture 6" descr="A graph with red line&#10;&#10;AI-generated content may be incorrect."/>
          <p:cNvPicPr/>
          <p:nvPr/>
        </p:nvPicPr>
        <p:blipFill>
          <a:blip r:embed="rId2"/>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3"/>
          <a:stretch/>
        </p:blipFill>
        <p:spPr>
          <a:xfrm>
            <a:off x="214920" y="2198880"/>
            <a:ext cx="4101480" cy="2460960"/>
          </a:xfrm>
          <a:prstGeom prst="rect">
            <a:avLst/>
          </a:prstGeom>
          <a:ln w="0">
            <a:noFill/>
          </a:ln>
        </p:spPr>
      </p:pic>
      <p:pic>
        <p:nvPicPr>
          <p:cNvPr id="193" name="Picture 4"/>
          <p:cNvPicPr/>
          <p:nvPr/>
        </p:nvPicPr>
        <p:blipFill>
          <a:blip r:embed="rId4"/>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This highly optimized version of the Edge Algorithm incorporates several key enhancements for maximum performance.</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First, it uses std::unordered_map for data storage, which provides near-instantaneous </a:t>
            </a:r>
            <a:r>
              <a:rPr lang="en-US" sz="1400" b="1" strike="noStrike" spc="-1">
                <a:solidFill>
                  <a:schemeClr val="dk1">
                    <a:lumMod val="75000"/>
                    <a:lumOff val="25000"/>
                  </a:schemeClr>
                </a:solidFill>
                <a:latin typeface="Calibri"/>
              </a:rPr>
              <a:t>O(1)</a:t>
            </a:r>
            <a:r>
              <a:rPr lang="en-US" sz="1400" b="0" strike="noStrike" spc="-1">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lang="en-US" sz="1400" b="1" strike="noStrike" spc="-1">
                <a:solidFill>
                  <a:schemeClr val="dk1">
                    <a:lumMod val="75000"/>
                    <a:lumOff val="25000"/>
                  </a:schemeClr>
                </a:solidFill>
                <a:latin typeface="Calibri"/>
              </a:rPr>
              <a:t>local triangle counter</a:t>
            </a:r>
            <a:r>
              <a:rPr lang="en-US" sz="1400" b="0" strike="noStrike" spc="-1">
                <a:solidFill>
                  <a:schemeClr val="dk1">
                    <a:lumMod val="75000"/>
                    <a:lumOff val="25000"/>
                  </a:schemeClr>
                </a:solidFill>
                <a:latin typeface="Calibri"/>
              </a:rPr>
              <a:t>, completely eliminating the need for slow synchronization tools like mutexes or atomic operations. ⚡</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Further optimizations include: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1) A fast </a:t>
            </a:r>
            <a:r>
              <a:rPr lang="en-US" sz="1400" b="1" strike="noStrike" spc="-1">
                <a:solidFill>
                  <a:schemeClr val="dk1">
                    <a:lumMod val="75000"/>
                    <a:lumOff val="25000"/>
                  </a:schemeClr>
                </a:solidFill>
                <a:latin typeface="Calibri"/>
              </a:rPr>
              <a:t>two-pointer intersection</a:t>
            </a:r>
            <a:r>
              <a:rPr lang="en-US" sz="1400" b="0" strike="noStrike" spc="-1">
                <a:solidFill>
                  <a:schemeClr val="dk1">
                    <a:lumMod val="75000"/>
                    <a:lumOff val="25000"/>
                  </a:schemeClr>
                </a:solidFill>
                <a:latin typeface="Calibri"/>
              </a:rPr>
              <a:t> method to find common neighbors on pre-sorted lists.</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2) </a:t>
            </a:r>
            <a:r>
              <a:rPr lang="en-US" sz="1400" b="1" strike="noStrike" spc="-1">
                <a:solidFill>
                  <a:schemeClr val="dk1">
                    <a:lumMod val="75000"/>
                    <a:lumOff val="25000"/>
                  </a:schemeClr>
                </a:solidFill>
                <a:latin typeface="Calibri"/>
              </a:rPr>
              <a:t>Pre-filtering edges</a:t>
            </a:r>
            <a:r>
              <a:rPr lang="en-US" sz="1400" b="0" strike="noStrike" spc="-1">
                <a:solidFill>
                  <a:schemeClr val="dk1">
                    <a:lumMod val="75000"/>
                    <a:lumOff val="25000"/>
                  </a:schemeClr>
                </a:solidFill>
                <a:latin typeface="Calibri"/>
              </a:rPr>
              <a:t> at the start to remove redundant checks from the main loop.</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3) Passing data by </a:t>
            </a:r>
            <a:r>
              <a:rPr lang="en-US" sz="1400" b="1" strike="noStrike" spc="-1">
                <a:solidFill>
                  <a:schemeClr val="dk1">
                    <a:lumMod val="75000"/>
                    <a:lumOff val="25000"/>
                  </a:schemeClr>
                </a:solidFill>
                <a:latin typeface="Calibri"/>
              </a:rPr>
              <a:t>constant reference</a:t>
            </a:r>
            <a:r>
              <a:rPr lang="en-US" sz="1400" b="0" strike="noStrike" spc="-1">
                <a:solidFill>
                  <a:schemeClr val="dk1">
                    <a:lumMod val="75000"/>
                    <a:lumOff val="25000"/>
                  </a:schemeClr>
                </a:solidFill>
                <a:latin typeface="Calibri"/>
              </a:rPr>
              <a:t> (const &amp;) to avoid expensive data copying between threads.</a:t>
            </a:r>
          </a:p>
          <a:p>
            <a:pPr indent="0" defTabSz="914400">
              <a:lnSpc>
                <a:spcPct val="90000"/>
              </a:lnSpc>
              <a:spcBef>
                <a:spcPts val="1199"/>
              </a:spcBef>
              <a:spcAft>
                <a:spcPts val="201"/>
              </a:spcAft>
              <a:buNone/>
              <a:tabLst>
                <a:tab pos="0" algn="l"/>
              </a:tabLst>
            </a:pPr>
            <a:endParaRPr lang="en-US" sz="1400" b="0" strike="noStrike" spc="-1">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3300" b="0" strike="noStrike" spc="-52">
                <a:solidFill>
                  <a:schemeClr val="dk1">
                    <a:lumMod val="85000"/>
                    <a:lumOff val="15000"/>
                  </a:schemeClr>
                </a:solidFill>
                <a:latin typeface="Calibri Light"/>
              </a:rPr>
              <a:t>Comparison between Parallel Edge v3 and sequential version</a:t>
            </a:r>
            <a:endParaRPr lang="en-US" sz="3300" b="0" strike="noStrike" spc="-1">
              <a:solidFill>
                <a:schemeClr val="dk1"/>
              </a:solidFill>
              <a:latin typeface="Calibri"/>
            </a:endParaRPr>
          </a:p>
        </p:txBody>
      </p:sp>
      <p:pic>
        <p:nvPicPr>
          <p:cNvPr id="202" name="Picture 6"/>
          <p:cNvPicPr/>
          <p:nvPr/>
        </p:nvPicPr>
        <p:blipFill>
          <a:blip r:embed="rId2"/>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04" name="Picture 4"/>
          <p:cNvPicPr/>
          <p:nvPr/>
        </p:nvPicPr>
        <p:blipFill>
          <a:blip r:embed="rId3"/>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tIns="45720" rIns="91440" bIns="45720" anchor="b">
            <a:normAutofit fontScale="90000"/>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a:t>
            </a:r>
            <a:endParaRPr lang="en-US" sz="4800" b="0" strike="noStrike" spc="-1">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Forward Edge Iterator</a:t>
            </a:r>
            <a:r>
              <a:rPr lang="en-US" sz="2000" b="0" strike="noStrike" spc="-1">
                <a:solidFill>
                  <a:schemeClr val="dk1">
                    <a:lumMod val="75000"/>
                    <a:lumOff val="25000"/>
                  </a:schemeClr>
                </a:solidFill>
                <a:latin typeface="Calibri"/>
              </a:rPr>
              <a:t> has also been implemented in CUDA, similar to the Forward Node Algorithm. It uses the </a:t>
            </a:r>
            <a:r>
              <a:rPr lang="en-US" sz="2000" b="1" strike="noStrike" spc="-1">
                <a:solidFill>
                  <a:schemeClr val="dk1">
                    <a:lumMod val="75000"/>
                    <a:lumOff val="25000"/>
                  </a:schemeClr>
                </a:solidFill>
                <a:latin typeface="Calibri"/>
              </a:rPr>
              <a:t>CRS (Compressed Row Storage)</a:t>
            </a:r>
            <a:r>
              <a:rPr lang="en-US" sz="2000" b="0" strike="noStrike" spc="-1">
                <a:solidFill>
                  <a:schemeClr val="dk1">
                    <a:lumMod val="75000"/>
                    <a:lumOff val="25000"/>
                  </a:schemeClr>
                </a:solidFill>
                <a:latin typeface="Calibri"/>
              </a:rPr>
              <a:t> format to represent the graph data. The implementation assigns </a:t>
            </a:r>
            <a:r>
              <a:rPr lang="en-US" sz="2000" b="1" strike="noStrike" spc="-1">
                <a:solidFill>
                  <a:schemeClr val="dk1">
                    <a:lumMod val="75000"/>
                    <a:lumOff val="25000"/>
                  </a:schemeClr>
                </a:solidFill>
                <a:latin typeface="Calibri"/>
              </a:rPr>
              <a:t>one thread to manage one edge</a:t>
            </a:r>
            <a:r>
              <a:rPr lang="en-US" sz="2000" b="0" strike="noStrike" spc="-1">
                <a:solidFill>
                  <a:schemeClr val="dk1">
                    <a:lumMod val="75000"/>
                    <a:lumOff val="25000"/>
                  </a:schemeClr>
                </a:solidFill>
                <a:latin typeface="Calibri"/>
              </a:rPr>
              <a:t>, handled through the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0" name="Picture 3"/>
          <p:cNvPicPr/>
          <p:nvPr/>
        </p:nvPicPr>
        <p:blipFill>
          <a:blip r:embed="rId2"/>
          <a:stretch/>
        </p:blipFill>
        <p:spPr>
          <a:xfrm>
            <a:off x="155160" y="1737360"/>
            <a:ext cx="5512320" cy="349452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V1_1</a:t>
            </a:r>
            <a:endParaRPr lang="en-US" sz="4800" b="0" strike="noStrike" spc="-1">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V1_1 version</a:t>
            </a:r>
            <a:r>
              <a:rPr lang="en-US" sz="2000" b="0" strike="noStrike" spc="-1">
                <a:solidFill>
                  <a:schemeClr val="dk1">
                    <a:lumMod val="75000"/>
                    <a:lumOff val="25000"/>
                  </a:schemeClr>
                </a:solidFill>
                <a:latin typeface="Calibri"/>
              </a:rPr>
              <a:t> builds directly on the original CUDA Forward Edge Iterator. The core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lang="en-US" sz="2000" b="1" strike="noStrike" spc="-1">
                <a:solidFill>
                  <a:schemeClr val="dk1">
                    <a:lumMod val="75000"/>
                    <a:lumOff val="25000"/>
                  </a:schemeClr>
                </a:solidFill>
                <a:latin typeface="Calibri"/>
              </a:rPr>
              <a:t>chunks</a:t>
            </a:r>
            <a:r>
              <a:rPr lang="en-US" sz="2000" b="0" strike="noStrike" spc="-1">
                <a:solidFill>
                  <a:schemeClr val="dk1">
                    <a:lumMod val="75000"/>
                    <a:lumOff val="25000"/>
                  </a:schemeClr>
                </a:solidFill>
                <a:latin typeface="Calibri"/>
              </a:rPr>
              <a:t>, with each thread responsible for one chunk. This design aims to improve </a:t>
            </a:r>
            <a:r>
              <a:rPr lang="en-US" sz="2000" b="1" strike="noStrike" spc="-1">
                <a:solidFill>
                  <a:schemeClr val="dk1">
                    <a:lumMod val="75000"/>
                    <a:lumOff val="25000"/>
                  </a:schemeClr>
                </a:solidFill>
                <a:latin typeface="Calibri"/>
              </a:rPr>
              <a:t>GPU resource utilization</a:t>
            </a:r>
            <a:r>
              <a:rPr lang="en-US" sz="2000" b="0" strike="noStrike" spc="-1">
                <a:solidFill>
                  <a:schemeClr val="dk1">
                    <a:lumMod val="75000"/>
                    <a:lumOff val="25000"/>
                  </a:schemeClr>
                </a:solidFill>
                <a:latin typeface="Calibri"/>
              </a:rPr>
              <a:t> and reduce latency by lowering the number of tasks the scheduler must manage in parallel.</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3" name="Picture 3"/>
          <p:cNvPicPr/>
          <p:nvPr/>
        </p:nvPicPr>
        <p:blipFill>
          <a:blip r:embed="rId2"/>
          <a:stretch/>
        </p:blipFill>
        <p:spPr>
          <a:xfrm>
            <a:off x="185040" y="1580400"/>
            <a:ext cx="5710680" cy="353988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 V2_1</a:t>
            </a:r>
            <a:endParaRPr lang="en-US" sz="4800" b="0" strike="noStrike" spc="-1">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Unlike V1, the </a:t>
            </a:r>
            <a:r>
              <a:rPr lang="en-US" sz="1400" b="1" strike="noStrike" spc="-1">
                <a:solidFill>
                  <a:schemeClr val="dk1">
                    <a:lumMod val="75000"/>
                    <a:lumOff val="25000"/>
                  </a:schemeClr>
                </a:solidFill>
                <a:latin typeface="Calibri"/>
              </a:rPr>
              <a:t>V2 CUDA Edge Iterator</a:t>
            </a:r>
            <a:r>
              <a:rPr lang="en-US" sz="1400" b="0" strike="noStrike" spc="-1">
                <a:solidFill>
                  <a:schemeClr val="dk1">
                    <a:lumMod val="75000"/>
                    <a:lumOff val="25000"/>
                  </a:schemeClr>
                </a:solidFill>
                <a:latin typeface="Calibri"/>
              </a:rPr>
              <a:t> uses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for neighbor intersection with linear complexity (d(u) + d(v)). Each thread still processes one edge, and all edges are handled in a </a:t>
            </a:r>
            <a:r>
              <a:rPr lang="en-US" sz="1400" b="1" strike="noStrike" spc="-1">
                <a:solidFill>
                  <a:schemeClr val="dk1">
                    <a:lumMod val="75000"/>
                    <a:lumOff val="25000"/>
                  </a:schemeClr>
                </a:solidFill>
                <a:latin typeface="Calibri"/>
              </a:rPr>
              <a:t>single kernel launch</a:t>
            </a:r>
            <a:r>
              <a:rPr lang="en-US" sz="1400" b="0" strike="noStrike" spc="-1">
                <a:solidFill>
                  <a:schemeClr val="dk1">
                    <a:lumMod val="75000"/>
                    <a:lumOff val="25000"/>
                  </a:schemeClr>
                </a:solidFill>
                <a:latin typeface="Calibri"/>
              </a:rPr>
              <a:t>, which greatly improves efficiency, especially for high-degree nodes.</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6" name="Picture 3"/>
          <p:cNvPicPr/>
          <p:nvPr/>
        </p:nvPicPr>
        <p:blipFill>
          <a:blip r:embed="rId2"/>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a:solidFill>
                  <a:schemeClr val="dk1"/>
                </a:solidFill>
                <a:latin typeface="Calibri"/>
              </a:rPr>
              <a:t>The </a:t>
            </a:r>
            <a:r>
              <a:rPr lang="en-US" sz="1400" b="1" strike="noStrike" spc="-1">
                <a:solidFill>
                  <a:schemeClr val="dk1"/>
                </a:solidFill>
                <a:latin typeface="Calibri"/>
              </a:rPr>
              <a:t>V2_1 CUDA Edge Iterator</a:t>
            </a:r>
            <a:r>
              <a:rPr lang="en-US" sz="1400" b="0" strike="noStrike" spc="-1">
                <a:solidFill>
                  <a:schemeClr val="dk1"/>
                </a:solidFill>
                <a:latin typeface="Calibri"/>
              </a:rPr>
              <a:t> extends V2 by adding a </a:t>
            </a:r>
            <a:r>
              <a:rPr lang="en-US" sz="1400" b="1" strike="noStrike" spc="-1">
                <a:solidFill>
                  <a:schemeClr val="dk1"/>
                </a:solidFill>
                <a:latin typeface="Calibri"/>
              </a:rPr>
              <a:t>shared memory optimization</a:t>
            </a:r>
            <a:r>
              <a:rPr lang="en-US" sz="1400" b="0" strike="noStrike" spc="-1">
                <a:solidFill>
                  <a:schemeClr val="dk1"/>
                </a:solidFill>
                <a:latin typeface="Calibri"/>
              </a:rPr>
              <a:t>. Instead of one thread per edge, </a:t>
            </a:r>
            <a:r>
              <a:rPr lang="en-US" sz="1400" b="1" strike="noStrike" spc="-1">
                <a:solidFill>
                  <a:schemeClr val="dk1"/>
                </a:solidFill>
                <a:latin typeface="Calibri"/>
              </a:rPr>
              <a:t>each block manages a single edge</a:t>
            </a:r>
            <a:r>
              <a:rPr lang="en-US" sz="1400" b="0" strike="noStrike" spc="-1">
                <a:solidFill>
                  <a:schemeClr val="dk1"/>
                </a:solidFill>
                <a:latin typeface="Calibri"/>
              </a:rPr>
              <a:t>. Threads cooperatively load the adjacency lists of the edge’s endpoints into </a:t>
            </a:r>
            <a:r>
              <a:rPr lang="en-US" sz="1400" b="1" strike="noStrike" spc="-1">
                <a:solidFill>
                  <a:schemeClr val="dk1"/>
                </a:solidFill>
                <a:latin typeface="Calibri"/>
              </a:rPr>
              <a:t>shared memory</a:t>
            </a:r>
            <a:r>
              <a:rPr lang="en-US" sz="1400" b="0" strike="noStrike" spc="-1">
                <a:solidFill>
                  <a:schemeClr val="dk1"/>
                </a:solidFill>
                <a:latin typeface="Calibri"/>
              </a:rPr>
              <a:t>, synchronize, and then a single thread performs the </a:t>
            </a:r>
            <a:r>
              <a:rPr lang="en-US" sz="1400" b="1" strike="noStrike" spc="-1">
                <a:solidFill>
                  <a:schemeClr val="dk1"/>
                </a:solidFill>
                <a:latin typeface="Calibri"/>
              </a:rPr>
              <a:t>two-pointer merge-like intersection</a:t>
            </a:r>
            <a:r>
              <a:rPr lang="en-US" sz="1400" b="0" strike="noStrike" spc="-1">
                <a:solidFill>
                  <a:schemeClr val="dk1"/>
                </a:solidFill>
                <a:latin typeface="Calibri"/>
              </a:rPr>
              <a:t> on this faster local data. This reduces global memory latency when neighbor lists fit in shared memory.</a:t>
            </a:r>
            <a:endParaRPr lang="en-US" sz="1400" b="0" strike="noStrike" spc="-1">
              <a:solidFill>
                <a:srgbClr val="000000"/>
              </a:solidFill>
              <a:latin typeface="Arial"/>
            </a:endParaRPr>
          </a:p>
        </p:txBody>
      </p:sp>
      <p:pic>
        <p:nvPicPr>
          <p:cNvPr id="218" name="Picture 6"/>
          <p:cNvPicPr/>
          <p:nvPr/>
        </p:nvPicPr>
        <p:blipFill>
          <a:blip r:embed="rId3"/>
          <a:stretch/>
        </p:blipFill>
        <p:spPr>
          <a:xfrm>
            <a:off x="5547240" y="2759400"/>
            <a:ext cx="5719680" cy="349992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V2_2</a:t>
            </a:r>
            <a:endParaRPr lang="en-US" sz="4800" b="0" strike="noStrike" spc="-1">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The </a:t>
            </a:r>
            <a:r>
              <a:rPr lang="en-US" sz="1400" b="1" strike="noStrike" spc="-1">
                <a:solidFill>
                  <a:schemeClr val="dk1">
                    <a:lumMod val="75000"/>
                    <a:lumOff val="25000"/>
                  </a:schemeClr>
                </a:solidFill>
                <a:latin typeface="Calibri"/>
              </a:rPr>
              <a:t>V2_2 CUDA Edge Iterator</a:t>
            </a:r>
            <a:r>
              <a:rPr lang="en-US" sz="1400" b="0" strike="noStrike" spc="-1">
                <a:solidFill>
                  <a:schemeClr val="dk1">
                    <a:lumMod val="75000"/>
                    <a:lumOff val="25000"/>
                  </a:schemeClr>
                </a:solidFill>
                <a:latin typeface="Calibri"/>
              </a:rPr>
              <a:t> keeps the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and also uses </a:t>
            </a:r>
            <a:r>
              <a:rPr lang="en-US" sz="1400" b="1" strike="noStrike" spc="-1">
                <a:solidFill>
                  <a:schemeClr val="dk1">
                    <a:lumMod val="75000"/>
                    <a:lumOff val="25000"/>
                  </a:schemeClr>
                </a:solidFill>
                <a:latin typeface="Calibri"/>
              </a:rPr>
              <a:t>shared memory</a:t>
            </a:r>
            <a:r>
              <a:rPr lang="en-US" sz="1400" b="0" strike="noStrike" spc="-1">
                <a:solidFill>
                  <a:schemeClr val="dk1">
                    <a:lumMod val="75000"/>
                    <a:lumOff val="25000"/>
                  </a:schemeClr>
                </a:solidFill>
                <a:latin typeface="Calibri"/>
              </a:rPr>
              <a:t>, but with a different mapping than V2_1. Here, </a:t>
            </a:r>
            <a:r>
              <a:rPr lang="en-US" sz="1400" b="1" strike="noStrike" spc="-1">
                <a:solidFill>
                  <a:schemeClr val="dk1">
                    <a:lumMod val="75000"/>
                    <a:lumOff val="25000"/>
                  </a:schemeClr>
                </a:solidFill>
                <a:latin typeface="Calibri"/>
              </a:rPr>
              <a:t>one thread manages one edge</a:t>
            </a:r>
            <a:r>
              <a:rPr lang="en-US" sz="1400" b="0" strike="noStrike" spc="-1">
                <a:solidFill>
                  <a:schemeClr val="dk1">
                    <a:lumMod val="75000"/>
                    <a:lumOff val="25000"/>
                  </a:schemeClr>
                </a:solidFill>
                <a:latin typeface="Calibri"/>
              </a:rPr>
              <a:t> (like V2), but each thread tries to load its edge’s adjacency lists into a </a:t>
            </a:r>
            <a:r>
              <a:rPr lang="en-US" sz="1400" b="1" strike="noStrike" spc="-1">
                <a:solidFill>
                  <a:schemeClr val="dk1">
                    <a:lumMod val="75000"/>
                    <a:lumOff val="25000"/>
                  </a:schemeClr>
                </a:solidFill>
                <a:latin typeface="Calibri"/>
              </a:rPr>
              <a:t>dynamically allocated portion of shared memory</a:t>
            </a:r>
            <a:r>
              <a:rPr lang="en-US" sz="1400" b="0" strike="noStrike" spc="-1">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p>
          <a:p>
            <a:pPr indent="0" defTabSz="914400">
              <a:lnSpc>
                <a:spcPct val="90000"/>
              </a:lnSpc>
              <a:spcBef>
                <a:spcPts val="1199"/>
              </a:spcBef>
              <a:spcAft>
                <a:spcPts val="201"/>
              </a:spcAft>
              <a:buNone/>
            </a:pPr>
            <a:endParaRPr lang="en-US" sz="1400" b="0" strike="noStrike" spc="-1">
              <a:solidFill>
                <a:schemeClr val="dk1">
                  <a:lumMod val="75000"/>
                  <a:lumOff val="25000"/>
                </a:schemeClr>
              </a:solidFill>
              <a:latin typeface="Calibri"/>
            </a:endParaRPr>
          </a:p>
        </p:txBody>
      </p:sp>
      <p:pic>
        <p:nvPicPr>
          <p:cNvPr id="221" name="Picture 3"/>
          <p:cNvPicPr/>
          <p:nvPr/>
        </p:nvPicPr>
        <p:blipFill>
          <a:blip r:embed="rId2"/>
          <a:stretch/>
        </p:blipFill>
        <p:spPr>
          <a:xfrm>
            <a:off x="246960" y="1605240"/>
            <a:ext cx="4701960" cy="286236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V3</a:t>
            </a:r>
            <a:endParaRPr lang="en-US" sz="4800" b="0" strike="noStrike" spc="-1">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V3 CUDA Edge Iterator</a:t>
            </a:r>
            <a:r>
              <a:rPr lang="en-US" sz="2000" b="0" strike="noStrike" spc="-1">
                <a:solidFill>
                  <a:schemeClr val="dk1">
                    <a:lumMod val="75000"/>
                    <a:lumOff val="25000"/>
                  </a:schemeClr>
                </a:solidFill>
                <a:latin typeface="Calibri"/>
              </a:rPr>
              <a:t> addresses the </a:t>
            </a:r>
            <a:r>
              <a:rPr lang="en-US" sz="2000" b="1" strike="noStrike" spc="-1">
                <a:solidFill>
                  <a:schemeClr val="dk1">
                    <a:lumMod val="75000"/>
                    <a:lumOff val="25000"/>
                  </a:schemeClr>
                </a:solidFill>
                <a:latin typeface="Calibri"/>
              </a:rPr>
              <a:t>scalability issues</a:t>
            </a:r>
            <a:r>
              <a:rPr lang="en-US" sz="2000" b="0" strike="noStrike" spc="-1">
                <a:solidFill>
                  <a:schemeClr val="dk1">
                    <a:lumMod val="75000"/>
                    <a:lumOff val="25000"/>
                  </a:schemeClr>
                </a:solidFill>
                <a:latin typeface="Calibri"/>
              </a:rPr>
              <a:t> of previous versions, where larger block sizes caused performance degradation. V3 introduces a </a:t>
            </a:r>
            <a:r>
              <a:rPr lang="en-US" sz="2000" b="1" strike="noStrike" spc="-1">
                <a:solidFill>
                  <a:schemeClr val="dk1">
                    <a:lumMod val="75000"/>
                    <a:lumOff val="25000"/>
                  </a:schemeClr>
                </a:solidFill>
                <a:latin typeface="Calibri"/>
              </a:rPr>
              <a:t>dynamic work queue</a:t>
            </a:r>
            <a:r>
              <a:rPr lang="en-US" sz="2000" b="0" strike="noStrike" spc="-1">
                <a:solidFill>
                  <a:schemeClr val="dk1">
                    <a:lumMod val="75000"/>
                    <a:lumOff val="25000"/>
                  </a:schemeClr>
                </a:solidFill>
                <a:latin typeface="Calibri"/>
              </a:rPr>
              <a:t> for edge iteration: threads fetch new edges from a global queue as they finish previous work. This improves </a:t>
            </a:r>
            <a:r>
              <a:rPr lang="en-US" sz="2000" b="1" strike="noStrike" spc="-1">
                <a:solidFill>
                  <a:schemeClr val="dk1">
                    <a:lumMod val="75000"/>
                    <a:lumOff val="25000"/>
                  </a:schemeClr>
                </a:solidFill>
                <a:latin typeface="Calibri"/>
              </a:rPr>
              <a:t>load balancing</a:t>
            </a:r>
            <a:r>
              <a:rPr lang="en-US" sz="2000" b="0" strike="noStrike" spc="-1">
                <a:solidFill>
                  <a:schemeClr val="dk1">
                    <a:lumMod val="75000"/>
                    <a:lumOff val="25000"/>
                  </a:schemeClr>
                </a:solidFill>
                <a:latin typeface="Calibri"/>
              </a:rPr>
              <a:t>, since threads handling lighter edges can continue working instead of remaining idle, leading to better resource utilization.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A hybrid variant (</a:t>
            </a:r>
            <a:r>
              <a:rPr lang="en-US" sz="2000" b="1" strike="noStrike" spc="-1">
                <a:solidFill>
                  <a:schemeClr val="dk1">
                    <a:lumMod val="75000"/>
                    <a:lumOff val="25000"/>
                  </a:schemeClr>
                </a:solidFill>
                <a:latin typeface="Calibri"/>
              </a:rPr>
              <a:t>V3_1</a:t>
            </a:r>
            <a:r>
              <a:rPr lang="en-US" sz="2000" b="0" strike="noStrike" spc="-1">
                <a:solidFill>
                  <a:schemeClr val="dk1">
                    <a:lumMod val="75000"/>
                    <a:lumOff val="25000"/>
                  </a:schemeClr>
                </a:solidFill>
                <a:latin typeface="Calibri"/>
              </a:rPr>
              <a:t>) combines static block assignment with dynamic scheduling inside each block using </a:t>
            </a:r>
            <a:r>
              <a:rPr lang="en-US" sz="2000" b="1" strike="noStrike" spc="-1">
                <a:solidFill>
                  <a:schemeClr val="dk1">
                    <a:lumMod val="75000"/>
                    <a:lumOff val="25000"/>
                  </a:schemeClr>
                </a:solidFill>
                <a:latin typeface="Calibri"/>
              </a:rPr>
              <a:t>shared memory</a:t>
            </a:r>
            <a:r>
              <a:rPr lang="en-US" sz="2000" b="0" strike="noStrike" spc="-1">
                <a:solidFill>
                  <a:schemeClr val="dk1">
                    <a:lumMod val="75000"/>
                    <a:lumOff val="25000"/>
                  </a:schemeClr>
                </a:solidFill>
                <a:latin typeface="Calibri"/>
              </a:rPr>
              <a:t>, reducing execution time by ~</a:t>
            </a:r>
            <a:r>
              <a:rPr lang="en-US" sz="2000" b="1" strike="noStrike" spc="-1">
                <a:solidFill>
                  <a:schemeClr val="dk1">
                    <a:lumMod val="75000"/>
                    <a:lumOff val="25000"/>
                  </a:schemeClr>
                </a:solidFill>
                <a:latin typeface="Calibri"/>
              </a:rPr>
              <a:t>15%</a:t>
            </a:r>
            <a:r>
              <a:rPr lang="en-US" sz="2000" b="0" strike="noStrike" spc="-1">
                <a:solidFill>
                  <a:schemeClr val="dk1">
                    <a:lumMod val="75000"/>
                    <a:lumOff val="25000"/>
                  </a:schemeClr>
                </a:solidFill>
                <a:latin typeface="Calibri"/>
              </a:rPr>
              <a:t> (from 35 ms to 30 ms at BLOCK_SIZE = 8).</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pic>
        <p:nvPicPr>
          <p:cNvPr id="224" name="Picture 3"/>
          <p:cNvPicPr/>
          <p:nvPr/>
        </p:nvPicPr>
        <p:blipFill>
          <a:blip r:embed="rId2"/>
          <a:stretch/>
        </p:blipFill>
        <p:spPr>
          <a:xfrm>
            <a:off x="326880" y="485280"/>
            <a:ext cx="4300200" cy="2720520"/>
          </a:xfrm>
          <a:prstGeom prst="rect">
            <a:avLst/>
          </a:prstGeom>
          <a:ln w="0">
            <a:noFill/>
          </a:ln>
        </p:spPr>
      </p:pic>
      <p:pic>
        <p:nvPicPr>
          <p:cNvPr id="225" name="Picture 4"/>
          <p:cNvPicPr/>
          <p:nvPr/>
        </p:nvPicPr>
        <p:blipFill>
          <a:blip r:embed="rId3"/>
          <a:stretch/>
        </p:blipFill>
        <p:spPr>
          <a:xfrm>
            <a:off x="238320" y="3229560"/>
            <a:ext cx="4406760" cy="277560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90434"/>
          </a:bodyPr>
          <a:lstStyle/>
          <a:p>
            <a:pPr indent="0" defTabSz="914400">
              <a:lnSpc>
                <a:spcPct val="85000"/>
              </a:lnSpc>
              <a:buNone/>
            </a:pPr>
            <a:r>
              <a:rPr lang="en-US" sz="5100" b="0" strike="noStrike" spc="-52">
                <a:solidFill>
                  <a:schemeClr val="dk1">
                    <a:lumMod val="85000"/>
                    <a:lumOff val="15000"/>
                  </a:schemeClr>
                </a:solidFill>
                <a:latin typeface="Calibri Light"/>
              </a:rPr>
              <a:t>CUDA Parallel Edge V3: final comparison</a:t>
            </a:r>
            <a:endParaRPr lang="en-US" sz="5100" b="0" strike="noStrike" spc="-1">
              <a:solidFill>
                <a:schemeClr val="dk1"/>
              </a:solidFill>
              <a:latin typeface="Calibri"/>
            </a:endParaRPr>
          </a:p>
        </p:txBody>
      </p:sp>
      <p:pic>
        <p:nvPicPr>
          <p:cNvPr id="231" name="Content Placeholder 4"/>
          <p:cNvPicPr/>
          <p:nvPr/>
        </p:nvPicPr>
        <p:blipFill>
          <a:blip r:embed="rId2"/>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33" name="Picture 6"/>
          <p:cNvPicPr/>
          <p:nvPr/>
        </p:nvPicPr>
        <p:blipFill>
          <a:blip r:embed="rId3"/>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91893"/>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endParaRPr lang="en-US" sz="4800" b="0" strike="noStrike" spc="-1" dirty="0">
              <a:solidFill>
                <a:schemeClr val="dk1"/>
              </a:solidFill>
              <a:latin typeface="Calibri"/>
            </a:endParaRPr>
          </a:p>
        </p:txBody>
      </p:sp>
      <p:pic>
        <p:nvPicPr>
          <p:cNvPr id="239" name="Picture 3"/>
          <p:cNvPicPr/>
          <p:nvPr/>
        </p:nvPicPr>
        <p:blipFill>
          <a:blip r:embed="rId2"/>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p:cNvPicPr/>
          <p:nvPr/>
        </p:nvPicPr>
        <p:blipFill>
          <a:blip r:embed="rId3"/>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4"/>
            <a:stretch/>
          </a:blip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dirty="0">
                <a:solidFill>
                  <a:srgbClr val="FFFFFF">
                    <a:alpha val="1000"/>
                  </a:srgbClr>
                </a:solidFill>
                <a:latin typeface="Calibri"/>
              </a:rPr>
              <a:t>                  </a:t>
            </a:r>
            <a:r>
              <a:rPr lang="it-IT" sz="2000" b="0" strike="noStrike" spc="-1" dirty="0" err="1">
                <a:solidFill>
                  <a:srgbClr val="FFFFFF">
                    <a:alpha val="1000"/>
                  </a:srgbClr>
                </a:solidFill>
                <a:latin typeface="Calibri"/>
              </a:rPr>
              <a:t>fffffff</a:t>
            </a:r>
            <a:endParaRPr lang="en-US" sz="2000" b="0" strike="noStrike" spc="-1" dirty="0">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dirty="0">
                <a:solidFill>
                  <a:schemeClr val="dk1">
                    <a:lumMod val="75000"/>
                    <a:lumOff val="25000"/>
                  </a:schemeClr>
                </a:solidFill>
                <a:latin typeface="Calibri Light"/>
              </a:rPr>
              <a:t>CUDA </a:t>
            </a: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V1, V2</a:t>
            </a:r>
            <a:endParaRPr lang="en-US" sz="4800" b="0" strike="noStrike" spc="-1" dirty="0">
              <a:solidFill>
                <a:schemeClr val="dk1"/>
              </a:solidFill>
              <a:latin typeface="Calibri"/>
            </a:endParaRPr>
          </a:p>
        </p:txBody>
      </p:sp>
      <p:pic>
        <p:nvPicPr>
          <p:cNvPr id="246" name="Picture 3" descr="A graph with a line&#10;&#10;AI-generated content may be incorrect."/>
          <p:cNvPicPr/>
          <p:nvPr/>
        </p:nvPicPr>
        <p:blipFill>
          <a:blip r:embed="rId2"/>
          <a:srcRect l="12427"/>
          <a:stretch/>
        </p:blipFill>
        <p:spPr>
          <a:xfrm>
            <a:off x="261000" y="1564480"/>
            <a:ext cx="2977920" cy="2074320"/>
          </a:xfrm>
          <a:prstGeom prst="rect">
            <a:avLst/>
          </a:prstGeom>
          <a:ln w="0">
            <a:noFill/>
          </a:ln>
        </p:spPr>
      </p:pic>
      <p:pic>
        <p:nvPicPr>
          <p:cNvPr id="247" name="Picture 4" descr="A graph with a red line&#10;&#10;AI-generated content may be incorrect."/>
          <p:cNvPicPr/>
          <p:nvPr/>
        </p:nvPicPr>
        <p:blipFill>
          <a:blip r:embed="rId3"/>
          <a:srcRect l="7224" r="1974"/>
          <a:stretch/>
        </p:blipFill>
        <p:spPr>
          <a:xfrm>
            <a:off x="3295800" y="1530960"/>
            <a:ext cx="3055320" cy="2128320"/>
          </a:xfrm>
          <a:prstGeom prst="rect">
            <a:avLst/>
          </a:prstGeom>
          <a:ln w="0">
            <a:noFill/>
          </a:ln>
        </p:spPr>
      </p:pic>
      <p:pic>
        <p:nvPicPr>
          <p:cNvPr id="248" name="Picture 5" descr="A graph with a red line&#10;&#10;AI-generated content may be incorrect."/>
          <p:cNvPicPr/>
          <p:nvPr/>
        </p:nvPicPr>
        <p:blipFill>
          <a:blip r:embed="rId4"/>
          <a:srcRect l="9198" r="4"/>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5"/>
          <a:srcRect l="8837"/>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1600" b="0" strike="noStrike" spc="-1">
                <a:solidFill>
                  <a:schemeClr val="dk1">
                    <a:lumMod val="75000"/>
                    <a:lumOff val="25000"/>
                  </a:schemeClr>
                </a:solidFill>
                <a:latin typeface="Calibri"/>
              </a:rPr>
              <a:t>In the V1 version, the algorithm assigns each GPU thread to compute one output matrix element via a dot product. Its primary performance bottleneck is </a:t>
            </a:r>
            <a:r>
              <a:rPr lang="en-US" sz="1600" b="1" strike="noStrike" spc="-1">
                <a:solidFill>
                  <a:schemeClr val="dk1">
                    <a:lumMod val="75000"/>
                    <a:lumOff val="25000"/>
                  </a:schemeClr>
                </a:solidFill>
                <a:latin typeface="Calibri"/>
              </a:rPr>
              <a:t>inefficient memory access</a:t>
            </a:r>
            <a:r>
              <a:rPr lang="en-US" sz="1600" b="0" strike="noStrike" spc="-1">
                <a:solidFill>
                  <a:schemeClr val="dk1">
                    <a:lumMod val="75000"/>
                    <a:lumOff val="25000"/>
                  </a:schemeClr>
                </a:solidFill>
                <a:latin typeface="Calibri"/>
              </a:rPr>
              <a:t>. Specifically, </a:t>
            </a:r>
            <a:r>
              <a:rPr lang="en-US" sz="1600" b="1" strike="noStrike" spc="-1">
                <a:solidFill>
                  <a:schemeClr val="dk1">
                    <a:lumMod val="75000"/>
                    <a:lumOff val="25000"/>
                  </a:schemeClr>
                </a:solidFill>
                <a:latin typeface="Calibri"/>
              </a:rPr>
              <a:t>uncoalesced global memory reads</a:t>
            </a:r>
            <a:r>
              <a:rPr lang="en-US" sz="1600" b="0" strike="noStrike" spc="-1">
                <a:solidFill>
                  <a:schemeClr val="dk1">
                    <a:lumMod val="75000"/>
                    <a:lumOff val="25000"/>
                  </a:schemeClr>
                </a:solidFill>
                <a:latin typeface="Calibri"/>
              </a:rPr>
              <a:t> from the second input matrix severely limit memory bandwidth.</a:t>
            </a:r>
          </a:p>
        </p:txBody>
      </p:sp>
      <p:sp>
        <p:nvSpPr>
          <p:cNvPr id="251" name="TextBox 8"/>
          <p:cNvSpPr/>
          <p:nvPr/>
        </p:nvSpPr>
        <p:spPr>
          <a:xfrm>
            <a:off x="261000" y="3545018"/>
            <a:ext cx="4991400" cy="289164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dirty="0">
                <a:solidFill>
                  <a:schemeClr val="dk1"/>
                </a:solidFill>
                <a:latin typeface="Calibri"/>
              </a:rPr>
              <a:t>The V2 algorithm dramatically improves performance by using a </a:t>
            </a:r>
            <a:r>
              <a:rPr lang="en-US" sz="1400" b="1" strike="noStrike" spc="-1" dirty="0">
                <a:solidFill>
                  <a:schemeClr val="dk1"/>
                </a:solidFill>
                <a:latin typeface="Calibri"/>
              </a:rPr>
              <a:t>tiled strategy</a:t>
            </a:r>
            <a:r>
              <a:rPr lang="en-US" sz="1400" b="0" strike="noStrike" spc="-1" dirty="0">
                <a:solidFill>
                  <a:schemeClr val="dk1"/>
                </a:solidFill>
                <a:latin typeface="Calibri"/>
              </a:rPr>
              <a:t> that leverages the GPU's fast </a:t>
            </a:r>
            <a:r>
              <a:rPr lang="en-US" sz="1400" b="1" strike="noStrike" spc="-1" dirty="0">
                <a:solidFill>
                  <a:schemeClr val="dk1"/>
                </a:solidFill>
                <a:latin typeface="Calibri"/>
              </a:rPr>
              <a:t>shared memory</a:t>
            </a:r>
            <a:r>
              <a:rPr lang="en-US" sz="1400" b="0" strike="noStrike" spc="-1" dirty="0">
                <a:solidFill>
                  <a:schemeClr val="dk1"/>
                </a:solidFill>
                <a:latin typeface="Calibri"/>
              </a:rPr>
              <a:t>. Instead of numerous slow global memory reads, each thread block first </a:t>
            </a:r>
            <a:r>
              <a:rPr lang="en-US" sz="1400" b="1" strike="noStrike" spc="-1" dirty="0">
                <a:solidFill>
                  <a:schemeClr val="dk1"/>
                </a:solidFill>
                <a:latin typeface="Calibri"/>
              </a:rPr>
              <a:t>cooperatively loads sub-matrices (tiles)</a:t>
            </a:r>
            <a:r>
              <a:rPr lang="en-US" sz="1400" b="0" strike="noStrike" spc="-1" dirty="0">
                <a:solidFill>
                  <a:schemeClr val="dk1"/>
                </a:solidFill>
                <a:latin typeface="Calibri"/>
              </a:rPr>
              <a:t> into this on-chip shared memory. After synchronizing, all threads perform their calculations using this much faster local data. </a:t>
            </a:r>
            <a:endParaRPr lang="en-US" sz="1400" b="0" strike="noStrike" spc="-1" dirty="0">
              <a:solidFill>
                <a:srgbClr val="000000"/>
              </a:solidFill>
              <a:latin typeface="Arial"/>
            </a:endParaRPr>
          </a:p>
          <a:p>
            <a:pPr algn="just" defTabSz="457200">
              <a:lnSpc>
                <a:spcPct val="100000"/>
              </a:lnSpc>
            </a:pPr>
            <a:r>
              <a:rPr lang="en-US" sz="1400" b="0" strike="noStrike" spc="-1" dirty="0">
                <a:solidFill>
                  <a:schemeClr val="dk1"/>
                </a:solidFill>
                <a:latin typeface="Calibri"/>
              </a:rPr>
              <a:t>This approach is highly efficient because it dramatically </a:t>
            </a:r>
            <a:r>
              <a:rPr lang="en-US" sz="1400" b="1" strike="noStrike" spc="-1" dirty="0">
                <a:solidFill>
                  <a:schemeClr val="dk1"/>
                </a:solidFill>
                <a:latin typeface="Calibri"/>
              </a:rPr>
              <a:t>reduces global memory traffic and maximizes data reuse</a:t>
            </a:r>
            <a:r>
              <a:rPr lang="en-US" sz="1400" b="0" strike="noStrike" spc="-1" dirty="0">
                <a:solidFill>
                  <a:schemeClr val="dk1"/>
                </a:solidFill>
                <a:latin typeface="Calibri"/>
              </a:rPr>
              <a:t> from the fast shared memory. Overcomes the primary performance bottleneck found in the V1 algorithm. The TILE_SIZE is the crucial tuning parameter, which dictates the size of these sub-matrices. </a:t>
            </a:r>
            <a:r>
              <a:rPr lang="en-US" sz="1400" spc="-1" dirty="0">
                <a:solidFill>
                  <a:schemeClr val="dk1"/>
                </a:solidFill>
                <a:latin typeface="Calibri"/>
              </a:rPr>
              <a:t>TRACE_BLOCKSIZE is another hyperparameter which can affect the performances, influencing the second kernel function (trace comp)</a:t>
            </a:r>
            <a:endParaRPr lang="en-US" sz="1400" b="0" strike="noStrike" spc="-1" dirty="0">
              <a:solidFill>
                <a:srgbClr val="000000"/>
              </a:solidFill>
              <a:latin typeface="Arial"/>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2.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3.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4.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5.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6.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7.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8.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9.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0.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525</TotalTime>
  <Words>2577</Words>
  <Application>Microsoft Office PowerPoint</Application>
  <PresentationFormat>Widescreen</PresentationFormat>
  <Paragraphs>71</Paragraphs>
  <Slides>23</Slides>
  <Notes>0</Notes>
  <HiddenSlides>0</HiddenSlides>
  <MMClips>0</MMClips>
  <ScaleCrop>false</ScaleCrop>
  <HeadingPairs>
    <vt:vector size="6" baseType="variant">
      <vt:variant>
        <vt:lpstr>Fonts Used</vt:lpstr>
      </vt:variant>
      <vt:variant>
        <vt:i4>7</vt:i4>
      </vt:variant>
      <vt:variant>
        <vt:lpstr>Theme</vt:lpstr>
      </vt:variant>
      <vt:variant>
        <vt:i4>11</vt:i4>
      </vt:variant>
      <vt:variant>
        <vt:lpstr>Slide Titles</vt:lpstr>
      </vt:variant>
      <vt:variant>
        <vt:i4>23</vt:i4>
      </vt:variant>
    </vt:vector>
  </HeadingPairs>
  <TitlesOfParts>
    <vt:vector size="41" baseType="lpstr">
      <vt:lpstr>Arial</vt:lpstr>
      <vt:lpstr>Calibri</vt:lpstr>
      <vt:lpstr>Calibri Light</vt:lpstr>
      <vt:lpstr>Courier New</vt:lpstr>
      <vt:lpstr>Symbol</vt:lpstr>
      <vt:lpstr>Times New Roman</vt:lpstr>
      <vt:lpstr>Wingdings</vt:lpstr>
      <vt:lpstr>Retrospect</vt:lpstr>
      <vt:lpstr>Retrospect</vt:lpstr>
      <vt:lpstr>Retrospect</vt:lpstr>
      <vt:lpstr>Retrospect</vt:lpstr>
      <vt:lpstr>Retrospect</vt:lpstr>
      <vt:lpstr>Retrospect</vt:lpstr>
      <vt:lpstr>Retrospect</vt:lpstr>
      <vt:lpstr>Retrospect</vt:lpstr>
      <vt:lpstr>Retrospect</vt:lpstr>
      <vt:lpstr>Retrospect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subject/>
  <dc:creator>Revalor, Riccardo</dc:creator>
  <dc:description/>
  <cp:lastModifiedBy>Revalor, Riccardo</cp:lastModifiedBy>
  <cp:revision>86</cp:revision>
  <dcterms:created xsi:type="dcterms:W3CDTF">2025-09-02T16:39:16Z</dcterms:created>
  <dcterms:modified xsi:type="dcterms:W3CDTF">2025-09-12T04:57:34Z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